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</p:sldMasterIdLst>
  <p:notesMasterIdLst>
    <p:notesMasterId r:id="rId14"/>
  </p:notesMasterIdLst>
  <p:handoutMasterIdLst>
    <p:handoutMasterId r:id="rId15"/>
  </p:handoutMasterIdLst>
  <p:sldIdLst>
    <p:sldId id="256" r:id="rId3"/>
    <p:sldId id="289" r:id="rId4"/>
    <p:sldId id="258" r:id="rId5"/>
    <p:sldId id="257" r:id="rId6"/>
    <p:sldId id="259" r:id="rId7"/>
    <p:sldId id="269" r:id="rId8"/>
    <p:sldId id="270" r:id="rId9"/>
    <p:sldId id="271" r:id="rId10"/>
    <p:sldId id="260" r:id="rId11"/>
    <p:sldId id="263" r:id="rId12"/>
    <p:sldId id="266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66"/>
    <a:srgbClr val="002060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260" y="3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EC388B-C384-D02C-4E48-00C75E2D5A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Real-Time Traffic Sign Recognition with Open-Set Rejection and Temporal Consensus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7AE02-B27C-69AB-3AFD-CA09EEA476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EE247-4961-411B-868F-1DCCE8484176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1603A-FF41-CE98-2B4E-0DF4C1E401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509AA-3DC8-1B48-3317-29547C553A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97040-58B1-46D7-91E4-A39B60A84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8184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Real-Time Traffic Sign Recognition with Open-Set Rejection and Temporal Consensus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4A25A-6ECF-4628-B53C-9C5DBA801F1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996878-DA52-4427-93CD-C07AE518F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3859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Real-Time Traffic Sign Recognition with Open-Set Rejection and Temporal Consensus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96878-DA52-4427-93CD-C07AE518F53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76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96878-DA52-4427-93CD-C07AE518F53B}" type="slidenum">
              <a:rPr lang="en-IN" smtClean="0"/>
              <a:t>8</a:t>
            </a:fld>
            <a:endParaRPr lang="en-IN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6ED1B26-D104-7428-2DF4-92A15D1F717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Real-Time Traffic Sign Recognition with Open-Set Rejection and Temporal Consensus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24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8505" y="-25197"/>
            <a:ext cx="5780659" cy="256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/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/>
          <p:cNvSpPr txBox="1"/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7782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/>
            </a:lvl1pPr>
            <a:lvl2pPr marL="685800" indent="-228600">
              <a:buFont typeface="Wingdings" panose="05000000000000000000" pitchFamily="2" charset="2"/>
              <a:buChar char="q"/>
              <a:defRPr/>
            </a:lvl2pPr>
            <a:lvl3pPr marL="1143000" indent="-228600">
              <a:buFont typeface="Courier New" panose="02070309020205020404" pitchFamily="49" charset="0"/>
              <a:buChar char="o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3"/>
          <p:cNvSpPr txBox="1"/>
          <p:nvPr userDrawn="1"/>
        </p:nvSpPr>
        <p:spPr>
          <a:xfrm>
            <a:off x="777239" y="6642828"/>
            <a:ext cx="5654039" cy="21517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6431278" y="6641866"/>
            <a:ext cx="5322917" cy="216133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11754196" y="6641865"/>
            <a:ext cx="437803" cy="216133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AC095C-C545-42F9-B93D-2B3224753C51}" type="slidenum">
              <a:rPr lang="en-US" sz="16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-1" y="0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 of Project</a:t>
            </a:r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5956065"/>
            <a:ext cx="685800" cy="685800"/>
          </a:xfrm>
          <a:prstGeom prst="rect">
            <a:avLst/>
          </a:prstGeom>
        </p:spPr>
      </p:pic>
      <p:sp>
        <p:nvSpPr>
          <p:cNvPr id="10" name="Date Placeholder 3"/>
          <p:cNvSpPr txBox="1"/>
          <p:nvPr userDrawn="1"/>
        </p:nvSpPr>
        <p:spPr>
          <a:xfrm>
            <a:off x="0" y="6642828"/>
            <a:ext cx="777239" cy="21517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- 00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8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7240" y="6642420"/>
            <a:ext cx="5654040" cy="215265"/>
          </a:xfrm>
          <a:custGeom>
            <a:avLst/>
            <a:gdLst/>
            <a:ahLst/>
            <a:cxnLst/>
            <a:rect l="l" t="t" r="r" b="b"/>
            <a:pathLst>
              <a:path w="5654040" h="215265">
                <a:moveTo>
                  <a:pt x="5654040" y="0"/>
                </a:moveTo>
                <a:lnTo>
                  <a:pt x="0" y="0"/>
                </a:lnTo>
                <a:lnTo>
                  <a:pt x="0" y="215176"/>
                </a:lnTo>
                <a:lnTo>
                  <a:pt x="5654040" y="215176"/>
                </a:lnTo>
                <a:lnTo>
                  <a:pt x="565404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279" y="6641468"/>
            <a:ext cx="5323205" cy="216535"/>
          </a:xfrm>
          <a:custGeom>
            <a:avLst/>
            <a:gdLst/>
            <a:ahLst/>
            <a:cxnLst/>
            <a:rect l="l" t="t" r="r" b="b"/>
            <a:pathLst>
              <a:path w="5323205" h="216534">
                <a:moveTo>
                  <a:pt x="5322951" y="0"/>
                </a:moveTo>
                <a:lnTo>
                  <a:pt x="0" y="0"/>
                </a:lnTo>
                <a:lnTo>
                  <a:pt x="0" y="216128"/>
                </a:lnTo>
                <a:lnTo>
                  <a:pt x="5322951" y="216128"/>
                </a:lnTo>
                <a:lnTo>
                  <a:pt x="5322951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754231" y="6641466"/>
            <a:ext cx="438150" cy="216535"/>
          </a:xfrm>
          <a:custGeom>
            <a:avLst/>
            <a:gdLst/>
            <a:ahLst/>
            <a:cxnLst/>
            <a:rect l="l" t="t" r="r" b="b"/>
            <a:pathLst>
              <a:path w="438150" h="216534">
                <a:moveTo>
                  <a:pt x="437807" y="0"/>
                </a:moveTo>
                <a:lnTo>
                  <a:pt x="0" y="0"/>
                </a:lnTo>
                <a:lnTo>
                  <a:pt x="0" y="216128"/>
                </a:lnTo>
                <a:lnTo>
                  <a:pt x="437807" y="216128"/>
                </a:lnTo>
                <a:lnTo>
                  <a:pt x="43780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200" y="5955665"/>
            <a:ext cx="685800" cy="67748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420"/>
            <a:ext cx="777240" cy="215265"/>
          </a:xfrm>
          <a:custGeom>
            <a:avLst/>
            <a:gdLst/>
            <a:ahLst/>
            <a:cxnLst/>
            <a:rect l="l" t="t" r="r" b="b"/>
            <a:pathLst>
              <a:path w="777240" h="215265">
                <a:moveTo>
                  <a:pt x="777240" y="0"/>
                </a:moveTo>
                <a:lnTo>
                  <a:pt x="0" y="0"/>
                </a:lnTo>
                <a:lnTo>
                  <a:pt x="0" y="215176"/>
                </a:lnTo>
                <a:lnTo>
                  <a:pt x="777240" y="215176"/>
                </a:lnTo>
                <a:lnTo>
                  <a:pt x="77724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652" y="179273"/>
            <a:ext cx="2005330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92" y="1402460"/>
            <a:ext cx="11471275" cy="2455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39700" y="6632840"/>
            <a:ext cx="383540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36700" y="6632840"/>
            <a:ext cx="4885055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36907" y="6635888"/>
            <a:ext cx="252095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6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146" y="1716404"/>
            <a:ext cx="15398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3477" y="1711452"/>
            <a:ext cx="2570606" cy="7720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Satheesh</a:t>
            </a: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Reddy J</a:t>
            </a:r>
          </a:p>
          <a:p>
            <a:pPr>
              <a:spcBef>
                <a:spcPts val="300"/>
              </a:spcBef>
            </a:pPr>
            <a:r>
              <a:rPr lang="en-US" sz="1100" dirty="0"/>
              <a:t>             </a:t>
            </a:r>
            <a:r>
              <a:rPr lang="en-US" sz="1100" b="0" dirty="0"/>
              <a:t>Roll No. 234G5A3208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0335" y="1255902"/>
            <a:ext cx="21526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1735" y="1716404"/>
            <a:ext cx="2357755" cy="58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 Vaishnavi B</a:t>
            </a:r>
          </a:p>
          <a:p>
            <a:pPr>
              <a:spcBef>
                <a:spcPts val="300"/>
              </a:spcBef>
            </a:pPr>
            <a:r>
              <a:rPr lang="en-US" sz="1100" b="0" dirty="0"/>
              <a:t>          Roll No. 234G5A3214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10600" y="1716404"/>
            <a:ext cx="2570607" cy="7720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Sandhya S</a:t>
            </a:r>
          </a:p>
          <a:p>
            <a:pPr>
              <a:spcBef>
                <a:spcPts val="300"/>
              </a:spcBef>
            </a:pPr>
            <a:r>
              <a:rPr lang="en-US" sz="1100" b="0" dirty="0"/>
              <a:t>  Roll No. 224G1A3284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829" y="2610184"/>
            <a:ext cx="4209542" cy="10990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>
              <a:spcBef>
                <a:spcPts val="300"/>
              </a:spcBef>
            </a:pPr>
            <a:r>
              <a:rPr lang="en-US" b="0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US" b="0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</a:t>
            </a:r>
            <a:r>
              <a:rPr lang="en-US" b="0" spc="-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Hemanth</a:t>
            </a:r>
            <a:r>
              <a:rPr lang="en-US" b="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b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Yadav</a:t>
            </a:r>
            <a:r>
              <a:rPr lang="en-US" b="0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r>
              <a:rPr lang="en-US" b="0" spc="-75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Tech,</a:t>
            </a:r>
            <a:r>
              <a:rPr lang="en-US" b="0" spc="-7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spc="-25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b="0" baseline="-25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Associate Professor</a:t>
            </a:r>
          </a:p>
          <a:p>
            <a:pPr marL="275590" algn="ctr">
              <a:lnSpc>
                <a:spcPts val="1350"/>
              </a:lnSpc>
              <a:spcBef>
                <a:spcPts val="90"/>
              </a:spcBef>
            </a:pPr>
            <a:endParaRPr lang="fr-FR" sz="1400" i="1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2472" y="5173520"/>
            <a:ext cx="8187055" cy="145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460"/>
              </a:lnSpc>
              <a:spcBef>
                <a:spcPts val="100"/>
              </a:spcBef>
            </a:pPr>
            <a:r>
              <a:rPr sz="2300" dirty="0">
                <a:latin typeface="Times New Roman"/>
                <a:cs typeface="Times New Roman"/>
              </a:rPr>
              <a:t>Department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Computer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Science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Engineering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(Data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Science)</a:t>
            </a:r>
            <a:endParaRPr sz="2300" dirty="0">
              <a:latin typeface="Times New Roman"/>
              <a:cs typeface="Times New Roman"/>
            </a:endParaRPr>
          </a:p>
          <a:p>
            <a:pPr algn="ctr">
              <a:lnSpc>
                <a:spcPts val="3879"/>
              </a:lnSpc>
            </a:pPr>
            <a:r>
              <a:rPr sz="355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355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355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355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550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3550" dirty="0">
              <a:latin typeface="Times New Roman"/>
              <a:cs typeface="Times New Roman"/>
            </a:endParaRPr>
          </a:p>
          <a:p>
            <a:pPr marL="5715" algn="ctr">
              <a:lnSpc>
                <a:spcPts val="1245"/>
              </a:lnSpc>
            </a:pPr>
            <a:r>
              <a:rPr sz="1150" b="1" spc="-10" dirty="0">
                <a:latin typeface="Times New Roman"/>
                <a:cs typeface="Times New Roman"/>
              </a:rPr>
              <a:t>(Affiliated</a:t>
            </a:r>
            <a:r>
              <a:rPr sz="1150" b="1" spc="-6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to</a:t>
            </a:r>
            <a:r>
              <a:rPr sz="1150" b="1" spc="-4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JNTUA</a:t>
            </a:r>
            <a:r>
              <a:rPr sz="1150" b="1" spc="-6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&amp;</a:t>
            </a:r>
            <a:r>
              <a:rPr sz="1150" b="1" spc="-9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Approved</a:t>
            </a:r>
            <a:r>
              <a:rPr sz="1150" b="1" spc="-3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by</a:t>
            </a:r>
            <a:r>
              <a:rPr sz="1150" b="1" spc="-7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AICTE)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(Accredited </a:t>
            </a:r>
            <a:r>
              <a:rPr sz="1150" b="1" dirty="0">
                <a:latin typeface="Times New Roman"/>
                <a:cs typeface="Times New Roman"/>
              </a:rPr>
              <a:t>by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NAAC</a:t>
            </a:r>
            <a:r>
              <a:rPr sz="1150" b="1" spc="-10" dirty="0">
                <a:latin typeface="Times New Roman"/>
                <a:cs typeface="Times New Roman"/>
              </a:rPr>
              <a:t> with</a:t>
            </a:r>
            <a:r>
              <a:rPr sz="1150" b="1" spc="-3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‘A’</a:t>
            </a:r>
            <a:r>
              <a:rPr sz="1150" b="1" spc="-9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Grade</a:t>
            </a:r>
            <a:r>
              <a:rPr sz="1150" b="1" spc="-3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&amp;</a:t>
            </a:r>
            <a:r>
              <a:rPr sz="1150" b="1" spc="-7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Accredited </a:t>
            </a:r>
            <a:r>
              <a:rPr sz="1150" b="1" dirty="0">
                <a:latin typeface="Times New Roman"/>
                <a:cs typeface="Times New Roman"/>
              </a:rPr>
              <a:t>by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NBA</a:t>
            </a:r>
            <a:r>
              <a:rPr sz="1150" b="1" spc="-6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(EEE,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ECE</a:t>
            </a:r>
            <a:r>
              <a:rPr sz="1150" b="1" spc="-4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&amp;</a:t>
            </a:r>
            <a:r>
              <a:rPr sz="1150" b="1" spc="-20" dirty="0">
                <a:latin typeface="Times New Roman"/>
                <a:cs typeface="Times New Roman"/>
              </a:rPr>
              <a:t> CSE)</a:t>
            </a:r>
            <a:endParaRPr sz="1150" dirty="0">
              <a:latin typeface="Times New Roman"/>
              <a:cs typeface="Times New Roman"/>
            </a:endParaRPr>
          </a:p>
          <a:p>
            <a:pPr marL="5715" algn="ctr">
              <a:lnSpc>
                <a:spcPts val="1445"/>
              </a:lnSpc>
            </a:pPr>
            <a:r>
              <a:rPr sz="1250" b="1" dirty="0">
                <a:latin typeface="Times New Roman"/>
                <a:cs typeface="Times New Roman"/>
              </a:rPr>
              <a:t>Rotarypuram</a:t>
            </a:r>
            <a:r>
              <a:rPr sz="1250" b="1" spc="-4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Village,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B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K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Samudram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Mandal,</a:t>
            </a:r>
            <a:r>
              <a:rPr sz="1250" b="1" spc="-5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Ananthapuramu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–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515701.</a:t>
            </a:r>
            <a:endParaRPr sz="12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350" b="1" dirty="0">
                <a:solidFill>
                  <a:srgbClr val="1E4E78"/>
                </a:solidFill>
                <a:latin typeface="Times New Roman"/>
                <a:cs typeface="Times New Roman"/>
              </a:rPr>
              <a:t>2025 -</a:t>
            </a:r>
            <a:r>
              <a:rPr sz="1350" b="1" spc="15" dirty="0">
                <a:solidFill>
                  <a:srgbClr val="1E4E78"/>
                </a:solidFill>
                <a:latin typeface="Times New Roman"/>
                <a:cs typeface="Times New Roman"/>
              </a:rPr>
              <a:t> </a:t>
            </a:r>
            <a:r>
              <a:rPr sz="135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2026</a:t>
            </a:r>
            <a:endParaRPr sz="1350" dirty="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8507" y="307772"/>
            <a:ext cx="10621645" cy="951230"/>
            <a:chOff x="708507" y="307772"/>
            <a:chExt cx="10621645" cy="9512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507" y="307772"/>
              <a:ext cx="10621188" cy="9510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55015" y="335279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170" y="0"/>
                  </a:moveTo>
                  <a:lnTo>
                    <a:pt x="142976" y="0"/>
                  </a:lnTo>
                  <a:lnTo>
                    <a:pt x="97790" y="7239"/>
                  </a:lnTo>
                  <a:lnTo>
                    <a:pt x="58534" y="27559"/>
                  </a:lnTo>
                  <a:lnTo>
                    <a:pt x="27584" y="58547"/>
                  </a:lnTo>
                  <a:lnTo>
                    <a:pt x="7289" y="97790"/>
                  </a:lnTo>
                  <a:lnTo>
                    <a:pt x="0" y="143002"/>
                  </a:lnTo>
                  <a:lnTo>
                    <a:pt x="0" y="714883"/>
                  </a:lnTo>
                  <a:lnTo>
                    <a:pt x="7289" y="760095"/>
                  </a:lnTo>
                  <a:lnTo>
                    <a:pt x="27584" y="799338"/>
                  </a:lnTo>
                  <a:lnTo>
                    <a:pt x="58534" y="830199"/>
                  </a:lnTo>
                  <a:lnTo>
                    <a:pt x="97790" y="850519"/>
                  </a:lnTo>
                  <a:lnTo>
                    <a:pt x="142976" y="857885"/>
                  </a:lnTo>
                  <a:lnTo>
                    <a:pt x="10385170" y="857885"/>
                  </a:lnTo>
                  <a:lnTo>
                    <a:pt x="10430383" y="850519"/>
                  </a:lnTo>
                  <a:lnTo>
                    <a:pt x="10469626" y="830199"/>
                  </a:lnTo>
                  <a:lnTo>
                    <a:pt x="10500614" y="799338"/>
                  </a:lnTo>
                  <a:lnTo>
                    <a:pt x="10520934" y="760095"/>
                  </a:lnTo>
                  <a:lnTo>
                    <a:pt x="10528173" y="714883"/>
                  </a:lnTo>
                  <a:lnTo>
                    <a:pt x="10528173" y="143002"/>
                  </a:lnTo>
                  <a:lnTo>
                    <a:pt x="10517251" y="88265"/>
                  </a:lnTo>
                  <a:lnTo>
                    <a:pt x="10486263" y="41910"/>
                  </a:lnTo>
                  <a:lnTo>
                    <a:pt x="10439908" y="10795"/>
                  </a:lnTo>
                  <a:lnTo>
                    <a:pt x="1038517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7240" y="335280"/>
            <a:ext cx="10403967" cy="113492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6634474"/>
            <a:ext cx="12192635" cy="223520"/>
            <a:chOff x="0" y="6634474"/>
            <a:chExt cx="12192635" cy="223520"/>
          </a:xfrm>
        </p:grpSpPr>
        <p:sp>
          <p:nvSpPr>
            <p:cNvPr id="14" name="object 14"/>
            <p:cNvSpPr/>
            <p:nvPr/>
          </p:nvSpPr>
          <p:spPr>
            <a:xfrm>
              <a:off x="777240" y="6634476"/>
              <a:ext cx="5782310" cy="220979"/>
            </a:xfrm>
            <a:custGeom>
              <a:avLst/>
              <a:gdLst/>
              <a:ahLst/>
              <a:cxnLst/>
              <a:rect l="l" t="t" r="r" b="b"/>
              <a:pathLst>
                <a:path w="5782309" h="220979">
                  <a:moveTo>
                    <a:pt x="5781802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5781802" y="220980"/>
                  </a:lnTo>
                  <a:lnTo>
                    <a:pt x="578180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59042" y="6634476"/>
              <a:ext cx="5195570" cy="220979"/>
            </a:xfrm>
            <a:custGeom>
              <a:avLst/>
              <a:gdLst/>
              <a:ahLst/>
              <a:cxnLst/>
              <a:rect l="l" t="t" r="r" b="b"/>
              <a:pathLst>
                <a:path w="5195570" h="220979">
                  <a:moveTo>
                    <a:pt x="5195188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5195188" y="220980"/>
                  </a:lnTo>
                  <a:lnTo>
                    <a:pt x="5195188" y="0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54231" y="6636924"/>
              <a:ext cx="438150" cy="220979"/>
            </a:xfrm>
            <a:custGeom>
              <a:avLst/>
              <a:gdLst/>
              <a:ahLst/>
              <a:cxnLst/>
              <a:rect l="l" t="t" r="r" b="b"/>
              <a:pathLst>
                <a:path w="438150" h="220979">
                  <a:moveTo>
                    <a:pt x="437807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437807" y="220980"/>
                  </a:lnTo>
                  <a:lnTo>
                    <a:pt x="43780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634474"/>
              <a:ext cx="777240" cy="221615"/>
            </a:xfrm>
            <a:custGeom>
              <a:avLst/>
              <a:gdLst/>
              <a:ahLst/>
              <a:cxnLst/>
              <a:rect l="l" t="t" r="r" b="b"/>
              <a:pathLst>
                <a:path w="777240" h="221615">
                  <a:moveTo>
                    <a:pt x="777240" y="0"/>
                  </a:moveTo>
                  <a:lnTo>
                    <a:pt x="0" y="0"/>
                  </a:lnTo>
                  <a:lnTo>
                    <a:pt x="0" y="221526"/>
                  </a:lnTo>
                  <a:lnTo>
                    <a:pt x="777240" y="221526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0" y="38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2000" y="0"/>
                </a:moveTo>
                <a:lnTo>
                  <a:pt x="0" y="0"/>
                </a:lnTo>
                <a:lnTo>
                  <a:pt x="0" y="232752"/>
                </a:lnTo>
                <a:lnTo>
                  <a:pt x="12192000" y="232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3580" y="3460750"/>
            <a:ext cx="1844039" cy="1685798"/>
          </a:xfrm>
          <a:prstGeom prst="rect">
            <a:avLst/>
          </a:prstGeom>
        </p:spPr>
      </p:pic>
      <p:sp>
        <p:nvSpPr>
          <p:cNvPr id="20" name="Subtitle 11">
            <a:extLst>
              <a:ext uri="{FF2B5EF4-FFF2-40B4-BE49-F238E27FC236}">
                <a16:creationId xmlns:a16="http://schemas.microsoft.com/office/drawing/2014/main" id="{3DEDD702-B82E-2590-D052-742BC81AF792}"/>
              </a:ext>
            </a:extLst>
          </p:cNvPr>
          <p:cNvSpPr txBox="1"/>
          <p:nvPr/>
        </p:nvSpPr>
        <p:spPr>
          <a:xfrm>
            <a:off x="838200" y="1828800"/>
            <a:ext cx="1996821" cy="5387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Adarsh B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234G5A3201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90D98245-4638-FE3F-67B5-A9D282C8437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lang="en-IN" spc="-50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5368DD8-0B3C-333E-FFA3-B31464362C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55"/>
              </a:lnSpc>
            </a:pPr>
            <a:fld id="{81D60167-4931-47E6-BA6A-407CBD079E47}" type="slidenum">
              <a:rPr lang="en-IN" spc="-25" smtClean="0"/>
              <a:t>1</a:t>
            </a:fld>
            <a:endParaRPr lang="en-IN" spc="-25" dirty="0"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C66B1425-267B-43FE-84BC-0D99A9611F6F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491BF2DC-DDC6-4730-B25D-236901026C07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AA6D-7637-5E88-CF28-4D2EF602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969"/>
            <a:ext cx="12192000" cy="529241"/>
          </a:xfrm>
        </p:spPr>
        <p:txBody>
          <a:bodyPr/>
          <a:lstStyle/>
          <a:p>
            <a:r>
              <a:rPr lang="en-US" sz="2800" dirty="0"/>
              <a:t>REVIEW – 0 COMMENTS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DFE5-F7A5-9ADB-AFD3-08EBD7A4F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7441"/>
            <a:ext cx="11430000" cy="402796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Project implementation steps need to be properly checked and clearly explained.</a:t>
            </a:r>
          </a:p>
          <a:p>
            <a:pPr>
              <a:lnSpc>
                <a:spcPct val="150000"/>
              </a:lnSpc>
            </a:pPr>
            <a:r>
              <a:rPr lang="en-US" dirty="0"/>
              <a:t>The project approach should be clearly defined and justified.</a:t>
            </a:r>
          </a:p>
          <a:p>
            <a:pPr>
              <a:lnSpc>
                <a:spcPct val="150000"/>
              </a:lnSpc>
            </a:pPr>
            <a:r>
              <a:rPr lang="en-US" dirty="0"/>
              <a:t>Existing systems related to the project must be explained briefly.</a:t>
            </a:r>
          </a:p>
          <a:p>
            <a:pPr>
              <a:lnSpc>
                <a:spcPct val="150000"/>
              </a:lnSpc>
            </a:pPr>
            <a:r>
              <a:rPr lang="en-US" dirty="0"/>
              <a:t>Clear comparison between existing and proposed system should be included, highlighting improvements.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2C69C9A3-8F39-36E3-BBD9-FE425A2A7AD3}"/>
              </a:ext>
            </a:extLst>
          </p:cNvPr>
          <p:cNvSpPr txBox="1"/>
          <p:nvPr/>
        </p:nvSpPr>
        <p:spPr>
          <a:xfrm>
            <a:off x="-4" y="0"/>
            <a:ext cx="12192003" cy="260969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  <a:endParaRPr lang="en-US" sz="1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7182F636-856F-B9C0-C314-3F0ACA09BFEB}"/>
              </a:ext>
            </a:extLst>
          </p:cNvPr>
          <p:cNvSpPr txBox="1">
            <a:spLocks/>
          </p:cNvSpPr>
          <p:nvPr/>
        </p:nvSpPr>
        <p:spPr>
          <a:xfrm>
            <a:off x="191038" y="6646175"/>
            <a:ext cx="585724" cy="243656"/>
          </a:xfrm>
          <a:prstGeom prst="rect">
            <a:avLst/>
          </a:prstGeom>
          <a:solidFill>
            <a:srgbClr val="C55A11"/>
          </a:solidFill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B- 3</a:t>
            </a:r>
            <a:endParaRPr kumimoji="0" lang="en-IN" sz="1600" b="0" i="0" u="none" strike="noStrike" kern="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27A5C4DA-A784-9657-59BB-43BBDE13956B}"/>
              </a:ext>
            </a:extLst>
          </p:cNvPr>
          <p:cNvSpPr txBox="1"/>
          <p:nvPr/>
        </p:nvSpPr>
        <p:spPr>
          <a:xfrm>
            <a:off x="1066800" y="6665041"/>
            <a:ext cx="5106035" cy="224790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35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964815"/>
            <a:ext cx="5791200" cy="535653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Design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1005" indent="-408305">
              <a:lnSpc>
                <a:spcPct val="150000"/>
              </a:lnSpc>
              <a:spcBef>
                <a:spcPts val="110"/>
              </a:spcBef>
              <a:buChar char="•"/>
              <a:tabLst>
                <a:tab pos="421005" algn="l"/>
              </a:tabLst>
            </a:pPr>
            <a:endParaRPr sz="2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" y="38"/>
            <a:ext cx="12192002" cy="1020025"/>
            <a:chOff x="-2" y="38"/>
            <a:chExt cx="12192002" cy="1020025"/>
          </a:xfrm>
        </p:grpSpPr>
        <p:sp>
          <p:nvSpPr>
            <p:cNvPr id="4" name="object 4"/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68"/>
              <a:ext cx="12191999" cy="803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-2" y="229528"/>
              <a:ext cx="12192001" cy="715645"/>
            </a:xfrm>
            <a:custGeom>
              <a:avLst/>
              <a:gdLst/>
              <a:ahLst/>
              <a:cxnLst/>
              <a:rect l="l" t="t" r="r" b="b"/>
              <a:pathLst>
                <a:path w="12175490" h="715644">
                  <a:moveTo>
                    <a:pt x="12175490" y="0"/>
                  </a:moveTo>
                  <a:lnTo>
                    <a:pt x="0" y="0"/>
                  </a:lnTo>
                  <a:lnTo>
                    <a:pt x="0" y="715048"/>
                  </a:lnTo>
                  <a:lnTo>
                    <a:pt x="12175490" y="715048"/>
                  </a:lnTo>
                  <a:lnTo>
                    <a:pt x="1217549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-4" y="0"/>
            <a:ext cx="12191999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AF57A65F-77D3-8C84-54FB-59D822E09D8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 dirty="0"/>
              <a:t>B- 3</a:t>
            </a:r>
            <a:endParaRPr spc="-50" dirty="0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8BDFFD59-2A37-1AA8-8EC2-286BEA777EFB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FAEA9376-C17C-5887-A526-B82F0C169C0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3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E56C8E-2EB4-451E-AF83-C8B735F640B7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746" y="838200"/>
            <a:ext cx="11901553" cy="58040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215"/>
              </a:spcBef>
            </a:pP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Traffic sign recognition in real-time driving environments is challenging because signs are small, partially occluded, and surrounded by distractors such as advertisements and storefronts. Our project presents a complete Traffic Sign Recognition (TSR) pipeline that integrates a lightweight one-stage detector optimized for tiny objects with a fine-grained classifier to identify sign categories. To prevent misclassification of non-traffic objects that resemble signs, the system incorporates an open-set rejection module utilizing geometric and color priors. Additionally, a temporal consensus mechanism combined with multi-object tracking stabilizes predictions across frames, improving robustness during motion blur and partial occlusion. The system is designed to operate under strict latency constraints and is evaluated using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mAP</a:t>
            </a: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@[.5:.95], F1-score, and AUROC for open-set rejection. This approach provides a reliable baseline for intelligent transportation systems and future research in open-world TSR.</a:t>
            </a: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8"/>
            <a:ext cx="12192001" cy="1020025"/>
            <a:chOff x="0" y="38"/>
            <a:chExt cx="12192001" cy="1020025"/>
          </a:xfrm>
        </p:grpSpPr>
        <p:sp>
          <p:nvSpPr>
            <p:cNvPr id="4" name="object 4"/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268"/>
              <a:ext cx="12191999" cy="803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1685"/>
              <a:ext cx="12192001" cy="606515"/>
            </a:xfrm>
            <a:custGeom>
              <a:avLst/>
              <a:gdLst/>
              <a:ahLst/>
              <a:cxnLst/>
              <a:rect l="l" t="t" r="r" b="b"/>
              <a:pathLst>
                <a:path w="12169775" h="715644">
                  <a:moveTo>
                    <a:pt x="12169775" y="0"/>
                  </a:moveTo>
                  <a:lnTo>
                    <a:pt x="0" y="0"/>
                  </a:lnTo>
                  <a:lnTo>
                    <a:pt x="0" y="715048"/>
                  </a:lnTo>
                  <a:lnTo>
                    <a:pt x="12169775" y="715048"/>
                  </a:lnTo>
                  <a:lnTo>
                    <a:pt x="12169775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Abstract</a:t>
            </a: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6462F4CC-6592-A211-D4B8-8123B532EA85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6EED633A-5E03-6DD9-A99A-0C1D20CAA5E0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7B2DBA78-3B5B-F0F3-2B80-A57CF082C18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4</a:t>
            </a:fld>
            <a:endParaRPr spc="-25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4FAA098-CEBE-A535-B896-FD80681DD7C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39700" y="6626316"/>
            <a:ext cx="622300" cy="258620"/>
          </a:xfrm>
        </p:spPr>
        <p:txBody>
          <a:bodyPr/>
          <a:lstStyle/>
          <a:p>
            <a:pPr marL="12700">
              <a:lnSpc>
                <a:spcPts val="1855"/>
              </a:lnSpc>
            </a:pPr>
            <a:r>
              <a:rPr lang="en-IN" dirty="0"/>
              <a:t>B- 3</a:t>
            </a:r>
            <a:endParaRPr lang="en-IN" spc="-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74900E-9B83-4EAB-B22C-0B4BFEFB8B02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28447"/>
            <a:ext cx="12191998" cy="7794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9352" y="252741"/>
            <a:ext cx="2747645" cy="618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95"/>
              </a:lnSpc>
            </a:pPr>
            <a:r>
              <a:rPr sz="4400" spc="-2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7139" y="11493"/>
            <a:ext cx="8264525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0"/>
              </a:lnSpc>
            </a:pP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Transparency</a:t>
            </a:r>
            <a:r>
              <a:rPr sz="1500" b="1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privacy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Role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Explainable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&amp;Federated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Financial</a:t>
            </a:r>
            <a:r>
              <a:rPr sz="1500" b="1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8"/>
            <a:ext cx="12192000" cy="1020025"/>
            <a:chOff x="0" y="38"/>
            <a:chExt cx="12192000" cy="1020025"/>
          </a:xfrm>
        </p:grpSpPr>
        <p:sp>
          <p:nvSpPr>
            <p:cNvPr id="7" name="object 7"/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" y="216268"/>
              <a:ext cx="12191998" cy="8037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6276" y="194513"/>
            <a:ext cx="27857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26833D-6BCA-2E3C-8306-613391C5F602}"/>
              </a:ext>
            </a:extLst>
          </p:cNvPr>
          <p:cNvSpPr txBox="1"/>
          <p:nvPr/>
        </p:nvSpPr>
        <p:spPr>
          <a:xfrm>
            <a:off x="76200" y="1027543"/>
            <a:ext cx="11797029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Sign Recognition (TSR) is essential for autonomous vehicles and driver assistance systems.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TSR is difficult due to tiny sign sizes, occlusions, and the presence of distracting objects.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work under strict time constraints to ensure road safety.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Our project combines a fast detector and a fine-grained classifier for accurate recognition.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Open-set rejection ensures that visually similar non-traffic objects are not wrongly classified as traffic signs.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Temporal consensus across multiple frames increases stability and reliability of predictions.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8BABB297-03A8-ADC3-C04D-8BE44C61939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7629F593-C9D7-8E11-70CF-4C55A45906B2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1D72D310-C8BB-7179-1E05-AD66C20510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5</a:t>
            </a:fld>
            <a:endParaRPr spc="-25" dirty="0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EAE5A10-3E8C-4C95-9D02-F9D02F94138D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283BF880-0A1F-401B-A40A-5F2BC81DEE94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688653E6-B457-B35F-1601-6811FC72F450}"/>
              </a:ext>
            </a:extLst>
          </p:cNvPr>
          <p:cNvGrpSpPr/>
          <p:nvPr/>
        </p:nvGrpSpPr>
        <p:grpSpPr>
          <a:xfrm>
            <a:off x="0" y="-23916"/>
            <a:ext cx="12192000" cy="1020444"/>
            <a:chOff x="0" y="38"/>
            <a:chExt cx="12192000" cy="1020444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0D847272-A0E6-3F91-3ED7-5BD179EF6EFA}"/>
                </a:ext>
              </a:extLst>
            </p:cNvPr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9AD43693-EC78-60B5-015C-44E9C2A727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16268"/>
              <a:ext cx="12191998" cy="803795"/>
            </a:xfrm>
            <a:prstGeom prst="rect">
              <a:avLst/>
            </a:prstGeom>
          </p:spPr>
        </p:pic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4400DAC7-6341-2C16-9C8E-3E73C1D7CEED}"/>
                </a:ext>
              </a:extLst>
            </p:cNvPr>
            <p:cNvSpPr/>
            <p:nvPr/>
          </p:nvSpPr>
          <p:spPr>
            <a:xfrm>
              <a:off x="0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C0404C4-7018-3249-CD2F-2817B4D2E94D}"/>
              </a:ext>
            </a:extLst>
          </p:cNvPr>
          <p:cNvSpPr txBox="1"/>
          <p:nvPr/>
        </p:nvSpPr>
        <p:spPr>
          <a:xfrm>
            <a:off x="457200" y="1232977"/>
            <a:ext cx="11277600" cy="504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Yi Yang et al. [1]Proposed a fast color-based probability model and CNN-based classifier for traffic sign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recognition.Found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improved detection speed but addressed only closed-set recognition.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Hana B. F. et al. [2]Used Haar cascade + deep CNN for real-time traffic sign classification on embedded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hardware.Achieved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high accuracy but did not support open-set rejection or temporal consistency.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Jiahui Guo et al. [3]Introduced temporal-guided label assignment for video object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detection.Stabilized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predictions but not designed specifically for tiny traffic signs.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Xingyi Zhou &amp; Deva Ramanan [4]Proposed object-level temporal aggregation using detection +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tracking.Improved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speed-consistency trade-off but lacked open-set rejection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</a:rPr>
              <a:t>mechanisms.Additional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 Paper Example</a:t>
            </a:r>
          </a:p>
          <a:p>
            <a:pPr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EF99DA94-F811-D3E3-9E46-D9D0A15FEC2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B37996DF-45B2-B1AD-F180-55650DD14654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1AFFC9B-9F05-7970-5A12-84F5B5FE46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6</a:t>
            </a:fld>
            <a:endParaRPr spc="-25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3C138-87D6-AD84-4BFD-B85F9A1E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3" y="195263"/>
            <a:ext cx="12015787" cy="688975"/>
          </a:xfrm>
        </p:spPr>
        <p:txBody>
          <a:bodyPr/>
          <a:lstStyle/>
          <a:p>
            <a:r>
              <a:rPr lang="en-US" dirty="0">
                <a:sym typeface="+mn-ea"/>
              </a:rPr>
              <a:t>Literature Survey</a:t>
            </a:r>
            <a:endParaRPr lang="en-US" dirty="0"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76D38329-6934-40DD-913A-D06DAFDF5E28}"/>
              </a:ext>
            </a:extLst>
          </p:cNvPr>
          <p:cNvSpPr txBox="1"/>
          <p:nvPr/>
        </p:nvSpPr>
        <p:spPr>
          <a:xfrm>
            <a:off x="-195047" y="-36759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5340748A-7D71-449D-9146-661DA27A4D3E}"/>
              </a:ext>
            </a:extLst>
          </p:cNvPr>
          <p:cNvSpPr txBox="1"/>
          <p:nvPr/>
        </p:nvSpPr>
        <p:spPr>
          <a:xfrm>
            <a:off x="1068641" y="6629400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871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AF28F72-58C2-F179-29E2-4D68CD339AA8}"/>
              </a:ext>
            </a:extLst>
          </p:cNvPr>
          <p:cNvGrpSpPr/>
          <p:nvPr/>
        </p:nvGrpSpPr>
        <p:grpSpPr>
          <a:xfrm>
            <a:off x="0" y="38"/>
            <a:ext cx="12192000" cy="1020444"/>
            <a:chOff x="0" y="38"/>
            <a:chExt cx="12192000" cy="1020444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8EDD3776-F7E7-7075-FE56-A847D47A80E8}"/>
                </a:ext>
              </a:extLst>
            </p:cNvPr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902819E9-C99F-5652-BEEC-6A0A6508A50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16268"/>
              <a:ext cx="12191998" cy="803795"/>
            </a:xfrm>
            <a:prstGeom prst="rect">
              <a:avLst/>
            </a:prstGeom>
          </p:spPr>
        </p:pic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EB6ED484-EF09-1E64-70CB-7B1149F789FB}"/>
                </a:ext>
              </a:extLst>
            </p:cNvPr>
            <p:cNvSpPr/>
            <p:nvPr/>
          </p:nvSpPr>
          <p:spPr>
            <a:xfrm>
              <a:off x="0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12">
            <a:extLst>
              <a:ext uri="{FF2B5EF4-FFF2-40B4-BE49-F238E27FC236}">
                <a16:creationId xmlns:a16="http://schemas.microsoft.com/office/drawing/2014/main" id="{6B14CEF1-E308-6537-4DE9-C7686D4123A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189F2C78-5052-2006-9003-E398EBD136D6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676EBB76-728B-77DF-1F8A-5574E957FCD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7</a:t>
            </a:fld>
            <a:endParaRPr spc="-25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31F60A-35BF-F979-4674-18B72F02F73C}"/>
              </a:ext>
            </a:extLst>
          </p:cNvPr>
          <p:cNvSpPr txBox="1">
            <a:spLocks/>
          </p:cNvSpPr>
          <p:nvPr/>
        </p:nvSpPr>
        <p:spPr>
          <a:xfrm>
            <a:off x="420117" y="1180528"/>
            <a:ext cx="11558524" cy="4801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</a:rPr>
              <a:t>Most existing TSR systems work under a closed-set assumption, meaning they only recognize known sign categories.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</a:rPr>
              <a:t>Conventional systems often misclassify non-traffic objects that resemble signs (store logos, banners, boards).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</a:rPr>
              <a:t>Traditional detection approaches struggle with tiny traffic signs in high-resolution road scenes.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</a:rPr>
              <a:t>Few systems incorporate temporal information; they treat each video frame independently.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</a:rPr>
              <a:t>Real-time performance is often compromised when using heavy deep-learning models.</a:t>
            </a:r>
            <a:endParaRPr lang="en-IN" dirty="0"/>
          </a:p>
          <a:p>
            <a:endParaRPr lang="en-IN" dirty="0"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03A31B6B-02C1-48F4-A91B-203B88389512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3A5B780B-F7A2-4D4F-948B-C8CBEFB30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276" y="216268"/>
            <a:ext cx="386232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pc="-10" dirty="0"/>
              <a:t>Existing System</a:t>
            </a:r>
            <a:endParaRPr spc="-10" dirty="0"/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8738CA3F-1750-48AD-B6B7-5510ABC94DDE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04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11CFAB27-2696-2BFB-597A-D112FDB1400A}"/>
              </a:ext>
            </a:extLst>
          </p:cNvPr>
          <p:cNvGrpSpPr/>
          <p:nvPr/>
        </p:nvGrpSpPr>
        <p:grpSpPr>
          <a:xfrm>
            <a:off x="0" y="38"/>
            <a:ext cx="12192000" cy="1020444"/>
            <a:chOff x="0" y="38"/>
            <a:chExt cx="12192000" cy="1020444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70DD7F4E-6D5B-171D-77DB-AB8F07F7E514}"/>
                </a:ext>
              </a:extLst>
            </p:cNvPr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C79F4E77-952F-948A-A873-B61B8538E1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" y="216268"/>
              <a:ext cx="12191998" cy="803795"/>
            </a:xfrm>
            <a:prstGeom prst="rect">
              <a:avLst/>
            </a:prstGeom>
          </p:spPr>
        </p:pic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2C8DCEBF-B3F9-4A5C-DD90-456DF1049458}"/>
                </a:ext>
              </a:extLst>
            </p:cNvPr>
            <p:cNvSpPr/>
            <p:nvPr/>
          </p:nvSpPr>
          <p:spPr>
            <a:xfrm>
              <a:off x="0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10">
            <a:extLst>
              <a:ext uri="{FF2B5EF4-FFF2-40B4-BE49-F238E27FC236}">
                <a16:creationId xmlns:a16="http://schemas.microsoft.com/office/drawing/2014/main" id="{D98B75F2-7CC9-9922-52DA-53F73D7049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276" y="216268"/>
            <a:ext cx="386232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pc="-10" dirty="0"/>
              <a:t>Proposed System</a:t>
            </a:r>
            <a:endParaRPr spc="-1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0E8450-81E4-CF7B-F9E1-A9E452A99FB0}"/>
              </a:ext>
            </a:extLst>
          </p:cNvPr>
          <p:cNvSpPr txBox="1"/>
          <p:nvPr/>
        </p:nvSpPr>
        <p:spPr>
          <a:xfrm>
            <a:off x="76200" y="1020062"/>
            <a:ext cx="11811000" cy="59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Uses a lightweight one-stage detector optimized for tiny traffic signs to achieve real-time performance.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fine-grained classifier identifies the specific type of sign from detected regions.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Open-set rejection prevents misclassification by checking geometric shapes and color consistency.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Multi-object tracking ensures each sign is followed across consecutive frames.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Temporal consensus aggregates predictions to improve stability during motion blur or occlusion.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is evaluated through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mAP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F1-score, and AUROC for open-set rejection.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3226A2B1-34C6-B2EC-B7E4-392C01377B0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22" name="object 14">
            <a:extLst>
              <a:ext uri="{FF2B5EF4-FFF2-40B4-BE49-F238E27FC236}">
                <a16:creationId xmlns:a16="http://schemas.microsoft.com/office/drawing/2014/main" id="{9CDEC033-CC5C-5417-8FB2-8895EDF0E9F6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EC7A915C-6A51-20A0-ED15-23083ACD916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8</a:t>
            </a:fld>
            <a:endParaRPr spc="-25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715FEB13-ADD8-44A6-88B4-3B61C259C20B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4EB0FB06-E214-4EB3-9671-501EBBB9761C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95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175" y="0"/>
            <a:ext cx="12188825" cy="1040090"/>
            <a:chOff x="3175" y="19646"/>
            <a:chExt cx="12188825" cy="1020444"/>
          </a:xfrm>
        </p:grpSpPr>
        <p:sp>
          <p:nvSpPr>
            <p:cNvPr id="4" name="object 4"/>
            <p:cNvSpPr/>
            <p:nvPr/>
          </p:nvSpPr>
          <p:spPr>
            <a:xfrm>
              <a:off x="3176" y="19646"/>
              <a:ext cx="12188825" cy="233045"/>
            </a:xfrm>
            <a:custGeom>
              <a:avLst/>
              <a:gdLst/>
              <a:ahLst/>
              <a:cxnLst/>
              <a:rect l="l" t="t" r="r" b="b"/>
              <a:pathLst>
                <a:path w="12188825" h="233045">
                  <a:moveTo>
                    <a:pt x="12188823" y="0"/>
                  </a:moveTo>
                  <a:lnTo>
                    <a:pt x="0" y="0"/>
                  </a:lnTo>
                  <a:lnTo>
                    <a:pt x="0" y="232702"/>
                  </a:lnTo>
                  <a:lnTo>
                    <a:pt x="12188823" y="232702"/>
                  </a:lnTo>
                  <a:lnTo>
                    <a:pt x="12188823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7" y="235889"/>
              <a:ext cx="12188822" cy="8036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75" y="252374"/>
              <a:ext cx="12188825" cy="715010"/>
            </a:xfrm>
            <a:custGeom>
              <a:avLst/>
              <a:gdLst/>
              <a:ahLst/>
              <a:cxnLst/>
              <a:rect l="l" t="t" r="r" b="b"/>
              <a:pathLst>
                <a:path w="12188825" h="715010">
                  <a:moveTo>
                    <a:pt x="12188825" y="0"/>
                  </a:moveTo>
                  <a:lnTo>
                    <a:pt x="0" y="0"/>
                  </a:lnTo>
                  <a:lnTo>
                    <a:pt x="0" y="714730"/>
                  </a:lnTo>
                  <a:lnTo>
                    <a:pt x="12188825" y="714730"/>
                  </a:lnTo>
                  <a:lnTo>
                    <a:pt x="12188825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9322" y="209753"/>
            <a:ext cx="645007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&amp; Design</a:t>
            </a:r>
            <a:endParaRPr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220A79EF-CFC3-62EA-98F6-0BC133C4C1A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8A6A5B97-325A-663B-2EE7-3099240EFEA6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A23329E3-DD94-3265-798C-17A2D60E0E8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9</a:t>
            </a:fld>
            <a:endParaRPr spc="-25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4BB1C97-7D98-F2B6-D605-26181397FCC9}"/>
              </a:ext>
            </a:extLst>
          </p:cNvPr>
          <p:cNvSpPr txBox="1">
            <a:spLocks/>
          </p:cNvSpPr>
          <p:nvPr/>
        </p:nvSpPr>
        <p:spPr>
          <a:xfrm flipH="1">
            <a:off x="216537" y="1245270"/>
            <a:ext cx="11988162" cy="5573847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ym typeface="+mn-ea"/>
              </a:rPr>
              <a:t>Phase 1: Dataset collection, annotation processing, negative sample creation.</a:t>
            </a:r>
          </a:p>
          <a:p>
            <a:endParaRPr lang="en-IN" dirty="0">
              <a:sym typeface="+mn-ea"/>
            </a:endParaRPr>
          </a:p>
          <a:p>
            <a:r>
              <a:rPr lang="en-IN" dirty="0">
                <a:sym typeface="+mn-ea"/>
              </a:rPr>
              <a:t>Phase 2: Training a lightweight YOLO-based detector for tiny sign detection.</a:t>
            </a:r>
          </a:p>
          <a:p>
            <a:endParaRPr lang="en-IN" dirty="0">
              <a:sym typeface="+mn-ea"/>
            </a:endParaRPr>
          </a:p>
          <a:p>
            <a:r>
              <a:rPr lang="en-IN" dirty="0">
                <a:sym typeface="+mn-ea"/>
              </a:rPr>
              <a:t>Phase 3: Training a fine-grained classifier for sign identification.</a:t>
            </a:r>
          </a:p>
          <a:p>
            <a:endParaRPr lang="en-IN" dirty="0">
              <a:sym typeface="+mn-ea"/>
            </a:endParaRPr>
          </a:p>
          <a:p>
            <a:r>
              <a:rPr lang="en-IN" dirty="0">
                <a:sym typeface="+mn-ea"/>
              </a:rPr>
              <a:t>Phase 4: Implementing geometric–</a:t>
            </a:r>
            <a:r>
              <a:rPr lang="en-IN" dirty="0" err="1">
                <a:sym typeface="+mn-ea"/>
              </a:rPr>
              <a:t>color</a:t>
            </a:r>
            <a:r>
              <a:rPr lang="en-IN" dirty="0">
                <a:sym typeface="+mn-ea"/>
              </a:rPr>
              <a:t> priors for open-set rejection.</a:t>
            </a:r>
          </a:p>
          <a:p>
            <a:endParaRPr lang="en-IN" dirty="0">
              <a:sym typeface="+mn-ea"/>
            </a:endParaRPr>
          </a:p>
          <a:p>
            <a:r>
              <a:rPr lang="en-IN" dirty="0">
                <a:sym typeface="+mn-ea"/>
              </a:rPr>
              <a:t>Phase 5: Integrating multi-object tracking (</a:t>
            </a:r>
            <a:r>
              <a:rPr lang="en-IN" dirty="0" err="1">
                <a:sym typeface="+mn-ea"/>
              </a:rPr>
              <a:t>ByteTrack</a:t>
            </a:r>
            <a:r>
              <a:rPr lang="en-IN" dirty="0">
                <a:sym typeface="+mn-ea"/>
              </a:rPr>
              <a:t>/</a:t>
            </a:r>
            <a:r>
              <a:rPr lang="en-IN" dirty="0" err="1">
                <a:sym typeface="+mn-ea"/>
              </a:rPr>
              <a:t>DeepSORT</a:t>
            </a:r>
            <a:r>
              <a:rPr lang="en-IN" dirty="0">
                <a:sym typeface="+mn-ea"/>
              </a:rPr>
              <a:t>).</a:t>
            </a:r>
          </a:p>
          <a:p>
            <a:endParaRPr lang="en-IN" dirty="0">
              <a:sym typeface="+mn-ea"/>
            </a:endParaRPr>
          </a:p>
          <a:p>
            <a:r>
              <a:rPr lang="en-IN" dirty="0">
                <a:sym typeface="+mn-ea"/>
              </a:rPr>
              <a:t>Phase 6: Adding temporal consensus for stable predictions.</a:t>
            </a:r>
          </a:p>
          <a:p>
            <a:endParaRPr lang="en-IN" dirty="0">
              <a:sym typeface="+mn-ea"/>
            </a:endParaRPr>
          </a:p>
          <a:p>
            <a:r>
              <a:rPr lang="en-IN" dirty="0">
                <a:sym typeface="+mn-ea"/>
              </a:rPr>
              <a:t>Phase 7: Full pipeline integration and real-time testing.</a:t>
            </a:r>
            <a:endParaRPr lang="en-IN" dirty="0"/>
          </a:p>
          <a:p>
            <a:endParaRPr lang="en-IN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EF05A618-7EB0-4134-A089-9B6338A0428F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i="1" dirty="0">
              <a:latin typeface="Times New Roman"/>
              <a:cs typeface="Times New Roman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1A5648C0-983B-44DB-9B80-9BD790F23AB1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38"/>
            <a:ext cx="12192000" cy="1020444"/>
            <a:chOff x="0" y="38"/>
            <a:chExt cx="12192000" cy="1020444"/>
          </a:xfrm>
        </p:grpSpPr>
        <p:sp>
          <p:nvSpPr>
            <p:cNvPr id="4" name="object 4"/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16268"/>
              <a:ext cx="12191998" cy="803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554" y="197561"/>
            <a:ext cx="26888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</a:t>
            </a:r>
            <a:r>
              <a:rPr lang="en-IN" spc="-10" dirty="0"/>
              <a:t>s</a:t>
            </a:r>
            <a:endParaRPr spc="-1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97B2CD-025C-1DA8-0D40-D59871B1E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469" y="1236293"/>
            <a:ext cx="11732893" cy="4062651"/>
          </a:xfrm>
        </p:spPr>
        <p:txBody>
          <a:bodyPr/>
          <a:lstStyle/>
          <a:p>
            <a:pPr marL="577850" indent="-577850">
              <a:buNone/>
            </a:pPr>
            <a:r>
              <a:rPr lang="en-US" dirty="0"/>
              <a:t> [1] Yi Yang, </a:t>
            </a:r>
            <a:r>
              <a:rPr lang="en-US" dirty="0" err="1"/>
              <a:t>Hengliang</a:t>
            </a:r>
            <a:r>
              <a:rPr lang="en-US" dirty="0"/>
              <a:t> Luo, </a:t>
            </a:r>
            <a:r>
              <a:rPr lang="en-US" dirty="0" err="1"/>
              <a:t>Fuchao</a:t>
            </a:r>
            <a:r>
              <a:rPr lang="en-US" dirty="0"/>
              <a:t> Wu, “Towards Real-Time Traffic Sign Detection and Classification,” ResearchGate.</a:t>
            </a:r>
          </a:p>
          <a:p>
            <a:pPr marL="577850" indent="-577850">
              <a:buNone/>
            </a:pPr>
            <a:endParaRPr lang="en-US" dirty="0"/>
          </a:p>
          <a:p>
            <a:pPr marL="577850" indent="-577850">
              <a:buNone/>
            </a:pPr>
            <a:r>
              <a:rPr lang="en-US" dirty="0"/>
              <a:t>[2] Hana B. F., Amani C., Jamel B. H., Chokri S., “A Real-Time Traffic Sign Recognition Method Using a New Attention-Based DCNN,” MDPI, 2023.</a:t>
            </a:r>
          </a:p>
          <a:p>
            <a:pPr marL="577850" indent="-577850">
              <a:buNone/>
            </a:pPr>
            <a:endParaRPr lang="en-US" dirty="0"/>
          </a:p>
          <a:p>
            <a:pPr marL="577850" indent="-577850">
              <a:buNone/>
            </a:pPr>
            <a:r>
              <a:rPr lang="en-US" dirty="0"/>
              <a:t>[3] Jiahui Guo, </a:t>
            </a:r>
            <a:r>
              <a:rPr lang="en-US" dirty="0" err="1"/>
              <a:t>Guohao</a:t>
            </a:r>
            <a:r>
              <a:rPr lang="en-US" dirty="0"/>
              <a:t> Li, Shuo Chen, </a:t>
            </a:r>
            <a:r>
              <a:rPr lang="en-US" dirty="0" err="1"/>
              <a:t>Guofa</a:t>
            </a:r>
            <a:r>
              <a:rPr lang="en-US" dirty="0"/>
              <a:t> Li, Yuxin Chen, “Temporal-Guided Label Assignment for Video Object Detection,” MDPI, 2022.</a:t>
            </a:r>
          </a:p>
          <a:p>
            <a:pPr marL="577850" indent="-577850">
              <a:buNone/>
            </a:pPr>
            <a:endParaRPr lang="en-US" dirty="0"/>
          </a:p>
          <a:p>
            <a:pPr marL="577850" indent="-577850">
              <a:buNone/>
            </a:pPr>
            <a:r>
              <a:rPr lang="en-US" dirty="0"/>
              <a:t>[4] Hassanpour et al., “Paper Currency Recognition Based on Size, Color, and Texture,” Journal XYZ, 2020</a:t>
            </a:r>
            <a:endParaRPr lang="en-IN" dirty="0"/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3DD0A1D9-7375-EDCA-A9C7-9ED3186823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 dirty="0"/>
              <a:t>B- 3</a:t>
            </a:r>
            <a:endParaRPr spc="-50" dirty="0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43EC7E94-EB39-CB0C-3E7D-3CA31E9C9F05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9C12CF69-B954-2B80-C1FF-0AAF7794640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10</a:t>
            </a:fld>
            <a:endParaRPr spc="-25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903B9127-2961-4D19-8A6C-50F2AEB5CABF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i="1" dirty="0">
              <a:latin typeface="Times New Roman"/>
              <a:cs typeface="Times New Roman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6CF061EF-BC5B-44D2-911D-CFF1C805DE1A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38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2000" y="0"/>
                </a:moveTo>
                <a:lnTo>
                  <a:pt x="0" y="0"/>
                </a:lnTo>
                <a:lnTo>
                  <a:pt x="0" y="232752"/>
                </a:lnTo>
                <a:lnTo>
                  <a:pt x="12192000" y="232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91A45EE3-D3DA-8D25-F154-3E8040BD2C00}"/>
              </a:ext>
            </a:extLst>
          </p:cNvPr>
          <p:cNvSpPr txBox="1"/>
          <p:nvPr/>
        </p:nvSpPr>
        <p:spPr>
          <a:xfrm>
            <a:off x="2831719" y="2350414"/>
            <a:ext cx="668591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Thank</a:t>
            </a:r>
            <a:r>
              <a:rPr sz="9600" i="1" spc="-3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lang="en-IN"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You!!!</a:t>
            </a:r>
            <a:endParaRPr sz="9600" dirty="0">
              <a:latin typeface="Times New Roman"/>
              <a:cs typeface="Times New Roman"/>
            </a:endParaRPr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EE962745-C499-83CD-0A95-10F427D7E87D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EB72828C-0BCF-4F5A-BC95-FDC468B2BF82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64122430-633C-492D-9470-BCB96D8353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 dirty="0"/>
              <a:t>B- 3</a:t>
            </a:r>
            <a:endParaRPr spc="-50" dirty="0"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505561F8-D2DD-471C-A562-70D052631D9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11</a:t>
            </a:fld>
            <a:endParaRPr spc="-25" dirty="0"/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820A8467-A45E-41D3-9483-13C50AE290EF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1261</Words>
  <Application>Microsoft Office PowerPoint</Application>
  <PresentationFormat>Widescreen</PresentationFormat>
  <Paragraphs>154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Times New Roman</vt:lpstr>
      <vt:lpstr>Wingdings</vt:lpstr>
      <vt:lpstr>Office Theme</vt:lpstr>
      <vt:lpstr>Custom Design</vt:lpstr>
      <vt:lpstr>PowerPoint Presentation</vt:lpstr>
      <vt:lpstr>REVIEW – 0 COMMENTS</vt:lpstr>
      <vt:lpstr>Contents</vt:lpstr>
      <vt:lpstr>Abstract</vt:lpstr>
      <vt:lpstr>Introduction</vt:lpstr>
      <vt:lpstr>Literature Survey</vt:lpstr>
      <vt:lpstr>Existing System</vt:lpstr>
      <vt:lpstr>Proposed System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- 0 Template.pptx</dc:title>
  <dc:creator>224g1</dc:creator>
  <cp:lastModifiedBy>Madhusudhan Sarma</cp:lastModifiedBy>
  <cp:revision>28</cp:revision>
  <dcterms:created xsi:type="dcterms:W3CDTF">2025-10-13T05:50:25Z</dcterms:created>
  <dcterms:modified xsi:type="dcterms:W3CDTF">2025-12-18T07:36:39Z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2025-10-13T00:00:00Z</vt:filetime>
  </property>
  <property fmtid="{D5CDD505-2E9C-101B-9397-08002B2CF9AE}" pid="5" name="Producer">
    <vt:lpwstr>www.ilovepdf.com</vt:lpwstr>
  </property>
</Properties>
</file>