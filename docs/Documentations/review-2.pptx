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6" r:id="rId2"/>
  </p:sldMasterIdLst>
  <p:notesMasterIdLst>
    <p:notesMasterId r:id="rId23"/>
  </p:notesMasterIdLst>
  <p:handoutMasterIdLst>
    <p:handoutMasterId r:id="rId24"/>
  </p:handoutMasterIdLst>
  <p:sldIdLst>
    <p:sldId id="256" r:id="rId3"/>
    <p:sldId id="291" r:id="rId4"/>
    <p:sldId id="309" r:id="rId5"/>
    <p:sldId id="310" r:id="rId6"/>
    <p:sldId id="311" r:id="rId7"/>
    <p:sldId id="292" r:id="rId8"/>
    <p:sldId id="259" r:id="rId9"/>
    <p:sldId id="293" r:id="rId10"/>
    <p:sldId id="294" r:id="rId11"/>
    <p:sldId id="298" r:id="rId12"/>
    <p:sldId id="299" r:id="rId13"/>
    <p:sldId id="312" r:id="rId14"/>
    <p:sldId id="301" r:id="rId15"/>
    <p:sldId id="302" r:id="rId16"/>
    <p:sldId id="313" r:id="rId17"/>
    <p:sldId id="304" r:id="rId18"/>
    <p:sldId id="306" r:id="rId19"/>
    <p:sldId id="263" r:id="rId20"/>
    <p:sldId id="308" r:id="rId21"/>
    <p:sldId id="266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006666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EC388B-C384-D02C-4E48-00C75E2D5A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Real-Time Traffic Sign Recognition with Open-Set Rejection and Temporal Consensus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F7AE02-B27C-69AB-3AFD-CA09EEA476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2EE247-4961-411B-868F-1DCCE8484176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C1603A-FF41-CE98-2B4E-0DF4C1E401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B-3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8509AA-3DC8-1B48-3317-29547C553A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97040-58B1-46D7-91E4-A39B60A84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81844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Real-Time Traffic Sign Recognition with Open-Set Rejection and Temporal Consensus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4A25A-6ECF-4628-B53C-9C5DBA801F1E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B-3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996878-DA52-4427-93CD-C07AE518F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13859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8505" y="-25197"/>
            <a:ext cx="5780659" cy="256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IN"/>
              <a:t>B- 3</a:t>
            </a:r>
            <a:endParaRPr spc="-5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US" cap="small" spc="-100"/>
              <a:t>Dept. of Computer Science and Engineering (Data Science)</a:t>
            </a:r>
            <a:endParaRPr cap="small" spc="-114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IN"/>
              <a:t>B- 3</a:t>
            </a:r>
            <a:endParaRPr spc="-5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US" cap="small" spc="-100"/>
              <a:t>Dept. of Computer Science and Engineering (Data Science)</a:t>
            </a:r>
            <a:endParaRPr cap="small" spc="-114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IN"/>
              <a:t>B- 3</a:t>
            </a:r>
            <a:endParaRPr spc="-5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US" cap="small" spc="-100"/>
              <a:t>Dept. of Computer Science and Engineering (Data Science)</a:t>
            </a:r>
            <a:endParaRPr cap="small" spc="-114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IN"/>
              <a:t>B- 3</a:t>
            </a:r>
            <a:endParaRPr spc="-5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US" cap="small" spc="-100"/>
              <a:t>Dept. of Computer Science and Engineering (Data Science)</a:t>
            </a:r>
            <a:endParaRPr cap="small" spc="-114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IN"/>
              <a:t>B- 3</a:t>
            </a:r>
            <a:endParaRPr spc="-5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US" cap="small" spc="-100"/>
              <a:t>Dept. of Computer Science and Engineering (Data Science)</a:t>
            </a:r>
            <a:endParaRPr cap="small" spc="-114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 txBox="1"/>
          <p:nvPr userDrawn="1"/>
        </p:nvSpPr>
        <p:spPr>
          <a:xfrm>
            <a:off x="777239" y="6634573"/>
            <a:ext cx="5781822" cy="22097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3"/>
          <p:cNvSpPr txBox="1"/>
          <p:nvPr userDrawn="1"/>
        </p:nvSpPr>
        <p:spPr>
          <a:xfrm>
            <a:off x="6559062" y="6634573"/>
            <a:ext cx="5195133" cy="220979"/>
          </a:xfrm>
          <a:prstGeom prst="rect">
            <a:avLst/>
          </a:prstGeom>
          <a:solidFill>
            <a:srgbClr val="00808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3"/>
          <p:cNvSpPr txBox="1"/>
          <p:nvPr userDrawn="1"/>
        </p:nvSpPr>
        <p:spPr>
          <a:xfrm>
            <a:off x="11754196" y="6637020"/>
            <a:ext cx="437803" cy="220979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3"/>
          <p:cNvSpPr txBox="1"/>
          <p:nvPr userDrawn="1"/>
        </p:nvSpPr>
        <p:spPr>
          <a:xfrm>
            <a:off x="-1" y="-1"/>
            <a:ext cx="12191999" cy="232759"/>
          </a:xfrm>
          <a:prstGeom prst="rect">
            <a:avLst/>
          </a:prstGeom>
          <a:solidFill>
            <a:srgbClr val="006666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500" b="1" i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ate Placeholder 3"/>
          <p:cNvSpPr txBox="1"/>
          <p:nvPr userDrawn="1"/>
        </p:nvSpPr>
        <p:spPr>
          <a:xfrm>
            <a:off x="0" y="6634573"/>
            <a:ext cx="777239" cy="22152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77826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" y="232759"/>
            <a:ext cx="12192000" cy="714892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>
              <a:defRPr b="0" cap="none" spc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505" y="1097279"/>
            <a:ext cx="11779135" cy="539496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Ø"/>
              <a:defRPr/>
            </a:lvl1pPr>
            <a:lvl2pPr marL="685800" indent="-228600">
              <a:buFont typeface="Wingdings" panose="05000000000000000000" pitchFamily="2" charset="2"/>
              <a:buChar char="q"/>
              <a:defRPr/>
            </a:lvl2pPr>
            <a:lvl3pPr marL="1143000" indent="-228600">
              <a:buFont typeface="Courier New" panose="02070309020205020404" pitchFamily="49" charset="0"/>
              <a:buChar char="o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Date Placeholder 3"/>
          <p:cNvSpPr txBox="1"/>
          <p:nvPr userDrawn="1"/>
        </p:nvSpPr>
        <p:spPr>
          <a:xfrm>
            <a:off x="777239" y="6642828"/>
            <a:ext cx="5654039" cy="21517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0" cap="small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Engineering</a:t>
            </a:r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3"/>
          <p:cNvSpPr txBox="1"/>
          <p:nvPr userDrawn="1"/>
        </p:nvSpPr>
        <p:spPr>
          <a:xfrm>
            <a:off x="6431278" y="6641866"/>
            <a:ext cx="5322917" cy="216133"/>
          </a:xfrm>
          <a:prstGeom prst="rect">
            <a:avLst/>
          </a:prstGeom>
          <a:solidFill>
            <a:srgbClr val="00808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0" cap="small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Institute of Technology</a:t>
            </a:r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3"/>
          <p:cNvSpPr txBox="1"/>
          <p:nvPr userDrawn="1"/>
        </p:nvSpPr>
        <p:spPr>
          <a:xfrm>
            <a:off x="11754196" y="6641865"/>
            <a:ext cx="437803" cy="216133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AC095C-C545-42F9-B93D-2B3224753C51}" type="slidenum">
              <a:rPr lang="en-US" sz="1600" b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en-IN" sz="1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ate Placeholder 3"/>
          <p:cNvSpPr txBox="1"/>
          <p:nvPr userDrawn="1"/>
        </p:nvSpPr>
        <p:spPr>
          <a:xfrm>
            <a:off x="0" y="0"/>
            <a:ext cx="12185071" cy="283591"/>
          </a:xfrm>
          <a:prstGeom prst="rect">
            <a:avLst/>
          </a:prstGeom>
          <a:solidFill>
            <a:srgbClr val="006666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Sign Recognition with Open-Set Rejection and Temporal Consensus    </a:t>
            </a:r>
            <a:endParaRPr lang="en-IN" sz="1500" b="1" i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0" y="5956065"/>
            <a:ext cx="685800" cy="685800"/>
          </a:xfrm>
          <a:prstGeom prst="rect">
            <a:avLst/>
          </a:prstGeom>
        </p:spPr>
      </p:pic>
      <p:sp>
        <p:nvSpPr>
          <p:cNvPr id="10" name="Date Placeholder 3"/>
          <p:cNvSpPr txBox="1"/>
          <p:nvPr userDrawn="1"/>
        </p:nvSpPr>
        <p:spPr>
          <a:xfrm>
            <a:off x="0" y="6642828"/>
            <a:ext cx="777239" cy="21517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0" cap="small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B-3</a:t>
            </a:r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582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7240" y="6642420"/>
            <a:ext cx="5654040" cy="215265"/>
          </a:xfrm>
          <a:custGeom>
            <a:avLst/>
            <a:gdLst/>
            <a:ahLst/>
            <a:cxnLst/>
            <a:rect l="l" t="t" r="r" b="b"/>
            <a:pathLst>
              <a:path w="5654040" h="215265">
                <a:moveTo>
                  <a:pt x="5654040" y="0"/>
                </a:moveTo>
                <a:lnTo>
                  <a:pt x="0" y="0"/>
                </a:lnTo>
                <a:lnTo>
                  <a:pt x="0" y="215176"/>
                </a:lnTo>
                <a:lnTo>
                  <a:pt x="5654040" y="215176"/>
                </a:lnTo>
                <a:lnTo>
                  <a:pt x="565404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279" y="6641468"/>
            <a:ext cx="5323205" cy="216535"/>
          </a:xfrm>
          <a:custGeom>
            <a:avLst/>
            <a:gdLst/>
            <a:ahLst/>
            <a:cxnLst/>
            <a:rect l="l" t="t" r="r" b="b"/>
            <a:pathLst>
              <a:path w="5323205" h="216534">
                <a:moveTo>
                  <a:pt x="5322951" y="0"/>
                </a:moveTo>
                <a:lnTo>
                  <a:pt x="0" y="0"/>
                </a:lnTo>
                <a:lnTo>
                  <a:pt x="0" y="216128"/>
                </a:lnTo>
                <a:lnTo>
                  <a:pt x="5322951" y="216128"/>
                </a:lnTo>
                <a:lnTo>
                  <a:pt x="5322951" y="0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754231" y="6641466"/>
            <a:ext cx="438150" cy="216535"/>
          </a:xfrm>
          <a:custGeom>
            <a:avLst/>
            <a:gdLst/>
            <a:ahLst/>
            <a:cxnLst/>
            <a:rect l="l" t="t" r="r" b="b"/>
            <a:pathLst>
              <a:path w="438150" h="216534">
                <a:moveTo>
                  <a:pt x="437807" y="0"/>
                </a:moveTo>
                <a:lnTo>
                  <a:pt x="0" y="0"/>
                </a:lnTo>
                <a:lnTo>
                  <a:pt x="0" y="216128"/>
                </a:lnTo>
                <a:lnTo>
                  <a:pt x="437807" y="216128"/>
                </a:lnTo>
                <a:lnTo>
                  <a:pt x="43780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06200" y="5955665"/>
            <a:ext cx="685800" cy="677481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420"/>
            <a:ext cx="777240" cy="215265"/>
          </a:xfrm>
          <a:custGeom>
            <a:avLst/>
            <a:gdLst/>
            <a:ahLst/>
            <a:cxnLst/>
            <a:rect l="l" t="t" r="r" b="b"/>
            <a:pathLst>
              <a:path w="777240" h="215265">
                <a:moveTo>
                  <a:pt x="777240" y="0"/>
                </a:moveTo>
                <a:lnTo>
                  <a:pt x="0" y="0"/>
                </a:lnTo>
                <a:lnTo>
                  <a:pt x="0" y="215176"/>
                </a:lnTo>
                <a:lnTo>
                  <a:pt x="777240" y="215176"/>
                </a:lnTo>
                <a:lnTo>
                  <a:pt x="777240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6652" y="179273"/>
            <a:ext cx="2005330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692" y="1402460"/>
            <a:ext cx="11471275" cy="2455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39700" y="6632840"/>
            <a:ext cx="383540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IN"/>
              <a:t>B- 3</a:t>
            </a:r>
            <a:endParaRPr spc="-5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136700" y="6632840"/>
            <a:ext cx="4885055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55"/>
              </a:lnSpc>
            </a:pPr>
            <a:r>
              <a:rPr lang="en-US" cap="small" spc="-100"/>
              <a:t>Dept. of Computer Science and Engineering (Data Science)</a:t>
            </a:r>
            <a:endParaRPr cap="small" spc="-114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36907" y="6635888"/>
            <a:ext cx="252095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76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q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s://github.com/srivaishnavi26/Traffic-sign-detection-and-recognition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146" y="1716404"/>
            <a:ext cx="15398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03477" y="1711452"/>
            <a:ext cx="2570606" cy="7720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Satheesh Reddy J</a:t>
            </a:r>
          </a:p>
          <a:p>
            <a:pPr>
              <a:spcBef>
                <a:spcPts val="300"/>
              </a:spcBef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1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No. 234G5A3208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0335" y="1255902"/>
            <a:ext cx="215265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16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61735" y="1716404"/>
            <a:ext cx="2357755" cy="58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Sri Vaishnavi B</a:t>
            </a:r>
          </a:p>
          <a:p>
            <a:pPr>
              <a:spcBef>
                <a:spcPts val="300"/>
              </a:spcBef>
            </a:pPr>
            <a:r>
              <a:rPr lang="en-US" sz="1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Roll No. 234G5A3214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10600" y="1716404"/>
            <a:ext cx="2570607" cy="7720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Sandhya S</a:t>
            </a:r>
          </a:p>
          <a:p>
            <a:pPr>
              <a:spcBef>
                <a:spcPts val="300"/>
              </a:spcBef>
            </a:pPr>
            <a:r>
              <a:rPr lang="en-US" sz="1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Roll No. 224G1A3284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0829" y="2610184"/>
            <a:ext cx="4209542" cy="10990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>
              <a:spcBef>
                <a:spcPts val="300"/>
              </a:spcBef>
            </a:pPr>
            <a:r>
              <a:rPr lang="en-US" b="0" spc="-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US" b="0" spc="-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</a:t>
            </a:r>
            <a:r>
              <a:rPr lang="en-US" b="0" spc="-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Hemanth</a:t>
            </a:r>
            <a:r>
              <a:rPr lang="en-US" b="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r>
              <a:rPr lang="en-US" b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Yadav</a:t>
            </a:r>
            <a:r>
              <a:rPr lang="en-US" b="0" spc="-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</a:t>
            </a:r>
            <a:r>
              <a:rPr lang="en-US" b="0" spc="-75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Tech,</a:t>
            </a:r>
            <a:r>
              <a:rPr lang="en-US" b="0" spc="-7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spc="-25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  <a:endParaRPr lang="en-US" b="0" baseline="-25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Associate Professor</a:t>
            </a:r>
          </a:p>
          <a:p>
            <a:pPr marL="275590" algn="ctr">
              <a:lnSpc>
                <a:spcPts val="1350"/>
              </a:lnSpc>
              <a:spcBef>
                <a:spcPts val="90"/>
              </a:spcBef>
            </a:pPr>
            <a:endParaRPr lang="fr-FR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02472" y="5173520"/>
            <a:ext cx="8187055" cy="1450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460"/>
              </a:lnSpc>
              <a:spcBef>
                <a:spcPts val="100"/>
              </a:spcBef>
            </a:pP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3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3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23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z="23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3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sz="23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</a:t>
            </a:r>
            <a:r>
              <a:rPr sz="23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Science)</a:t>
            </a:r>
            <a:endParaRPr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3879"/>
              </a:lnSpc>
            </a:pPr>
            <a:r>
              <a:rPr sz="35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</a:t>
            </a:r>
            <a:r>
              <a:rPr sz="3550" spc="-7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Ramanujan</a:t>
            </a:r>
            <a:r>
              <a:rPr sz="3550" spc="-6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Institute</a:t>
            </a:r>
            <a:r>
              <a:rPr sz="3550" spc="-7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550" spc="-1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5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endParaRPr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" algn="ctr">
              <a:lnSpc>
                <a:spcPts val="1245"/>
              </a:lnSpc>
            </a:pPr>
            <a:r>
              <a:rPr sz="115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(Affiliated</a:t>
            </a:r>
            <a:r>
              <a:rPr sz="115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5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JNTUA</a:t>
            </a:r>
            <a:r>
              <a:rPr sz="115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5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150"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Approved</a:t>
            </a:r>
            <a:r>
              <a:rPr sz="115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15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AICTE)</a:t>
            </a:r>
            <a:r>
              <a:rPr sz="115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5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(Accredited </a:t>
            </a:r>
            <a:r>
              <a:rPr sz="1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15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NAAC</a:t>
            </a:r>
            <a:r>
              <a:rPr sz="115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</a:t>
            </a:r>
            <a:r>
              <a:rPr sz="115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5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‘A’</a:t>
            </a:r>
            <a:r>
              <a:rPr sz="1150"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</a:t>
            </a:r>
            <a:r>
              <a:rPr sz="115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5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15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5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Accredited </a:t>
            </a:r>
            <a:r>
              <a:rPr sz="1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15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NBA</a:t>
            </a:r>
            <a:r>
              <a:rPr sz="115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(EEE,</a:t>
            </a:r>
            <a:r>
              <a:rPr sz="115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ECE</a:t>
            </a:r>
            <a:r>
              <a:rPr sz="115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15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CSE)</a:t>
            </a:r>
            <a:endParaRPr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" algn="ctr">
              <a:lnSpc>
                <a:spcPts val="1445"/>
              </a:lnSpc>
            </a:pPr>
            <a:r>
              <a:rPr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Rotarypuram</a:t>
            </a:r>
            <a:r>
              <a:rPr sz="125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Village,</a:t>
            </a:r>
            <a:r>
              <a:rPr sz="125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25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125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Samudram</a:t>
            </a:r>
            <a:r>
              <a:rPr sz="125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5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Mandal,</a:t>
            </a:r>
            <a:r>
              <a:rPr sz="125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Ananthapuramu</a:t>
            </a:r>
            <a:r>
              <a:rPr sz="125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125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5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515701.</a:t>
            </a:r>
            <a:endParaRPr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1350" b="1" dirty="0">
                <a:solidFill>
                  <a:srgbClr val="1E4E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2025 -</a:t>
            </a:r>
            <a:r>
              <a:rPr sz="1350" b="1" spc="15" dirty="0">
                <a:solidFill>
                  <a:srgbClr val="1E4E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1" spc="-20" dirty="0">
                <a:solidFill>
                  <a:srgbClr val="1E4E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08507" y="307772"/>
            <a:ext cx="10621645" cy="951230"/>
            <a:chOff x="708507" y="307772"/>
            <a:chExt cx="10621645" cy="95123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507" y="307772"/>
              <a:ext cx="10621188" cy="9510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55015" y="335279"/>
              <a:ext cx="10528300" cy="857885"/>
            </a:xfrm>
            <a:custGeom>
              <a:avLst/>
              <a:gdLst/>
              <a:ahLst/>
              <a:cxnLst/>
              <a:rect l="l" t="t" r="r" b="b"/>
              <a:pathLst>
                <a:path w="10528300" h="857885">
                  <a:moveTo>
                    <a:pt x="10385170" y="0"/>
                  </a:moveTo>
                  <a:lnTo>
                    <a:pt x="142976" y="0"/>
                  </a:lnTo>
                  <a:lnTo>
                    <a:pt x="97790" y="7239"/>
                  </a:lnTo>
                  <a:lnTo>
                    <a:pt x="58534" y="27559"/>
                  </a:lnTo>
                  <a:lnTo>
                    <a:pt x="27584" y="58547"/>
                  </a:lnTo>
                  <a:lnTo>
                    <a:pt x="7289" y="97790"/>
                  </a:lnTo>
                  <a:lnTo>
                    <a:pt x="0" y="143002"/>
                  </a:lnTo>
                  <a:lnTo>
                    <a:pt x="0" y="714883"/>
                  </a:lnTo>
                  <a:lnTo>
                    <a:pt x="7289" y="760095"/>
                  </a:lnTo>
                  <a:lnTo>
                    <a:pt x="27584" y="799338"/>
                  </a:lnTo>
                  <a:lnTo>
                    <a:pt x="58534" y="830199"/>
                  </a:lnTo>
                  <a:lnTo>
                    <a:pt x="97790" y="850519"/>
                  </a:lnTo>
                  <a:lnTo>
                    <a:pt x="142976" y="857885"/>
                  </a:lnTo>
                  <a:lnTo>
                    <a:pt x="10385170" y="857885"/>
                  </a:lnTo>
                  <a:lnTo>
                    <a:pt x="10430383" y="850519"/>
                  </a:lnTo>
                  <a:lnTo>
                    <a:pt x="10469626" y="830199"/>
                  </a:lnTo>
                  <a:lnTo>
                    <a:pt x="10500614" y="799338"/>
                  </a:lnTo>
                  <a:lnTo>
                    <a:pt x="10520934" y="760095"/>
                  </a:lnTo>
                  <a:lnTo>
                    <a:pt x="10528173" y="714883"/>
                  </a:lnTo>
                  <a:lnTo>
                    <a:pt x="10528173" y="143002"/>
                  </a:lnTo>
                  <a:lnTo>
                    <a:pt x="10517251" y="88265"/>
                  </a:lnTo>
                  <a:lnTo>
                    <a:pt x="10486263" y="41910"/>
                  </a:lnTo>
                  <a:lnTo>
                    <a:pt x="10439908" y="10795"/>
                  </a:lnTo>
                  <a:lnTo>
                    <a:pt x="1038517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77240" y="335280"/>
            <a:ext cx="10403967" cy="113492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spcBef>
                <a:spcPts val="110"/>
              </a:spcBef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Sign Recognition with Open-Set Rejection and Temporal Consensus</a:t>
            </a:r>
            <a:endParaRPr lang="en-IN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>
              <a:lnSpc>
                <a:spcPct val="100000"/>
              </a:lnSpc>
              <a:spcBef>
                <a:spcPts val="110"/>
              </a:spcBef>
            </a:pPr>
            <a:endParaRPr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6634474"/>
            <a:ext cx="12192635" cy="223520"/>
            <a:chOff x="0" y="6634474"/>
            <a:chExt cx="12192635" cy="223520"/>
          </a:xfrm>
        </p:grpSpPr>
        <p:sp>
          <p:nvSpPr>
            <p:cNvPr id="14" name="object 14"/>
            <p:cNvSpPr/>
            <p:nvPr/>
          </p:nvSpPr>
          <p:spPr>
            <a:xfrm>
              <a:off x="777240" y="6634476"/>
              <a:ext cx="5782310" cy="220979"/>
            </a:xfrm>
            <a:custGeom>
              <a:avLst/>
              <a:gdLst/>
              <a:ahLst/>
              <a:cxnLst/>
              <a:rect l="l" t="t" r="r" b="b"/>
              <a:pathLst>
                <a:path w="5782309" h="220979">
                  <a:moveTo>
                    <a:pt x="5781802" y="0"/>
                  </a:moveTo>
                  <a:lnTo>
                    <a:pt x="0" y="0"/>
                  </a:lnTo>
                  <a:lnTo>
                    <a:pt x="0" y="220980"/>
                  </a:lnTo>
                  <a:lnTo>
                    <a:pt x="5781802" y="220980"/>
                  </a:lnTo>
                  <a:lnTo>
                    <a:pt x="5781802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6559042" y="6634476"/>
              <a:ext cx="5195570" cy="220979"/>
            </a:xfrm>
            <a:custGeom>
              <a:avLst/>
              <a:gdLst/>
              <a:ahLst/>
              <a:cxnLst/>
              <a:rect l="l" t="t" r="r" b="b"/>
              <a:pathLst>
                <a:path w="5195570" h="220979">
                  <a:moveTo>
                    <a:pt x="5195188" y="0"/>
                  </a:moveTo>
                  <a:lnTo>
                    <a:pt x="0" y="0"/>
                  </a:lnTo>
                  <a:lnTo>
                    <a:pt x="0" y="220980"/>
                  </a:lnTo>
                  <a:lnTo>
                    <a:pt x="5195188" y="220980"/>
                  </a:lnTo>
                  <a:lnTo>
                    <a:pt x="5195188" y="0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11754231" y="6636924"/>
              <a:ext cx="438150" cy="220979"/>
            </a:xfrm>
            <a:custGeom>
              <a:avLst/>
              <a:gdLst/>
              <a:ahLst/>
              <a:cxnLst/>
              <a:rect l="l" t="t" r="r" b="b"/>
              <a:pathLst>
                <a:path w="438150" h="220979">
                  <a:moveTo>
                    <a:pt x="437807" y="0"/>
                  </a:moveTo>
                  <a:lnTo>
                    <a:pt x="0" y="0"/>
                  </a:lnTo>
                  <a:lnTo>
                    <a:pt x="0" y="220980"/>
                  </a:lnTo>
                  <a:lnTo>
                    <a:pt x="437807" y="220980"/>
                  </a:lnTo>
                  <a:lnTo>
                    <a:pt x="43780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634474"/>
              <a:ext cx="777240" cy="221615"/>
            </a:xfrm>
            <a:custGeom>
              <a:avLst/>
              <a:gdLst/>
              <a:ahLst/>
              <a:cxnLst/>
              <a:rect l="l" t="t" r="r" b="b"/>
              <a:pathLst>
                <a:path w="777240" h="221615">
                  <a:moveTo>
                    <a:pt x="777240" y="0"/>
                  </a:moveTo>
                  <a:lnTo>
                    <a:pt x="0" y="0"/>
                  </a:lnTo>
                  <a:lnTo>
                    <a:pt x="0" y="221526"/>
                  </a:lnTo>
                  <a:lnTo>
                    <a:pt x="777240" y="221526"/>
                  </a:lnTo>
                  <a:lnTo>
                    <a:pt x="777240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object 18"/>
          <p:cNvSpPr/>
          <p:nvPr/>
        </p:nvSpPr>
        <p:spPr>
          <a:xfrm>
            <a:off x="0" y="38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2000" y="0"/>
                </a:moveTo>
                <a:lnTo>
                  <a:pt x="0" y="0"/>
                </a:lnTo>
                <a:lnTo>
                  <a:pt x="0" y="232752"/>
                </a:lnTo>
                <a:lnTo>
                  <a:pt x="12192000" y="23275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83580" y="3460750"/>
            <a:ext cx="1844039" cy="1685798"/>
          </a:xfrm>
          <a:prstGeom prst="rect">
            <a:avLst/>
          </a:prstGeom>
        </p:spPr>
      </p:pic>
      <p:sp>
        <p:nvSpPr>
          <p:cNvPr id="20" name="Subtitle 11">
            <a:extLst>
              <a:ext uri="{FF2B5EF4-FFF2-40B4-BE49-F238E27FC236}">
                <a16:creationId xmlns:a16="http://schemas.microsoft.com/office/drawing/2014/main" id="{3DEDD702-B82E-2590-D052-742BC81AF792}"/>
              </a:ext>
            </a:extLst>
          </p:cNvPr>
          <p:cNvSpPr txBox="1"/>
          <p:nvPr/>
        </p:nvSpPr>
        <p:spPr>
          <a:xfrm>
            <a:off x="838200" y="1828800"/>
            <a:ext cx="1996821" cy="5387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Adarsh B</a:t>
            </a:r>
          </a:p>
          <a:p>
            <a:pPr>
              <a:spcBef>
                <a:spcPts val="300"/>
              </a:spcBef>
            </a:pPr>
            <a:r>
              <a:rPr lang="en-US" sz="1200" b="0" dirty="0"/>
              <a:t>Roll No. 234G5A3201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90D98245-4638-FE3F-67B5-A9D282C8437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855"/>
              </a:lnSpc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B- 3</a:t>
            </a:r>
            <a:endParaRPr lang="en-IN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15368DD8-0B3C-333E-FFA3-B31464362C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855"/>
              </a:lnSpc>
            </a:pPr>
            <a:fld id="{81D60167-4931-47E6-BA6A-407CBD079E47}" type="slidenum">
              <a:rPr lang="en-IN" spc="-25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IN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C66B1425-267B-43FE-84BC-0D99A9611F6F}"/>
              </a:ext>
            </a:extLst>
          </p:cNvPr>
          <p:cNvSpPr txBox="1"/>
          <p:nvPr/>
        </p:nvSpPr>
        <p:spPr>
          <a:xfrm>
            <a:off x="1068641" y="6640634"/>
            <a:ext cx="5106035" cy="2247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>
              <a:lnSpc>
                <a:spcPts val="1765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Dept.</a:t>
            </a:r>
            <a:r>
              <a:rPr lang="en-US" sz="1600" cap="small" spc="-13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cap="small" spc="4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1600" cap="small" spc="5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sz="1600" cap="small" spc="4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</a:t>
            </a:r>
            <a:r>
              <a:rPr lang="en-US" sz="1600" cap="small" spc="11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Science)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14">
            <a:extLst>
              <a:ext uri="{FF2B5EF4-FFF2-40B4-BE49-F238E27FC236}">
                <a16:creationId xmlns:a16="http://schemas.microsoft.com/office/drawing/2014/main" id="{491BF2DC-DDC6-4730-B25D-236901026C07}"/>
              </a:ext>
            </a:extLst>
          </p:cNvPr>
          <p:cNvSpPr txBox="1"/>
          <p:nvPr/>
        </p:nvSpPr>
        <p:spPr>
          <a:xfrm>
            <a:off x="7162800" y="6614306"/>
            <a:ext cx="4599941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600" cap="small" spc="-114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</a:t>
            </a:r>
            <a:r>
              <a:rPr sz="1600" cap="small" spc="6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Ramanujan</a:t>
            </a:r>
            <a:r>
              <a:rPr sz="1600" cap="small" spc="6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cap="small" spc="-114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cap="small" spc="-7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00" cap="small" spc="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cap="small" spc="-18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E034A-17B4-237F-C3CC-7FE934C03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7465A-92D3-DAD2-CC3B-C649C7838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Abstract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Problem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Introduction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Objectives of 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Literature survey for 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Existing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Proposed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Planning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dirty="0"/>
              <a:t>Requirements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dirty="0"/>
              <a:t>UML Diagrams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dirty="0"/>
              <a:t>Data Flow Diagram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n-US" dirty="0"/>
              <a:t>Sample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Screenshots (Project Output)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References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GitHub Link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8742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A817B-D237-E654-E6DB-9B120D4ED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0"/>
            <a:ext cx="12198928" cy="762000"/>
          </a:xfrm>
        </p:spPr>
        <p:txBody>
          <a:bodyPr/>
          <a:lstStyle/>
          <a:p>
            <a:r>
              <a:rPr lang="en-IN" dirty="0"/>
              <a:t>Review-0 Remarks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D5D1E-7D12-A50C-5FF4-4421F6822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4400" dirty="0"/>
              <a:t>Review-0  Comments:</a:t>
            </a:r>
          </a:p>
          <a:p>
            <a:r>
              <a:rPr lang="en-IN" sz="3000" dirty="0"/>
              <a:t>Project steps clarity</a:t>
            </a:r>
          </a:p>
          <a:p>
            <a:r>
              <a:rPr lang="en-IN" sz="3000" dirty="0"/>
              <a:t>Clear project approach</a:t>
            </a:r>
          </a:p>
          <a:p>
            <a:r>
              <a:rPr lang="en-IN" sz="3000" dirty="0"/>
              <a:t>Explain existing systems</a:t>
            </a:r>
          </a:p>
          <a:p>
            <a:r>
              <a:rPr lang="en-IN" sz="3000" dirty="0"/>
              <a:t>Comparison between existing &amp; proposed system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sz="4400" dirty="0"/>
              <a:t>Action Taken:</a:t>
            </a:r>
          </a:p>
          <a:p>
            <a:r>
              <a:rPr lang="en-IN" sz="3000" dirty="0"/>
              <a:t>Clearly defined pipeline stages</a:t>
            </a:r>
          </a:p>
          <a:p>
            <a:r>
              <a:rPr lang="en-IN" sz="3000" dirty="0"/>
              <a:t>Added existing vs proposed comparison</a:t>
            </a:r>
          </a:p>
          <a:p>
            <a:r>
              <a:rPr lang="en-IN" sz="3000" dirty="0"/>
              <a:t>Detailed implementation workflow</a:t>
            </a:r>
          </a:p>
          <a:p>
            <a:r>
              <a:rPr lang="en-IN" sz="3000" dirty="0"/>
              <a:t>Quantitative evaluation metrics included</a:t>
            </a:r>
          </a:p>
        </p:txBody>
      </p:sp>
    </p:spTree>
    <p:extLst>
      <p:ext uri="{BB962C8B-B14F-4D97-AF65-F5344CB8AC3E}">
        <p14:creationId xmlns:p14="http://schemas.microsoft.com/office/powerpoint/2010/main" val="177306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98F50-9C0D-7AC9-302D-2E4D82DB2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Review-1 Remarks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C212F-83A2-ADA3-4B41-5D378AE3E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995" y="947651"/>
            <a:ext cx="11916295" cy="554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 </a:t>
            </a:r>
            <a:r>
              <a:rPr lang="en-IN" sz="4100" dirty="0"/>
              <a:t>Review-1 Comments:</a:t>
            </a:r>
            <a:endParaRPr lang="en-US" sz="4100" dirty="0"/>
          </a:p>
          <a:p>
            <a:r>
              <a:rPr lang="en-US" dirty="0"/>
              <a:t>Team roles and responsibilities need clearer definition.</a:t>
            </a:r>
          </a:p>
          <a:p>
            <a:r>
              <a:rPr lang="en-US" dirty="0"/>
              <a:t>Individual workflows should align clearly with project modules.</a:t>
            </a:r>
          </a:p>
          <a:p>
            <a:r>
              <a:rPr lang="en-US" dirty="0"/>
              <a:t>Preliminary research paper draft required.</a:t>
            </a:r>
          </a:p>
          <a:p>
            <a:pPr marL="0" indent="0">
              <a:buNone/>
            </a:pPr>
            <a:endParaRPr lang="en-US" dirty="0"/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IN" sz="4100" dirty="0">
                <a:solidFill>
                  <a:prstClr val="black"/>
                </a:solidFill>
              </a:rPr>
              <a:t> </a:t>
            </a:r>
            <a:r>
              <a:rPr kumimoji="0" lang="en-IN" sz="4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Action Taken:</a:t>
            </a:r>
            <a:endParaRPr lang="en-US" dirty="0"/>
          </a:p>
          <a:p>
            <a:r>
              <a:rPr lang="en-US" dirty="0"/>
              <a:t>Explicitly assigned roles and responsibilities to each team member. </a:t>
            </a:r>
          </a:p>
          <a:p>
            <a:r>
              <a:rPr lang="en-US" dirty="0"/>
              <a:t>Mapped individual workflows to corresponding system modules.</a:t>
            </a:r>
          </a:p>
          <a:p>
            <a:r>
              <a:rPr lang="en-US" dirty="0"/>
              <a:t>Prepared and submitted an initial research paper draft covering abstract, methodology, and early results.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6183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38DE5-F869-1CC3-DE02-36A73E756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73EC5-D152-8F74-67DA-991BCCB28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52400" y="1143000"/>
            <a:ext cx="11779135" cy="5394960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IN" sz="2800" dirty="0"/>
              <a:t>Traffic sign recognition in real-world driving videos is challenging due to tiny sign sizes, occlusions, motion blur, and visually similar non-traffic objects.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800" dirty="0"/>
              <a:t>This project presents a real-time Traffic Sign Recognition (TSR) pipeline that integrates a lightweight YOLO-based detector with a fine-grained Res Net-based classifier.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800" dirty="0"/>
              <a:t>To handle unknown objects, an open-set rejection mechanism using confidence thresholds is applied.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800" dirty="0"/>
              <a:t>Temporal consensus across video frames stabilizes predictions and reduces flickering.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800" dirty="0"/>
              <a:t>The system is evaluated using classification metrics and open-set AUROC, demonstrating robust and reliable performance suitable for intelligent transportation system</a:t>
            </a:r>
          </a:p>
        </p:txBody>
      </p:sp>
    </p:spTree>
    <p:extLst>
      <p:ext uri="{BB962C8B-B14F-4D97-AF65-F5344CB8AC3E}">
        <p14:creationId xmlns:p14="http://schemas.microsoft.com/office/powerpoint/2010/main" val="2179377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6E0E-AD30-DC0E-BBF2-9A4B71EA2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51865-F6F6-6352-D706-BAC272FC6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100" dirty="0"/>
              <a:t>Objectives in existing systems </a:t>
            </a:r>
          </a:p>
          <a:p>
            <a:r>
              <a:rPr lang="en-US" dirty="0"/>
              <a:t>Existing TSR systems assume closed-set Recognition</a:t>
            </a:r>
          </a:p>
          <a:p>
            <a:r>
              <a:rPr lang="en-US" dirty="0"/>
              <a:t>High false positives due to sign-like objects</a:t>
            </a:r>
          </a:p>
          <a:p>
            <a:r>
              <a:rPr lang="en-US" dirty="0"/>
              <a:t>Frame-wise prediction causes unstable labels</a:t>
            </a:r>
          </a:p>
          <a:p>
            <a:r>
              <a:rPr lang="en-US" dirty="0"/>
              <a:t>Real-time performance is difficult with heavy models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4100" dirty="0"/>
              <a:t>Problem:</a:t>
            </a:r>
          </a:p>
          <a:p>
            <a:r>
              <a:rPr lang="en-US" dirty="0"/>
              <a:t>Design a real-time TSR system that is accurate, stable, and robust to unknown objects in video streams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603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228447"/>
            <a:ext cx="12191998" cy="7794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9352" y="252741"/>
            <a:ext cx="2747645" cy="618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95"/>
              </a:lnSpc>
            </a:pPr>
            <a:r>
              <a:rPr sz="4400" spc="-20" dirty="0">
                <a:solidFill>
                  <a:srgbClr val="FFFFFF"/>
                </a:solidFill>
                <a:latin typeface="Times New Roman"/>
                <a:cs typeface="Times New Roman"/>
              </a:rPr>
              <a:t>Introduction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7139" y="11493"/>
            <a:ext cx="8264525" cy="213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0"/>
              </a:lnSpc>
            </a:pP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Transparency</a:t>
            </a:r>
            <a:r>
              <a:rPr sz="1500" b="1" i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500" b="1" i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privacy</a:t>
            </a:r>
            <a:r>
              <a:rPr sz="1500" b="1" i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500" b="1" i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Role</a:t>
            </a:r>
            <a:r>
              <a:rPr sz="1500" b="1" i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500" b="1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Explainable</a:t>
            </a:r>
            <a:r>
              <a:rPr sz="1500" b="1" i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sz="1500" b="1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&amp;Federated</a:t>
            </a: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sz="1500" b="1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500" b="1" i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Financial</a:t>
            </a:r>
            <a:r>
              <a:rPr sz="1500" b="1" i="1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500" b="1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8"/>
            <a:ext cx="12192000" cy="1020025"/>
            <a:chOff x="0" y="38"/>
            <a:chExt cx="12192000" cy="1020025"/>
          </a:xfrm>
        </p:grpSpPr>
        <p:sp>
          <p:nvSpPr>
            <p:cNvPr id="7" name="object 7"/>
            <p:cNvSpPr/>
            <p:nvPr/>
          </p:nvSpPr>
          <p:spPr>
            <a:xfrm>
              <a:off x="0" y="38"/>
              <a:ext cx="12192000" cy="233045"/>
            </a:xfrm>
            <a:custGeom>
              <a:avLst/>
              <a:gdLst/>
              <a:ahLst/>
              <a:cxnLst/>
              <a:rect l="l" t="t" r="r" b="b"/>
              <a:pathLst>
                <a:path w="12192000" h="233045">
                  <a:moveTo>
                    <a:pt x="12192000" y="0"/>
                  </a:moveTo>
                  <a:lnTo>
                    <a:pt x="0" y="0"/>
                  </a:lnTo>
                  <a:lnTo>
                    <a:pt x="0" y="232752"/>
                  </a:lnTo>
                  <a:lnTo>
                    <a:pt x="12192000" y="23275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" y="216268"/>
              <a:ext cx="12191998" cy="80379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232778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2000" y="0"/>
                  </a:moveTo>
                  <a:lnTo>
                    <a:pt x="0" y="0"/>
                  </a:lnTo>
                  <a:lnTo>
                    <a:pt x="0" y="714895"/>
                  </a:lnTo>
                  <a:lnTo>
                    <a:pt x="12192000" y="71489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76276" y="194513"/>
            <a:ext cx="278574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26833D-6BCA-2E3C-8306-613391C5F602}"/>
              </a:ext>
            </a:extLst>
          </p:cNvPr>
          <p:cNvSpPr txBox="1"/>
          <p:nvPr/>
        </p:nvSpPr>
        <p:spPr>
          <a:xfrm>
            <a:off x="197485" y="1122578"/>
            <a:ext cx="11797029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Sign Recognition is a critical component of Advanced Driver Assistance Systems (ADAS).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and stable recognition ensures driver safety and supports autonomous navigation.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focuses on real-world deployment challenges such as unknown objects and video instability.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approach improves reliability by combining detection, classification, and temporal consistency across video frames.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12">
            <a:extLst>
              <a:ext uri="{FF2B5EF4-FFF2-40B4-BE49-F238E27FC236}">
                <a16:creationId xmlns:a16="http://schemas.microsoft.com/office/drawing/2014/main" id="{8BABB297-03A8-ADC3-C04D-8BE44C61939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76276" y="6623460"/>
            <a:ext cx="585724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lang="en-IN"/>
              <a:t>B- 3</a:t>
            </a:r>
            <a:endParaRPr spc="-50" dirty="0"/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7629F593-C9D7-8E11-70CF-4C55A45906B2}"/>
              </a:ext>
            </a:extLst>
          </p:cNvPr>
          <p:cNvSpPr txBox="1"/>
          <p:nvPr/>
        </p:nvSpPr>
        <p:spPr>
          <a:xfrm>
            <a:off x="7162800" y="6614306"/>
            <a:ext cx="4599941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7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8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9" name="object 12">
            <a:extLst>
              <a:ext uri="{FF2B5EF4-FFF2-40B4-BE49-F238E27FC236}">
                <a16:creationId xmlns:a16="http://schemas.microsoft.com/office/drawing/2014/main" id="{1D72D310-C8BB-7179-1E05-AD66C205108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812267" y="6613329"/>
            <a:ext cx="25209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algn="ctr">
              <a:lnSpc>
                <a:spcPts val="1855"/>
              </a:lnSpc>
            </a:pPr>
            <a:fld id="{81D60167-4931-47E6-BA6A-407CBD079E47}" type="slidenum">
              <a:rPr spc="-25" dirty="0"/>
              <a:pPr marL="38100" algn="ctr">
                <a:lnSpc>
                  <a:spcPts val="1855"/>
                </a:lnSpc>
              </a:pPr>
              <a:t>7</a:t>
            </a:fld>
            <a:endParaRPr spc="-25" dirty="0"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CEAE5A10-3E8C-4C95-9D02-F9D02F94138D}"/>
              </a:ext>
            </a:extLst>
          </p:cNvPr>
          <p:cNvSpPr txBox="1"/>
          <p:nvPr/>
        </p:nvSpPr>
        <p:spPr>
          <a:xfrm>
            <a:off x="-88137" y="0"/>
            <a:ext cx="12191998" cy="76367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algn="ctr">
              <a:spcBef>
                <a:spcPts val="110"/>
              </a:spcBef>
            </a:pP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Sign Recognition with Open-Set Rejection and Temporal Consensus</a:t>
            </a:r>
          </a:p>
          <a:p>
            <a:pPr marL="12700" algn="ctr">
              <a:lnSpc>
                <a:spcPct val="100000"/>
              </a:lnSpc>
              <a:spcBef>
                <a:spcPts val="110"/>
              </a:spcBef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>
              <a:lnSpc>
                <a:spcPct val="100000"/>
              </a:lnSpc>
              <a:spcBef>
                <a:spcPts val="115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283BF880-0A1F-401B-A40A-5F2BC81DEE94}"/>
              </a:ext>
            </a:extLst>
          </p:cNvPr>
          <p:cNvSpPr txBox="1"/>
          <p:nvPr/>
        </p:nvSpPr>
        <p:spPr>
          <a:xfrm>
            <a:off x="1068641" y="6640634"/>
            <a:ext cx="5106035" cy="2247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>
              <a:lnSpc>
                <a:spcPts val="1765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Dept.</a:t>
            </a:r>
            <a:r>
              <a:rPr lang="en-US" sz="1600" cap="small" spc="-13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cap="small" spc="4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1600" cap="small" spc="5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sz="1600" cap="small" spc="4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</a:t>
            </a:r>
            <a:r>
              <a:rPr lang="en-US" sz="1600" cap="small" spc="11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Science)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7CA94-9DDE-1E08-2E7B-901DFF38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of the Project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4926E-FC0F-B0A7-BC96-920FA39F7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617" y="1592580"/>
            <a:ext cx="10156767" cy="367284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 Detect traffic signs accurately in road videos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 Classify detected signs into fine-grained categories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 Reject unknown / non-traffic objects (open-set)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 Stabilize predictions across frames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 Maintain real-time performance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608247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E61E1-8EA3-3515-AD57-74C47897D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 for Objectives defined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696EC-2C1D-ACAE-8B17-918CA46BC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4100" dirty="0"/>
              <a:t>Detection &amp;Classification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 Yi Yang et al. - CNN-based traffic sign recognition (closed-set only)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 Hana B. F. et al. - Haar cascade + CNN (no open-set handling)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b="1" i="1" dirty="0"/>
              <a:t> </a:t>
            </a:r>
            <a:r>
              <a:rPr lang="en-US" sz="2800" i="1" dirty="0"/>
              <a:t>Limitation</a:t>
            </a:r>
            <a:r>
              <a:rPr lang="en-US" sz="2800" dirty="0"/>
              <a:t>: Closed-set assumption and lack of robustness in real-world scenes.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sz="4100" dirty="0"/>
              <a:t>Temporal Stability &amp; Open-Set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 Jiahui Guo et al. - Temporal guided label assignment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 Xingyi  Zhou et al. - Detection + tracking aggregation </a:t>
            </a:r>
          </a:p>
          <a:p>
            <a:pPr lvl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/>
            </a:pPr>
            <a:r>
              <a:rPr lang="en-US" sz="2800" b="1" i="1" dirty="0"/>
              <a:t> </a:t>
            </a:r>
            <a:r>
              <a:rPr lang="en-US" sz="2800" i="1" dirty="0"/>
              <a:t>Limitation</a:t>
            </a:r>
            <a:r>
              <a:rPr lang="en-US" sz="2800" dirty="0"/>
              <a:t>: 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Not designed for tiny traffic signs, no open-set rejection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7368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E5603-3422-D940-D2DC-F99CBB728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100" dirty="0"/>
              <a:t>Existing System: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	Closed-set recognition only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	Misclassifies non-traffic objects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	Poor stability under motion blur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	Limited real-time feasibility</a:t>
            </a:r>
          </a:p>
          <a:p>
            <a:pPr marL="0" indent="0">
              <a:buNone/>
            </a:pPr>
            <a:r>
              <a:rPr lang="en-US" sz="4100" dirty="0"/>
              <a:t>Proposed System:</a:t>
            </a:r>
            <a:endParaRPr lang="en-IN" sz="41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	YOLO-based detection for small traffic signs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	Crop extraction from detected regions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	ResNet18 for sign classification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	Confidence-based open-set rejection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	Temporal consensus using sliding window voting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	End-to-end real-time video pipeline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4E10709-E719-DECB-2620-BBB105005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System &amp;  Proposed System</a:t>
            </a:r>
          </a:p>
        </p:txBody>
      </p:sp>
    </p:spTree>
    <p:extLst>
      <p:ext uri="{BB962C8B-B14F-4D97-AF65-F5344CB8AC3E}">
        <p14:creationId xmlns:p14="http://schemas.microsoft.com/office/powerpoint/2010/main" val="886663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FD081-49A4-7B66-C5CA-43772E398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364BC-0D6F-FF6D-2442-B0A0EEC4C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4100" dirty="0"/>
              <a:t>Phase-wise Plan:</a:t>
            </a:r>
          </a:p>
          <a:p>
            <a:pPr>
              <a:lnSpc>
                <a:spcPct val="150000"/>
              </a:lnSpc>
            </a:pPr>
            <a:r>
              <a:rPr lang="en-IN" dirty="0"/>
              <a:t>Dataset preparation (GTSRB + video crops)</a:t>
            </a:r>
          </a:p>
          <a:p>
            <a:pPr>
              <a:lnSpc>
                <a:spcPct val="150000"/>
              </a:lnSpc>
            </a:pPr>
            <a:r>
              <a:rPr lang="en-IN" dirty="0"/>
              <a:t> YOLO detection</a:t>
            </a:r>
          </a:p>
          <a:p>
            <a:pPr>
              <a:lnSpc>
                <a:spcPct val="150000"/>
              </a:lnSpc>
            </a:pPr>
            <a:r>
              <a:rPr lang="en-IN" dirty="0"/>
              <a:t> Classifier training</a:t>
            </a:r>
          </a:p>
          <a:p>
            <a:pPr>
              <a:lnSpc>
                <a:spcPct val="150000"/>
              </a:lnSpc>
            </a:pPr>
            <a:r>
              <a:rPr lang="en-IN" dirty="0"/>
              <a:t> Open-set rejection</a:t>
            </a:r>
          </a:p>
          <a:p>
            <a:pPr>
              <a:lnSpc>
                <a:spcPct val="150000"/>
              </a:lnSpc>
            </a:pPr>
            <a:r>
              <a:rPr lang="en-IN" dirty="0"/>
              <a:t> Temporal consensus</a:t>
            </a:r>
          </a:p>
          <a:p>
            <a:pPr>
              <a:lnSpc>
                <a:spcPct val="150000"/>
              </a:lnSpc>
            </a:pPr>
            <a:r>
              <a:rPr lang="en-IN" dirty="0"/>
              <a:t> Evaluation &amp; results</a:t>
            </a:r>
          </a:p>
        </p:txBody>
      </p:sp>
    </p:spTree>
    <p:extLst>
      <p:ext uri="{BB962C8B-B14F-4D97-AF65-F5344CB8AC3E}">
        <p14:creationId xmlns:p14="http://schemas.microsoft.com/office/powerpoint/2010/main" val="937531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242C4-8006-96BC-2D74-0AC703EB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Requirements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3B20C-CB35-6925-6A63-643DEED65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30" y="1066800"/>
            <a:ext cx="11779135" cy="53949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4100" dirty="0"/>
              <a:t>System Requirements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Hardware Processor: Intel i5 or equivalent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RAM: 8 GB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Storage: 20 GB free space</a:t>
            </a:r>
            <a:endParaRPr lang="en-IN" sz="2800" dirty="0"/>
          </a:p>
          <a:p>
            <a:pPr marL="0" indent="0">
              <a:buNone/>
            </a:pPr>
            <a:r>
              <a:rPr lang="en-IN" sz="4100" dirty="0"/>
              <a:t>Software: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800" dirty="0"/>
              <a:t>Operating System: Windows 10 / 11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800" dirty="0"/>
              <a:t>IDE: PyCharm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800" dirty="0"/>
              <a:t>Command Line: Ubuntu (WSL)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800" dirty="0"/>
              <a:t>Programming Language: Python 3.8+Libraries: Py Torch, OpenCV</a:t>
            </a:r>
          </a:p>
          <a:p>
            <a:pPr marL="0" indent="0">
              <a:buNone/>
            </a:pPr>
            <a:r>
              <a:rPr lang="en-IN" sz="4100" dirty="0"/>
              <a:t>Runtime: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800" dirty="0"/>
              <a:t>CPU-based execution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800" dirty="0"/>
              <a:t>Offline video processing</a:t>
            </a:r>
          </a:p>
        </p:txBody>
      </p:sp>
    </p:spTree>
    <p:extLst>
      <p:ext uri="{BB962C8B-B14F-4D97-AF65-F5344CB8AC3E}">
        <p14:creationId xmlns:p14="http://schemas.microsoft.com/office/powerpoint/2010/main" val="1826751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E3DCA-6ED8-3E7C-7793-BD80D1B50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UML Diagrams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ABE21C-7346-4DDA-BF36-7F93CE85BB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1245009"/>
            <a:ext cx="12192000" cy="401279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57E0B7-8CE9-AF9E-80F2-A8341807DCA8}"/>
              </a:ext>
            </a:extLst>
          </p:cNvPr>
          <p:cNvSpPr txBox="1"/>
          <p:nvPr/>
        </p:nvSpPr>
        <p:spPr>
          <a:xfrm>
            <a:off x="3695700" y="5370731"/>
            <a:ext cx="480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Fig: UML - Use Case Diagram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3807C-ADA6-28A3-3A82-F094B20C6D33}"/>
              </a:ext>
            </a:extLst>
          </p:cNvPr>
          <p:cNvSpPr txBox="1"/>
          <p:nvPr/>
        </p:nvSpPr>
        <p:spPr>
          <a:xfrm>
            <a:off x="1371600" y="5817006"/>
            <a:ext cx="944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use case diagram shows how the system processes a live video stream to detect, classify, reject unknown signs, and produce stable outputs.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392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46C4E-8403-0376-8E90-01091F00F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UML  Diagrams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2F58B7-2B8F-021D-0969-6160C63362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615" y="947651"/>
            <a:ext cx="12016770" cy="507214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4A201E-C0CD-0D6C-40D2-3F6CF3F0497C}"/>
              </a:ext>
            </a:extLst>
          </p:cNvPr>
          <p:cNvSpPr txBox="1"/>
          <p:nvPr/>
        </p:nvSpPr>
        <p:spPr>
          <a:xfrm>
            <a:off x="3695700" y="5725180"/>
            <a:ext cx="480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Fig: UML - Sequence Diagram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FDA1DB-ED91-D76A-CC78-4681462BA2DB}"/>
              </a:ext>
            </a:extLst>
          </p:cNvPr>
          <p:cNvSpPr txBox="1"/>
          <p:nvPr/>
        </p:nvSpPr>
        <p:spPr>
          <a:xfrm>
            <a:off x="504823" y="6229290"/>
            <a:ext cx="11182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sequence diagram captures the real-time interaction between modules for each video frame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738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810F0-759D-765C-B765-9656D7E6C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</a:t>
            </a:r>
            <a:r>
              <a:rPr lang="en-US" dirty="0" err="1"/>
              <a:t>Daigram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D8E4D7-15BC-0CF3-72DD-50E55CE1B5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67098" y="947651"/>
            <a:ext cx="5257800" cy="5677590"/>
          </a:xfrm>
        </p:spPr>
      </p:pic>
    </p:spTree>
    <p:extLst>
      <p:ext uri="{BB962C8B-B14F-4D97-AF65-F5344CB8AC3E}">
        <p14:creationId xmlns:p14="http://schemas.microsoft.com/office/powerpoint/2010/main" val="1356791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CE2CF7A-05CE-2E44-C540-A5004951C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4" y="1066800"/>
            <a:ext cx="5714998" cy="51929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FB0542-459A-1D28-86F1-26D990037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Source Code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059BB4-02D9-DA41-53F2-E9D03BC5C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8" y="1066800"/>
            <a:ext cx="5715000" cy="519291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000046-E5E1-5EAF-74BD-777A70107690}"/>
              </a:ext>
            </a:extLst>
          </p:cNvPr>
          <p:cNvSpPr txBox="1"/>
          <p:nvPr/>
        </p:nvSpPr>
        <p:spPr>
          <a:xfrm>
            <a:off x="914400" y="6259718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Detector Sample Code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1D2F3A-0FAB-50D4-E551-17372BC08648}"/>
              </a:ext>
            </a:extLst>
          </p:cNvPr>
          <p:cNvSpPr txBox="1"/>
          <p:nvPr/>
        </p:nvSpPr>
        <p:spPr>
          <a:xfrm>
            <a:off x="6629400" y="6248400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RestNet18 Classifier Sample Code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13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C3031-68FE-42E9-0110-F599C83C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Execution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5DBE4A-A73C-A06C-0F82-E15E7E3DB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1265236"/>
            <a:ext cx="4851885" cy="415260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C975C6-93C8-6A8A-1F68-497C518467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65237"/>
            <a:ext cx="5586410" cy="40703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599049-66EE-54AE-B1D8-F6B9C6059C28}"/>
              </a:ext>
            </a:extLst>
          </p:cNvPr>
          <p:cNvSpPr txBox="1"/>
          <p:nvPr/>
        </p:nvSpPr>
        <p:spPr>
          <a:xfrm>
            <a:off x="800461" y="5387378"/>
            <a:ext cx="41653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Detection output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60CF5E-AEA7-43C6-DC3D-1CBA9C1487AB}"/>
              </a:ext>
            </a:extLst>
          </p:cNvPr>
          <p:cNvSpPr txBox="1"/>
          <p:nvPr/>
        </p:nvSpPr>
        <p:spPr>
          <a:xfrm>
            <a:off x="6659758" y="5387378"/>
            <a:ext cx="44588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Classification Output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761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38"/>
            <a:ext cx="12192000" cy="1020444"/>
            <a:chOff x="0" y="38"/>
            <a:chExt cx="12192000" cy="1020444"/>
          </a:xfrm>
        </p:grpSpPr>
        <p:sp>
          <p:nvSpPr>
            <p:cNvPr id="4" name="object 4"/>
            <p:cNvSpPr/>
            <p:nvPr/>
          </p:nvSpPr>
          <p:spPr>
            <a:xfrm>
              <a:off x="0" y="38"/>
              <a:ext cx="12192000" cy="233045"/>
            </a:xfrm>
            <a:custGeom>
              <a:avLst/>
              <a:gdLst/>
              <a:ahLst/>
              <a:cxnLst/>
              <a:rect l="l" t="t" r="r" b="b"/>
              <a:pathLst>
                <a:path w="12192000" h="233045">
                  <a:moveTo>
                    <a:pt x="12192000" y="0"/>
                  </a:moveTo>
                  <a:lnTo>
                    <a:pt x="0" y="0"/>
                  </a:lnTo>
                  <a:lnTo>
                    <a:pt x="0" y="232752"/>
                  </a:lnTo>
                  <a:lnTo>
                    <a:pt x="12192000" y="23275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16268"/>
              <a:ext cx="12191998" cy="80379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32778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2000" y="0"/>
                  </a:moveTo>
                  <a:lnTo>
                    <a:pt x="0" y="0"/>
                  </a:lnTo>
                  <a:lnTo>
                    <a:pt x="0" y="714895"/>
                  </a:lnTo>
                  <a:lnTo>
                    <a:pt x="12192000" y="71489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0554" y="197561"/>
            <a:ext cx="268884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Reference</a:t>
            </a:r>
            <a:r>
              <a:rPr lang="en-IN" spc="-10" dirty="0"/>
              <a:t>s</a:t>
            </a:r>
            <a:endParaRPr spc="-1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B97B2CD-025C-1DA8-0D40-D59871B1E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469" y="1236293"/>
            <a:ext cx="11732893" cy="4739759"/>
          </a:xfrm>
        </p:spPr>
        <p:txBody>
          <a:bodyPr/>
          <a:lstStyle/>
          <a:p>
            <a:pPr marL="577850" indent="-577850">
              <a:buNone/>
            </a:pPr>
            <a:r>
              <a:rPr lang="en-US" sz="2800" dirty="0"/>
              <a:t> [1] Yi Yang,  </a:t>
            </a:r>
            <a:r>
              <a:rPr lang="en-US" sz="2800" dirty="0" err="1"/>
              <a:t>Hengliang</a:t>
            </a:r>
            <a:r>
              <a:rPr lang="en-US" sz="2800" dirty="0"/>
              <a:t>  Luo,  </a:t>
            </a:r>
            <a:r>
              <a:rPr lang="en-US" sz="2800" dirty="0" err="1"/>
              <a:t>Fuchao</a:t>
            </a:r>
            <a:r>
              <a:rPr lang="en-US" sz="2800" dirty="0"/>
              <a:t>  Wu, “Towards Real-Time Traffic Sign Detection and Classification,” ResearchGate.</a:t>
            </a:r>
          </a:p>
          <a:p>
            <a:pPr marL="577850" indent="-577850">
              <a:buNone/>
            </a:pPr>
            <a:endParaRPr lang="en-US" sz="2800" dirty="0"/>
          </a:p>
          <a:p>
            <a:pPr marL="577850" indent="-577850">
              <a:buNone/>
            </a:pPr>
            <a:r>
              <a:rPr lang="en-US" sz="2800" dirty="0"/>
              <a:t>[2] Hana B. F., Amani C., Jamel B. H., Chokri S., “A Real-Time Traffic Sign Recognition Method Using a New Attention-Based DCNN,” MDPI, 2023.</a:t>
            </a:r>
          </a:p>
          <a:p>
            <a:pPr marL="577850" indent="-577850">
              <a:buNone/>
            </a:pPr>
            <a:endParaRPr lang="en-US" sz="2800" dirty="0"/>
          </a:p>
          <a:p>
            <a:pPr marL="577850" indent="-577850">
              <a:buNone/>
            </a:pPr>
            <a:r>
              <a:rPr lang="en-US" sz="2800" dirty="0"/>
              <a:t>[3] Jiahui Guo,  </a:t>
            </a:r>
            <a:r>
              <a:rPr lang="en-US" sz="2800" dirty="0" err="1"/>
              <a:t>Guohao</a:t>
            </a:r>
            <a:r>
              <a:rPr lang="en-US" sz="2800" dirty="0"/>
              <a:t>   Li, Shuo Chen, Guofa Li, Yuxin Chen, “Temporal-Guided Label Assignment for Video Object Detection,” MDPI, 2022.</a:t>
            </a:r>
          </a:p>
          <a:p>
            <a:pPr marL="577850" indent="-577850">
              <a:buNone/>
            </a:pPr>
            <a:endParaRPr lang="en-US" sz="2800" dirty="0"/>
          </a:p>
          <a:p>
            <a:pPr marL="577850" indent="-577850">
              <a:buNone/>
            </a:pPr>
            <a:r>
              <a:rPr lang="en-US" sz="2800" dirty="0"/>
              <a:t>[4] Hassanpour et al., “Paper Currency Recognition Based on Size, Color, and Texture,” Journal XYZ, 2020</a:t>
            </a:r>
            <a:endParaRPr lang="en-IN" sz="2800" dirty="0"/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3DD0A1D9-7375-EDCA-A9C7-9ED31868232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76276" y="6623460"/>
            <a:ext cx="585724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lang="en-IN" dirty="0"/>
              <a:t>B- 3</a:t>
            </a:r>
            <a:endParaRPr spc="-50" dirty="0"/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43EC7E94-EB39-CB0C-3E7D-3CA31E9C9F05}"/>
              </a:ext>
            </a:extLst>
          </p:cNvPr>
          <p:cNvSpPr txBox="1"/>
          <p:nvPr/>
        </p:nvSpPr>
        <p:spPr>
          <a:xfrm>
            <a:off x="7162800" y="6614306"/>
            <a:ext cx="4599941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7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8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9C12CF69-B954-2B80-C1FF-0AAF7794640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812267" y="6613329"/>
            <a:ext cx="25209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algn="ctr">
              <a:lnSpc>
                <a:spcPts val="1855"/>
              </a:lnSpc>
            </a:pPr>
            <a:fld id="{81D60167-4931-47E6-BA6A-407CBD079E47}" type="slidenum">
              <a:rPr spc="-25" dirty="0"/>
              <a:pPr marL="38100" algn="ctr">
                <a:lnSpc>
                  <a:spcPts val="1855"/>
                </a:lnSpc>
              </a:pPr>
              <a:t>18</a:t>
            </a:fld>
            <a:endParaRPr spc="-25" dirty="0"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903B9127-2961-4D19-8A6C-50F2AEB5CABF}"/>
              </a:ext>
            </a:extLst>
          </p:cNvPr>
          <p:cNvSpPr txBox="1"/>
          <p:nvPr/>
        </p:nvSpPr>
        <p:spPr>
          <a:xfrm>
            <a:off x="-88137" y="0"/>
            <a:ext cx="12191998" cy="76367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algn="ctr">
              <a:spcBef>
                <a:spcPts val="110"/>
              </a:spcBef>
            </a:pPr>
            <a:r>
              <a:rPr lang="en-US" sz="16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Sign Recognition with Open-Set Rejection and Temporal Consensus</a:t>
            </a:r>
          </a:p>
          <a:p>
            <a:pPr marL="12700" algn="ctr">
              <a:lnSpc>
                <a:spcPct val="100000"/>
              </a:lnSpc>
              <a:spcBef>
                <a:spcPts val="110"/>
              </a:spcBef>
            </a:pPr>
            <a:endParaRPr lang="en-US" sz="16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>
              <a:lnSpc>
                <a:spcPct val="100000"/>
              </a:lnSpc>
              <a:spcBef>
                <a:spcPts val="115"/>
              </a:spcBef>
            </a:pPr>
            <a:endParaRPr sz="1500" i="1" dirty="0">
              <a:latin typeface="Times New Roman"/>
              <a:cs typeface="Times New Roman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6CF061EF-BC5B-44D2-911D-CFF1C805DE1A}"/>
              </a:ext>
            </a:extLst>
          </p:cNvPr>
          <p:cNvSpPr txBox="1"/>
          <p:nvPr/>
        </p:nvSpPr>
        <p:spPr>
          <a:xfrm>
            <a:off x="1068641" y="6640634"/>
            <a:ext cx="5106035" cy="2247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>
              <a:lnSpc>
                <a:spcPts val="1765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Dept.</a:t>
            </a:r>
            <a:r>
              <a:rPr lang="en-US" sz="1600" cap="small" spc="-13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cap="small" spc="4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1600" cap="small" spc="5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sz="1600" cap="small" spc="4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</a:t>
            </a:r>
            <a:r>
              <a:rPr lang="en-US" sz="1600" cap="small" spc="11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Science)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C2B34-94F0-71B5-1F97-B5ABF739B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D4549-1F54-8FFE-FC72-6A254500C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097279"/>
            <a:ext cx="11978640" cy="537972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4400" dirty="0"/>
              <a:t>🔗 GitHub Repository:</a:t>
            </a:r>
          </a:p>
          <a:p>
            <a:pPr marL="0" indent="0">
              <a:buNone/>
            </a:pPr>
            <a:endParaRPr lang="en-IN" sz="4400" dirty="0"/>
          </a:p>
          <a:p>
            <a:pPr marL="0" indent="0">
              <a:buNone/>
            </a:pPr>
            <a:endParaRPr lang="en-IN" sz="4400" dirty="0"/>
          </a:p>
          <a:p>
            <a:pPr marL="0" indent="0">
              <a:buNone/>
            </a:pPr>
            <a:endParaRPr lang="en-IN" sz="4400" dirty="0"/>
          </a:p>
          <a:p>
            <a:pPr marL="0" indent="0">
              <a:buNone/>
            </a:pPr>
            <a:endParaRPr lang="en-IN" sz="4400" dirty="0"/>
          </a:p>
          <a:p>
            <a:pPr marL="0" indent="0">
              <a:buNone/>
            </a:pPr>
            <a:endParaRPr lang="en-IN" sz="4400" dirty="0"/>
          </a:p>
          <a:p>
            <a:pPr marL="0" indent="0">
              <a:buNone/>
            </a:pPr>
            <a:endParaRPr lang="en-IN" sz="4400" dirty="0"/>
          </a:p>
          <a:p>
            <a:pPr marL="0" indent="0">
              <a:buNone/>
            </a:pPr>
            <a:r>
              <a:rPr lang="en-IN" sz="4400" dirty="0"/>
              <a:t>	</a:t>
            </a:r>
          </a:p>
          <a:p>
            <a:pPr marL="0" indent="0" algn="ctr">
              <a:buNone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2"/>
              </a:rPr>
              <a:t>https://github.com/srivaishnavi26/Traffic-sign-detection-and-recognition</a:t>
            </a:r>
            <a:endParaRPr lang="en-IN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B7980A-8379-0184-FB4D-A3487B596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28800"/>
            <a:ext cx="11322190" cy="420624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3C8123B-D22B-6F22-E747-42386B306404}"/>
              </a:ext>
            </a:extLst>
          </p:cNvPr>
          <p:cNvSpPr/>
          <p:nvPr/>
        </p:nvSpPr>
        <p:spPr>
          <a:xfrm>
            <a:off x="1219200" y="6650183"/>
            <a:ext cx="4572000" cy="23275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29A45BE9-57CC-C831-3873-0D1F6B051B1D}"/>
              </a:ext>
            </a:extLst>
          </p:cNvPr>
          <p:cNvSpPr txBox="1"/>
          <p:nvPr/>
        </p:nvSpPr>
        <p:spPr>
          <a:xfrm>
            <a:off x="1068641" y="6640634"/>
            <a:ext cx="5106035" cy="2247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>
              <a:lnSpc>
                <a:spcPts val="1765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Dept.</a:t>
            </a:r>
            <a:r>
              <a:rPr lang="en-US" sz="1600" cap="small" spc="-13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cap="small" spc="4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1600" cap="small" spc="5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sz="1600" cap="small" spc="4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</a:t>
            </a:r>
            <a:r>
              <a:rPr lang="en-US" sz="1600" cap="small" spc="11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Science)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3154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38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2000" y="0"/>
                </a:moveTo>
                <a:lnTo>
                  <a:pt x="0" y="0"/>
                </a:lnTo>
                <a:lnTo>
                  <a:pt x="0" y="232752"/>
                </a:lnTo>
                <a:lnTo>
                  <a:pt x="12192000" y="23275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91A45EE3-D3DA-8D25-F154-3E8040BD2C00}"/>
              </a:ext>
            </a:extLst>
          </p:cNvPr>
          <p:cNvSpPr txBox="1"/>
          <p:nvPr/>
        </p:nvSpPr>
        <p:spPr>
          <a:xfrm>
            <a:off x="2831719" y="2350414"/>
            <a:ext cx="6685915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9600" i="1" dirty="0">
                <a:solidFill>
                  <a:srgbClr val="FF6600"/>
                </a:solidFill>
                <a:latin typeface="Times New Roman"/>
                <a:cs typeface="Times New Roman"/>
              </a:rPr>
              <a:t>Thank</a:t>
            </a:r>
            <a:r>
              <a:rPr sz="9600" i="1" spc="-3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lang="en-IN" sz="9600" i="1" spc="-10" dirty="0">
                <a:solidFill>
                  <a:srgbClr val="FF6600"/>
                </a:solidFill>
                <a:latin typeface="Times New Roman"/>
                <a:cs typeface="Times New Roman"/>
              </a:rPr>
              <a:t>You!!!</a:t>
            </a:r>
            <a:endParaRPr sz="9600" dirty="0">
              <a:latin typeface="Times New Roman"/>
              <a:cs typeface="Times New Roman"/>
            </a:endParaRPr>
          </a:p>
        </p:txBody>
      </p:sp>
      <p:sp>
        <p:nvSpPr>
          <p:cNvPr id="10" name="object 14">
            <a:extLst>
              <a:ext uri="{FF2B5EF4-FFF2-40B4-BE49-F238E27FC236}">
                <a16:creationId xmlns:a16="http://schemas.microsoft.com/office/drawing/2014/main" id="{EE962745-C499-83CD-0A95-10F427D7E87D}"/>
              </a:ext>
            </a:extLst>
          </p:cNvPr>
          <p:cNvSpPr txBox="1"/>
          <p:nvPr/>
        </p:nvSpPr>
        <p:spPr>
          <a:xfrm>
            <a:off x="7162800" y="6614306"/>
            <a:ext cx="4599941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4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7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80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EB72828C-0BCF-4F5A-BC95-FDC468B2BF82}"/>
              </a:ext>
            </a:extLst>
          </p:cNvPr>
          <p:cNvSpPr txBox="1"/>
          <p:nvPr/>
        </p:nvSpPr>
        <p:spPr>
          <a:xfrm>
            <a:off x="-88137" y="0"/>
            <a:ext cx="12191998" cy="76367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algn="ctr">
              <a:spcBef>
                <a:spcPts val="110"/>
              </a:spcBef>
            </a:pP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Sign Recognition with Open-Set Rejection and Temporal Consensus</a:t>
            </a:r>
          </a:p>
          <a:p>
            <a:pPr marL="12700" algn="ctr">
              <a:lnSpc>
                <a:spcPct val="100000"/>
              </a:lnSpc>
              <a:spcBef>
                <a:spcPts val="110"/>
              </a:spcBef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>
              <a:lnSpc>
                <a:spcPct val="100000"/>
              </a:lnSpc>
              <a:spcBef>
                <a:spcPts val="115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64122430-633C-492D-9470-BCB96D83532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76276" y="6623460"/>
            <a:ext cx="585724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lang="en-IN" dirty="0"/>
              <a:t>B- 3</a:t>
            </a:r>
            <a:endParaRPr spc="-50" dirty="0"/>
          </a:p>
        </p:txBody>
      </p:sp>
      <p:sp>
        <p:nvSpPr>
          <p:cNvPr id="8" name="object 12">
            <a:extLst>
              <a:ext uri="{FF2B5EF4-FFF2-40B4-BE49-F238E27FC236}">
                <a16:creationId xmlns:a16="http://schemas.microsoft.com/office/drawing/2014/main" id="{505561F8-D2DD-471C-A562-70D052631D9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812267" y="6613329"/>
            <a:ext cx="25209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algn="ctr">
              <a:lnSpc>
                <a:spcPts val="1855"/>
              </a:lnSpc>
            </a:pPr>
            <a:fld id="{81D60167-4931-47E6-BA6A-407CBD079E47}" type="slidenum">
              <a:rPr spc="-25" dirty="0"/>
              <a:pPr marL="38100" algn="ctr">
                <a:lnSpc>
                  <a:spcPts val="1855"/>
                </a:lnSpc>
              </a:pPr>
              <a:t>20</a:t>
            </a:fld>
            <a:endParaRPr spc="-25" dirty="0"/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820A8467-A45E-41D3-9483-13C50AE290EF}"/>
              </a:ext>
            </a:extLst>
          </p:cNvPr>
          <p:cNvSpPr txBox="1"/>
          <p:nvPr/>
        </p:nvSpPr>
        <p:spPr>
          <a:xfrm>
            <a:off x="1068641" y="6640634"/>
            <a:ext cx="5106035" cy="2247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>
              <a:lnSpc>
                <a:spcPts val="1765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Dept.</a:t>
            </a:r>
            <a:r>
              <a:rPr lang="en-US" sz="1600" cap="small" spc="-13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cap="small" spc="4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1600" cap="small" spc="5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sz="1600" cap="small" spc="4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sz="1600" cap="small" spc="1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</a:t>
            </a:r>
            <a:r>
              <a:rPr lang="en-US" sz="1600" cap="small" spc="115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cap="small" spc="-8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Science)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Times New Roman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651</TotalTime>
  <Words>1105</Words>
  <Application>Microsoft Office PowerPoint</Application>
  <PresentationFormat>Widescreen</PresentationFormat>
  <Paragraphs>179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Courier New</vt:lpstr>
      <vt:lpstr>Times New Roman</vt:lpstr>
      <vt:lpstr>Wingdings</vt:lpstr>
      <vt:lpstr>Office Theme</vt:lpstr>
      <vt:lpstr>Custom Design</vt:lpstr>
      <vt:lpstr>PowerPoint Presentation</vt:lpstr>
      <vt:lpstr>Contents </vt:lpstr>
      <vt:lpstr>Review-0 Remarks </vt:lpstr>
      <vt:lpstr>Review-1 Remarks</vt:lpstr>
      <vt:lpstr>Abstract </vt:lpstr>
      <vt:lpstr>Problem Statement </vt:lpstr>
      <vt:lpstr>Introduction</vt:lpstr>
      <vt:lpstr>Objectives of the Project </vt:lpstr>
      <vt:lpstr>Literature Survey for Objectives defined</vt:lpstr>
      <vt:lpstr>Existing System &amp;  Proposed System</vt:lpstr>
      <vt:lpstr>Planning </vt:lpstr>
      <vt:lpstr>Requirements </vt:lpstr>
      <vt:lpstr>UML Diagrams</vt:lpstr>
      <vt:lpstr>UML  Diagrams</vt:lpstr>
      <vt:lpstr>Data Flow Daigram </vt:lpstr>
      <vt:lpstr>Sample Source Code </vt:lpstr>
      <vt:lpstr>Project Execution </vt:lpstr>
      <vt:lpstr>References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- 0 Template.pptx</dc:title>
  <dc:creator>224g1</dc:creator>
  <cp:lastModifiedBy>Madhusudhan Sarma</cp:lastModifiedBy>
  <cp:revision>76</cp:revision>
  <dcterms:created xsi:type="dcterms:W3CDTF">2025-10-13T05:50:25Z</dcterms:created>
  <dcterms:modified xsi:type="dcterms:W3CDTF">2026-02-05T07:31:46Z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2025-10-13T00:00:00Z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2025-10-13T00:00:00Z</vt:filetime>
  </property>
  <property fmtid="{D5CDD505-2E9C-101B-9397-08002B2CF9AE}" pid="5" name="Producer">
    <vt:lpwstr>www.ilovepdf.com</vt:lpwstr>
  </property>
</Properties>
</file>