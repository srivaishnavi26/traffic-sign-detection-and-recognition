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4" r:id="rId1"/>
  </p:sldMasterIdLst>
  <p:sldIdLst>
    <p:sldId id="256" r:id="rId2"/>
    <p:sldId id="258" r:id="rId3"/>
    <p:sldId id="257" r:id="rId4"/>
    <p:sldId id="259" r:id="rId5"/>
    <p:sldId id="260" r:id="rId6"/>
    <p:sldId id="261" r:id="rId7"/>
    <p:sldId id="262" r:id="rId8"/>
    <p:sldId id="264" r:id="rId9"/>
    <p:sldId id="265" r:id="rId10"/>
  </p:sldIdLst>
  <p:sldSz cx="12192000" cy="6858000"/>
  <p:notesSz cx="12192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6" d="100"/>
          <a:sy n="66" d="100"/>
        </p:scale>
        <p:origin x="644" y="-9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marL="12700">
              <a:lnSpc>
                <a:spcPts val="1845"/>
              </a:lnSpc>
            </a:pPr>
            <a:r>
              <a:rPr lang="en-US" cap="small" spc="-75"/>
              <a:t>Dept.</a:t>
            </a:r>
            <a:r>
              <a:rPr lang="en-US" cap="small" spc="-10"/>
              <a:t> </a:t>
            </a:r>
            <a:r>
              <a:rPr lang="en-US" cap="small" spc="-100"/>
              <a:t>of</a:t>
            </a:r>
            <a:r>
              <a:rPr lang="en-US" cap="small" spc="25"/>
              <a:t> </a:t>
            </a:r>
            <a:r>
              <a:rPr lang="en-US" cap="small" spc="-114"/>
              <a:t>Computer</a:t>
            </a:r>
            <a:r>
              <a:rPr lang="en-US" cap="small" spc="50"/>
              <a:t> </a:t>
            </a:r>
            <a:r>
              <a:rPr lang="en-US" cap="small" spc="-95"/>
              <a:t>Science</a:t>
            </a:r>
            <a:r>
              <a:rPr lang="en-US" cap="small" spc="50"/>
              <a:t> </a:t>
            </a:r>
            <a:r>
              <a:rPr lang="en-US" cap="small" spc="-130"/>
              <a:t>and</a:t>
            </a:r>
            <a:r>
              <a:rPr lang="en-US" cap="small" spc="45"/>
              <a:t> </a:t>
            </a:r>
            <a:r>
              <a:rPr lang="en-US" cap="small" spc="-110"/>
              <a:t>Engineering</a:t>
            </a:r>
            <a:r>
              <a:rPr lang="en-US" cap="small" spc="45"/>
              <a:t> </a:t>
            </a:r>
            <a:r>
              <a:rPr lang="en-US" cap="small" spc="-70"/>
              <a:t>(Data</a:t>
            </a:r>
            <a:r>
              <a:rPr lang="en-US" cap="small" spc="45"/>
              <a:t> </a:t>
            </a:r>
            <a:r>
              <a:rPr lang="en-US" cap="small" spc="-95"/>
              <a:t>Science)</a:t>
            </a:r>
            <a:endParaRPr lang="en-US" cap="small" spc="-95" dirty="0"/>
          </a:p>
        </p:txBody>
      </p:sp>
      <p:sp>
        <p:nvSpPr>
          <p:cNvPr id="5" name="Footer Placeholder 4"/>
          <p:cNvSpPr>
            <a:spLocks noGrp="1"/>
          </p:cNvSpPr>
          <p:nvPr>
            <p:ph type="ftr" sz="quarter" idx="11"/>
          </p:nvPr>
        </p:nvSpPr>
        <p:spPr/>
        <p:txBody>
          <a:bodyPr/>
          <a:lstStyle/>
          <a:p>
            <a:pPr marL="12700">
              <a:lnSpc>
                <a:spcPts val="1845"/>
              </a:lnSpc>
            </a:pPr>
            <a:r>
              <a:rPr lang="en-IN"/>
              <a:t>A</a:t>
            </a:r>
            <a:r>
              <a:rPr lang="en-IN" spc="-10"/>
              <a:t> </a:t>
            </a:r>
            <a:r>
              <a:rPr lang="en-IN"/>
              <a:t>-</a:t>
            </a:r>
            <a:r>
              <a:rPr lang="en-IN" spc="-5"/>
              <a:t> </a:t>
            </a:r>
            <a:r>
              <a:rPr lang="en-IN" spc="-25"/>
              <a:t>00</a:t>
            </a:r>
            <a:endParaRPr lang="en-IN" spc="-25" dirty="0"/>
          </a:p>
        </p:txBody>
      </p:sp>
      <p:sp>
        <p:nvSpPr>
          <p:cNvPr id="6" name="Slide Number Placeholder 5"/>
          <p:cNvSpPr>
            <a:spLocks noGrp="1"/>
          </p:cNvSpPr>
          <p:nvPr>
            <p:ph type="sldNum" sz="quarter" idx="12"/>
          </p:nvPr>
        </p:nvSpPr>
        <p:spPr/>
        <p:txBody>
          <a:bodyPr/>
          <a:lstStyle/>
          <a:p>
            <a:pPr marL="12700">
              <a:lnSpc>
                <a:spcPts val="1845"/>
              </a:lnSpc>
            </a:pPr>
            <a:fld id="{81D60167-4931-47E6-BA6A-407CBD079E47}" type="slidenum">
              <a:rPr lang="en-IN" spc="-25" smtClean="0"/>
              <a:t>‹#›</a:t>
            </a:fld>
            <a:endParaRPr lang="en-IN" spc="-25" dirty="0"/>
          </a:p>
        </p:txBody>
      </p:sp>
    </p:spTree>
    <p:extLst>
      <p:ext uri="{BB962C8B-B14F-4D97-AF65-F5344CB8AC3E}">
        <p14:creationId xmlns:p14="http://schemas.microsoft.com/office/powerpoint/2010/main" val="28902150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marL="12700">
              <a:lnSpc>
                <a:spcPts val="1845"/>
              </a:lnSpc>
            </a:pPr>
            <a:r>
              <a:rPr lang="en-US" cap="small" spc="-75"/>
              <a:t>Dept.</a:t>
            </a:r>
            <a:r>
              <a:rPr lang="en-US" cap="small" spc="-10"/>
              <a:t> </a:t>
            </a:r>
            <a:r>
              <a:rPr lang="en-US" cap="small" spc="-100"/>
              <a:t>of</a:t>
            </a:r>
            <a:r>
              <a:rPr lang="en-US" cap="small" spc="25"/>
              <a:t> </a:t>
            </a:r>
            <a:r>
              <a:rPr lang="en-US" cap="small" spc="-114"/>
              <a:t>Computer</a:t>
            </a:r>
            <a:r>
              <a:rPr lang="en-US" cap="small" spc="50"/>
              <a:t> </a:t>
            </a:r>
            <a:r>
              <a:rPr lang="en-US" cap="small" spc="-95"/>
              <a:t>Science</a:t>
            </a:r>
            <a:r>
              <a:rPr lang="en-US" cap="small" spc="50"/>
              <a:t> </a:t>
            </a:r>
            <a:r>
              <a:rPr lang="en-US" cap="small" spc="-130"/>
              <a:t>and</a:t>
            </a:r>
            <a:r>
              <a:rPr lang="en-US" cap="small" spc="45"/>
              <a:t> </a:t>
            </a:r>
            <a:r>
              <a:rPr lang="en-US" cap="small" spc="-110"/>
              <a:t>Engineering</a:t>
            </a:r>
            <a:r>
              <a:rPr lang="en-US" cap="small" spc="45"/>
              <a:t> </a:t>
            </a:r>
            <a:r>
              <a:rPr lang="en-US" cap="small" spc="-70"/>
              <a:t>(Data</a:t>
            </a:r>
            <a:r>
              <a:rPr lang="en-US" cap="small" spc="45"/>
              <a:t> </a:t>
            </a:r>
            <a:r>
              <a:rPr lang="en-US" cap="small" spc="-95"/>
              <a:t>Science)</a:t>
            </a:r>
            <a:endParaRPr lang="en-US" cap="small" spc="-95" dirty="0"/>
          </a:p>
        </p:txBody>
      </p:sp>
      <p:sp>
        <p:nvSpPr>
          <p:cNvPr id="5" name="Footer Placeholder 4"/>
          <p:cNvSpPr>
            <a:spLocks noGrp="1"/>
          </p:cNvSpPr>
          <p:nvPr>
            <p:ph type="ftr" sz="quarter" idx="11"/>
          </p:nvPr>
        </p:nvSpPr>
        <p:spPr/>
        <p:txBody>
          <a:bodyPr/>
          <a:lstStyle/>
          <a:p>
            <a:pPr marL="12700">
              <a:lnSpc>
                <a:spcPts val="1845"/>
              </a:lnSpc>
            </a:pPr>
            <a:r>
              <a:rPr lang="en-IN"/>
              <a:t>A</a:t>
            </a:r>
            <a:r>
              <a:rPr lang="en-IN" spc="-10"/>
              <a:t> </a:t>
            </a:r>
            <a:r>
              <a:rPr lang="en-IN"/>
              <a:t>-</a:t>
            </a:r>
            <a:r>
              <a:rPr lang="en-IN" spc="-5"/>
              <a:t> </a:t>
            </a:r>
            <a:r>
              <a:rPr lang="en-IN" spc="-25"/>
              <a:t>00</a:t>
            </a:r>
            <a:endParaRPr lang="en-IN" spc="-25" dirty="0"/>
          </a:p>
        </p:txBody>
      </p:sp>
      <p:sp>
        <p:nvSpPr>
          <p:cNvPr id="6" name="Slide Number Placeholder 5"/>
          <p:cNvSpPr>
            <a:spLocks noGrp="1"/>
          </p:cNvSpPr>
          <p:nvPr>
            <p:ph type="sldNum" sz="quarter" idx="12"/>
          </p:nvPr>
        </p:nvSpPr>
        <p:spPr/>
        <p:txBody>
          <a:bodyPr/>
          <a:lstStyle/>
          <a:p>
            <a:pPr marL="12700">
              <a:lnSpc>
                <a:spcPts val="1845"/>
              </a:lnSpc>
            </a:pPr>
            <a:fld id="{81D60167-4931-47E6-BA6A-407CBD079E47}" type="slidenum">
              <a:rPr lang="en-IN" spc="-25" smtClean="0"/>
              <a:t>‹#›</a:t>
            </a:fld>
            <a:endParaRPr lang="en-IN" spc="-25" dirty="0"/>
          </a:p>
        </p:txBody>
      </p:sp>
    </p:spTree>
    <p:extLst>
      <p:ext uri="{BB962C8B-B14F-4D97-AF65-F5344CB8AC3E}">
        <p14:creationId xmlns:p14="http://schemas.microsoft.com/office/powerpoint/2010/main" val="3005624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12700">
              <a:lnSpc>
                <a:spcPts val="1845"/>
              </a:lnSpc>
            </a:pPr>
            <a:r>
              <a:rPr lang="en-US" cap="small" spc="-75"/>
              <a:t>Dept.</a:t>
            </a:r>
            <a:r>
              <a:rPr lang="en-US" cap="small" spc="-10"/>
              <a:t> </a:t>
            </a:r>
            <a:r>
              <a:rPr lang="en-US" cap="small" spc="-100"/>
              <a:t>of</a:t>
            </a:r>
            <a:r>
              <a:rPr lang="en-US" cap="small" spc="25"/>
              <a:t> </a:t>
            </a:r>
            <a:r>
              <a:rPr lang="en-US" cap="small" spc="-114"/>
              <a:t>Computer</a:t>
            </a:r>
            <a:r>
              <a:rPr lang="en-US" cap="small" spc="50"/>
              <a:t> </a:t>
            </a:r>
            <a:r>
              <a:rPr lang="en-US" cap="small" spc="-95"/>
              <a:t>Science</a:t>
            </a:r>
            <a:r>
              <a:rPr lang="en-US" cap="small" spc="50"/>
              <a:t> </a:t>
            </a:r>
            <a:r>
              <a:rPr lang="en-US" cap="small" spc="-130"/>
              <a:t>and</a:t>
            </a:r>
            <a:r>
              <a:rPr lang="en-US" cap="small" spc="45"/>
              <a:t> </a:t>
            </a:r>
            <a:r>
              <a:rPr lang="en-US" cap="small" spc="-110"/>
              <a:t>Engineering</a:t>
            </a:r>
            <a:r>
              <a:rPr lang="en-US" cap="small" spc="45"/>
              <a:t> </a:t>
            </a:r>
            <a:r>
              <a:rPr lang="en-US" cap="small" spc="-70"/>
              <a:t>(Data</a:t>
            </a:r>
            <a:r>
              <a:rPr lang="en-US" cap="small" spc="45"/>
              <a:t> </a:t>
            </a:r>
            <a:r>
              <a:rPr lang="en-US" cap="small" spc="-95"/>
              <a:t>Science)</a:t>
            </a:r>
            <a:endParaRPr lang="en-US" cap="small" spc="-95" dirty="0"/>
          </a:p>
        </p:txBody>
      </p:sp>
      <p:sp>
        <p:nvSpPr>
          <p:cNvPr id="5" name="Footer Placeholder 4"/>
          <p:cNvSpPr>
            <a:spLocks noGrp="1"/>
          </p:cNvSpPr>
          <p:nvPr>
            <p:ph type="ftr" sz="quarter" idx="11"/>
          </p:nvPr>
        </p:nvSpPr>
        <p:spPr/>
        <p:txBody>
          <a:bodyPr/>
          <a:lstStyle/>
          <a:p>
            <a:pPr marL="12700">
              <a:lnSpc>
                <a:spcPts val="1845"/>
              </a:lnSpc>
            </a:pPr>
            <a:r>
              <a:rPr lang="en-IN"/>
              <a:t>A</a:t>
            </a:r>
            <a:r>
              <a:rPr lang="en-IN" spc="-10"/>
              <a:t> </a:t>
            </a:r>
            <a:r>
              <a:rPr lang="en-IN"/>
              <a:t>-</a:t>
            </a:r>
            <a:r>
              <a:rPr lang="en-IN" spc="-5"/>
              <a:t> </a:t>
            </a:r>
            <a:r>
              <a:rPr lang="en-IN" spc="-25"/>
              <a:t>00</a:t>
            </a:r>
            <a:endParaRPr lang="en-IN" spc="-25" dirty="0"/>
          </a:p>
        </p:txBody>
      </p:sp>
      <p:sp>
        <p:nvSpPr>
          <p:cNvPr id="6" name="Slide Number Placeholder 5"/>
          <p:cNvSpPr>
            <a:spLocks noGrp="1"/>
          </p:cNvSpPr>
          <p:nvPr>
            <p:ph type="sldNum" sz="quarter" idx="12"/>
          </p:nvPr>
        </p:nvSpPr>
        <p:spPr/>
        <p:txBody>
          <a:bodyPr/>
          <a:lstStyle/>
          <a:p>
            <a:pPr marL="12700">
              <a:lnSpc>
                <a:spcPts val="1845"/>
              </a:lnSpc>
            </a:pPr>
            <a:fld id="{81D60167-4931-47E6-BA6A-407CBD079E47}" type="slidenum">
              <a:rPr lang="en-IN" spc="-25" smtClean="0"/>
              <a:t>‹#›</a:t>
            </a:fld>
            <a:endParaRPr lang="en-IN" spc="-25" dirty="0"/>
          </a:p>
        </p:txBody>
      </p:sp>
    </p:spTree>
    <p:extLst>
      <p:ext uri="{BB962C8B-B14F-4D97-AF65-F5344CB8AC3E}">
        <p14:creationId xmlns:p14="http://schemas.microsoft.com/office/powerpoint/2010/main" val="3302860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marL="12700">
              <a:lnSpc>
                <a:spcPts val="1845"/>
              </a:lnSpc>
            </a:pPr>
            <a:r>
              <a:rPr lang="en-US" cap="small" spc="-75"/>
              <a:t>Dept.</a:t>
            </a:r>
            <a:r>
              <a:rPr lang="en-US" cap="small" spc="-10"/>
              <a:t> </a:t>
            </a:r>
            <a:r>
              <a:rPr lang="en-US" cap="small" spc="-100"/>
              <a:t>of</a:t>
            </a:r>
            <a:r>
              <a:rPr lang="en-US" cap="small" spc="25"/>
              <a:t> </a:t>
            </a:r>
            <a:r>
              <a:rPr lang="en-US" cap="small" spc="-114"/>
              <a:t>Computer</a:t>
            </a:r>
            <a:r>
              <a:rPr lang="en-US" cap="small" spc="50"/>
              <a:t> </a:t>
            </a:r>
            <a:r>
              <a:rPr lang="en-US" cap="small" spc="-95"/>
              <a:t>Science</a:t>
            </a:r>
            <a:r>
              <a:rPr lang="en-US" cap="small" spc="50"/>
              <a:t> </a:t>
            </a:r>
            <a:r>
              <a:rPr lang="en-US" cap="small" spc="-130"/>
              <a:t>and</a:t>
            </a:r>
            <a:r>
              <a:rPr lang="en-US" cap="small" spc="45"/>
              <a:t> </a:t>
            </a:r>
            <a:r>
              <a:rPr lang="en-US" cap="small" spc="-110"/>
              <a:t>Engineering</a:t>
            </a:r>
            <a:r>
              <a:rPr lang="en-US" cap="small" spc="45"/>
              <a:t> </a:t>
            </a:r>
            <a:r>
              <a:rPr lang="en-US" cap="small" spc="-70"/>
              <a:t>(Data</a:t>
            </a:r>
            <a:r>
              <a:rPr lang="en-US" cap="small" spc="45"/>
              <a:t> </a:t>
            </a:r>
            <a:r>
              <a:rPr lang="en-US" cap="small" spc="-95"/>
              <a:t>Science)</a:t>
            </a:r>
            <a:endParaRPr lang="en-US" cap="small" spc="-95" dirty="0"/>
          </a:p>
        </p:txBody>
      </p:sp>
      <p:sp>
        <p:nvSpPr>
          <p:cNvPr id="6" name="Footer Placeholder 5"/>
          <p:cNvSpPr>
            <a:spLocks noGrp="1"/>
          </p:cNvSpPr>
          <p:nvPr>
            <p:ph type="ftr" sz="quarter" idx="11"/>
          </p:nvPr>
        </p:nvSpPr>
        <p:spPr/>
        <p:txBody>
          <a:bodyPr/>
          <a:lstStyle/>
          <a:p>
            <a:pPr marL="12700">
              <a:lnSpc>
                <a:spcPts val="1845"/>
              </a:lnSpc>
            </a:pPr>
            <a:r>
              <a:rPr lang="en-IN"/>
              <a:t>A</a:t>
            </a:r>
            <a:r>
              <a:rPr lang="en-IN" spc="-10"/>
              <a:t> </a:t>
            </a:r>
            <a:r>
              <a:rPr lang="en-IN"/>
              <a:t>-</a:t>
            </a:r>
            <a:r>
              <a:rPr lang="en-IN" spc="-5"/>
              <a:t> </a:t>
            </a:r>
            <a:r>
              <a:rPr lang="en-IN" spc="-25"/>
              <a:t>00</a:t>
            </a:r>
            <a:endParaRPr lang="en-IN" spc="-25" dirty="0"/>
          </a:p>
        </p:txBody>
      </p:sp>
      <p:sp>
        <p:nvSpPr>
          <p:cNvPr id="7" name="Slide Number Placeholder 6"/>
          <p:cNvSpPr>
            <a:spLocks noGrp="1"/>
          </p:cNvSpPr>
          <p:nvPr>
            <p:ph type="sldNum" sz="quarter" idx="12"/>
          </p:nvPr>
        </p:nvSpPr>
        <p:spPr/>
        <p:txBody>
          <a:bodyPr/>
          <a:lstStyle/>
          <a:p>
            <a:pPr marL="12700">
              <a:lnSpc>
                <a:spcPts val="1845"/>
              </a:lnSpc>
            </a:pPr>
            <a:fld id="{81D60167-4931-47E6-BA6A-407CBD079E47}" type="slidenum">
              <a:rPr lang="en-IN" spc="-25" smtClean="0"/>
              <a:t>‹#›</a:t>
            </a:fld>
            <a:endParaRPr lang="en-IN" spc="-25" dirty="0"/>
          </a:p>
        </p:txBody>
      </p:sp>
    </p:spTree>
    <p:extLst>
      <p:ext uri="{BB962C8B-B14F-4D97-AF65-F5344CB8AC3E}">
        <p14:creationId xmlns:p14="http://schemas.microsoft.com/office/powerpoint/2010/main" val="16020871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marL="12700">
              <a:lnSpc>
                <a:spcPts val="1845"/>
              </a:lnSpc>
            </a:pPr>
            <a:r>
              <a:rPr lang="en-US" cap="small" spc="-75"/>
              <a:t>Dept.</a:t>
            </a:r>
            <a:r>
              <a:rPr lang="en-US" cap="small" spc="-10"/>
              <a:t> </a:t>
            </a:r>
            <a:r>
              <a:rPr lang="en-US" cap="small" spc="-100"/>
              <a:t>of</a:t>
            </a:r>
            <a:r>
              <a:rPr lang="en-US" cap="small" spc="25"/>
              <a:t> </a:t>
            </a:r>
            <a:r>
              <a:rPr lang="en-US" cap="small" spc="-114"/>
              <a:t>Computer</a:t>
            </a:r>
            <a:r>
              <a:rPr lang="en-US" cap="small" spc="50"/>
              <a:t> </a:t>
            </a:r>
            <a:r>
              <a:rPr lang="en-US" cap="small" spc="-95"/>
              <a:t>Science</a:t>
            </a:r>
            <a:r>
              <a:rPr lang="en-US" cap="small" spc="50"/>
              <a:t> </a:t>
            </a:r>
            <a:r>
              <a:rPr lang="en-US" cap="small" spc="-130"/>
              <a:t>and</a:t>
            </a:r>
            <a:r>
              <a:rPr lang="en-US" cap="small" spc="45"/>
              <a:t> </a:t>
            </a:r>
            <a:r>
              <a:rPr lang="en-US" cap="small" spc="-110"/>
              <a:t>Engineering</a:t>
            </a:r>
            <a:r>
              <a:rPr lang="en-US" cap="small" spc="45"/>
              <a:t> </a:t>
            </a:r>
            <a:r>
              <a:rPr lang="en-US" cap="small" spc="-70"/>
              <a:t>(Data</a:t>
            </a:r>
            <a:r>
              <a:rPr lang="en-US" cap="small" spc="45"/>
              <a:t> </a:t>
            </a:r>
            <a:r>
              <a:rPr lang="en-US" cap="small" spc="-95"/>
              <a:t>Science)</a:t>
            </a:r>
            <a:endParaRPr lang="en-US" cap="small" spc="-95" dirty="0"/>
          </a:p>
        </p:txBody>
      </p:sp>
      <p:sp>
        <p:nvSpPr>
          <p:cNvPr id="8" name="Footer Placeholder 7"/>
          <p:cNvSpPr>
            <a:spLocks noGrp="1"/>
          </p:cNvSpPr>
          <p:nvPr>
            <p:ph type="ftr" sz="quarter" idx="11"/>
          </p:nvPr>
        </p:nvSpPr>
        <p:spPr/>
        <p:txBody>
          <a:bodyPr/>
          <a:lstStyle/>
          <a:p>
            <a:pPr marL="12700">
              <a:lnSpc>
                <a:spcPts val="1845"/>
              </a:lnSpc>
            </a:pPr>
            <a:r>
              <a:rPr lang="en-IN"/>
              <a:t>A</a:t>
            </a:r>
            <a:r>
              <a:rPr lang="en-IN" spc="-10"/>
              <a:t> </a:t>
            </a:r>
            <a:r>
              <a:rPr lang="en-IN"/>
              <a:t>-</a:t>
            </a:r>
            <a:r>
              <a:rPr lang="en-IN" spc="-5"/>
              <a:t> </a:t>
            </a:r>
            <a:r>
              <a:rPr lang="en-IN" spc="-25"/>
              <a:t>00</a:t>
            </a:r>
            <a:endParaRPr lang="en-IN" spc="-25" dirty="0"/>
          </a:p>
        </p:txBody>
      </p:sp>
      <p:sp>
        <p:nvSpPr>
          <p:cNvPr id="9" name="Slide Number Placeholder 8"/>
          <p:cNvSpPr>
            <a:spLocks noGrp="1"/>
          </p:cNvSpPr>
          <p:nvPr>
            <p:ph type="sldNum" sz="quarter" idx="12"/>
          </p:nvPr>
        </p:nvSpPr>
        <p:spPr/>
        <p:txBody>
          <a:bodyPr/>
          <a:lstStyle/>
          <a:p>
            <a:pPr marL="12700">
              <a:lnSpc>
                <a:spcPts val="1845"/>
              </a:lnSpc>
            </a:pPr>
            <a:fld id="{81D60167-4931-47E6-BA6A-407CBD079E47}" type="slidenum">
              <a:rPr lang="en-IN" spc="-25" smtClean="0"/>
              <a:t>‹#›</a:t>
            </a:fld>
            <a:endParaRPr lang="en-IN" spc="-25" dirty="0"/>
          </a:p>
        </p:txBody>
      </p:sp>
    </p:spTree>
    <p:extLst>
      <p:ext uri="{BB962C8B-B14F-4D97-AF65-F5344CB8AC3E}">
        <p14:creationId xmlns:p14="http://schemas.microsoft.com/office/powerpoint/2010/main" val="3582598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marL="12700">
              <a:lnSpc>
                <a:spcPts val="1845"/>
              </a:lnSpc>
            </a:pPr>
            <a:r>
              <a:rPr lang="en-US" cap="small" spc="-75"/>
              <a:t>Dept.</a:t>
            </a:r>
            <a:r>
              <a:rPr lang="en-US" cap="small" spc="-10"/>
              <a:t> </a:t>
            </a:r>
            <a:r>
              <a:rPr lang="en-US" cap="small" spc="-100"/>
              <a:t>of</a:t>
            </a:r>
            <a:r>
              <a:rPr lang="en-US" cap="small" spc="25"/>
              <a:t> </a:t>
            </a:r>
            <a:r>
              <a:rPr lang="en-US" cap="small" spc="-114"/>
              <a:t>Computer</a:t>
            </a:r>
            <a:r>
              <a:rPr lang="en-US" cap="small" spc="50"/>
              <a:t> </a:t>
            </a:r>
            <a:r>
              <a:rPr lang="en-US" cap="small" spc="-95"/>
              <a:t>Science</a:t>
            </a:r>
            <a:r>
              <a:rPr lang="en-US" cap="small" spc="50"/>
              <a:t> </a:t>
            </a:r>
            <a:r>
              <a:rPr lang="en-US" cap="small" spc="-130"/>
              <a:t>and</a:t>
            </a:r>
            <a:r>
              <a:rPr lang="en-US" cap="small" spc="45"/>
              <a:t> </a:t>
            </a:r>
            <a:r>
              <a:rPr lang="en-US" cap="small" spc="-110"/>
              <a:t>Engineering</a:t>
            </a:r>
            <a:r>
              <a:rPr lang="en-US" cap="small" spc="45"/>
              <a:t> </a:t>
            </a:r>
            <a:r>
              <a:rPr lang="en-US" cap="small" spc="-70"/>
              <a:t>(Data</a:t>
            </a:r>
            <a:r>
              <a:rPr lang="en-US" cap="small" spc="45"/>
              <a:t> </a:t>
            </a:r>
            <a:r>
              <a:rPr lang="en-US" cap="small" spc="-95"/>
              <a:t>Science)</a:t>
            </a:r>
            <a:endParaRPr lang="en-US" cap="small" spc="-95" dirty="0"/>
          </a:p>
        </p:txBody>
      </p:sp>
      <p:sp>
        <p:nvSpPr>
          <p:cNvPr id="4" name="Footer Placeholder 3"/>
          <p:cNvSpPr>
            <a:spLocks noGrp="1"/>
          </p:cNvSpPr>
          <p:nvPr>
            <p:ph type="ftr" sz="quarter" idx="11"/>
          </p:nvPr>
        </p:nvSpPr>
        <p:spPr/>
        <p:txBody>
          <a:bodyPr/>
          <a:lstStyle/>
          <a:p>
            <a:pPr marL="12700">
              <a:lnSpc>
                <a:spcPts val="1845"/>
              </a:lnSpc>
            </a:pPr>
            <a:r>
              <a:rPr lang="en-IN"/>
              <a:t>A</a:t>
            </a:r>
            <a:r>
              <a:rPr lang="en-IN" spc="-10"/>
              <a:t> </a:t>
            </a:r>
            <a:r>
              <a:rPr lang="en-IN"/>
              <a:t>-</a:t>
            </a:r>
            <a:r>
              <a:rPr lang="en-IN" spc="-5"/>
              <a:t> </a:t>
            </a:r>
            <a:r>
              <a:rPr lang="en-IN" spc="-25"/>
              <a:t>00</a:t>
            </a:r>
            <a:endParaRPr lang="en-IN" spc="-25" dirty="0"/>
          </a:p>
        </p:txBody>
      </p:sp>
      <p:sp>
        <p:nvSpPr>
          <p:cNvPr id="5" name="Slide Number Placeholder 4"/>
          <p:cNvSpPr>
            <a:spLocks noGrp="1"/>
          </p:cNvSpPr>
          <p:nvPr>
            <p:ph type="sldNum" sz="quarter" idx="12"/>
          </p:nvPr>
        </p:nvSpPr>
        <p:spPr/>
        <p:txBody>
          <a:bodyPr/>
          <a:lstStyle/>
          <a:p>
            <a:pPr marL="12700">
              <a:lnSpc>
                <a:spcPts val="1845"/>
              </a:lnSpc>
            </a:pPr>
            <a:fld id="{81D60167-4931-47E6-BA6A-407CBD079E47}" type="slidenum">
              <a:rPr lang="en-IN" spc="-25" smtClean="0"/>
              <a:t>‹#›</a:t>
            </a:fld>
            <a:endParaRPr lang="en-IN" spc="-25" dirty="0"/>
          </a:p>
        </p:txBody>
      </p:sp>
    </p:spTree>
    <p:extLst>
      <p:ext uri="{BB962C8B-B14F-4D97-AF65-F5344CB8AC3E}">
        <p14:creationId xmlns:p14="http://schemas.microsoft.com/office/powerpoint/2010/main" val="3933143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pPr marL="12700">
              <a:lnSpc>
                <a:spcPts val="1845"/>
              </a:lnSpc>
            </a:pPr>
            <a:r>
              <a:rPr lang="en-US" cap="small" spc="-75"/>
              <a:t>Dept.</a:t>
            </a:r>
            <a:r>
              <a:rPr lang="en-US" cap="small" spc="-10"/>
              <a:t> </a:t>
            </a:r>
            <a:r>
              <a:rPr lang="en-US" cap="small" spc="-100"/>
              <a:t>of</a:t>
            </a:r>
            <a:r>
              <a:rPr lang="en-US" cap="small" spc="25"/>
              <a:t> </a:t>
            </a:r>
            <a:r>
              <a:rPr lang="en-US" cap="small" spc="-114"/>
              <a:t>Computer</a:t>
            </a:r>
            <a:r>
              <a:rPr lang="en-US" cap="small" spc="50"/>
              <a:t> </a:t>
            </a:r>
            <a:r>
              <a:rPr lang="en-US" cap="small" spc="-95"/>
              <a:t>Science</a:t>
            </a:r>
            <a:r>
              <a:rPr lang="en-US" cap="small" spc="50"/>
              <a:t> </a:t>
            </a:r>
            <a:r>
              <a:rPr lang="en-US" cap="small" spc="-130"/>
              <a:t>and</a:t>
            </a:r>
            <a:r>
              <a:rPr lang="en-US" cap="small" spc="45"/>
              <a:t> </a:t>
            </a:r>
            <a:r>
              <a:rPr lang="en-US" cap="small" spc="-110"/>
              <a:t>Engineering</a:t>
            </a:r>
            <a:r>
              <a:rPr lang="en-US" cap="small" spc="45"/>
              <a:t> </a:t>
            </a:r>
            <a:r>
              <a:rPr lang="en-US" cap="small" spc="-70"/>
              <a:t>(Data</a:t>
            </a:r>
            <a:r>
              <a:rPr lang="en-US" cap="small" spc="45"/>
              <a:t> </a:t>
            </a:r>
            <a:r>
              <a:rPr lang="en-US" cap="small" spc="-95"/>
              <a:t>Science)</a:t>
            </a:r>
            <a:endParaRPr lang="en-US" cap="small" spc="-95" dirty="0"/>
          </a:p>
        </p:txBody>
      </p:sp>
      <p:sp>
        <p:nvSpPr>
          <p:cNvPr id="3" name="Footer Placeholder 2"/>
          <p:cNvSpPr>
            <a:spLocks noGrp="1"/>
          </p:cNvSpPr>
          <p:nvPr>
            <p:ph type="ftr" sz="quarter" idx="11"/>
          </p:nvPr>
        </p:nvSpPr>
        <p:spPr/>
        <p:txBody>
          <a:bodyPr/>
          <a:lstStyle/>
          <a:p>
            <a:pPr marL="12700">
              <a:lnSpc>
                <a:spcPts val="1845"/>
              </a:lnSpc>
            </a:pPr>
            <a:r>
              <a:rPr lang="en-IN"/>
              <a:t>A</a:t>
            </a:r>
            <a:r>
              <a:rPr lang="en-IN" spc="-10"/>
              <a:t> </a:t>
            </a:r>
            <a:r>
              <a:rPr lang="en-IN"/>
              <a:t>-</a:t>
            </a:r>
            <a:r>
              <a:rPr lang="en-IN" spc="-5"/>
              <a:t> </a:t>
            </a:r>
            <a:r>
              <a:rPr lang="en-IN" spc="-25"/>
              <a:t>00</a:t>
            </a:r>
            <a:endParaRPr lang="en-IN" spc="-25" dirty="0"/>
          </a:p>
        </p:txBody>
      </p:sp>
      <p:sp>
        <p:nvSpPr>
          <p:cNvPr id="4" name="Slide Number Placeholder 3"/>
          <p:cNvSpPr>
            <a:spLocks noGrp="1"/>
          </p:cNvSpPr>
          <p:nvPr>
            <p:ph type="sldNum" sz="quarter" idx="12"/>
          </p:nvPr>
        </p:nvSpPr>
        <p:spPr/>
        <p:txBody>
          <a:bodyPr/>
          <a:lstStyle/>
          <a:p>
            <a:pPr marL="12700">
              <a:lnSpc>
                <a:spcPts val="1845"/>
              </a:lnSpc>
            </a:pPr>
            <a:fld id="{81D60167-4931-47E6-BA6A-407CBD079E47}" type="slidenum">
              <a:rPr lang="en-IN" spc="-25" smtClean="0"/>
              <a:t>‹#›</a:t>
            </a:fld>
            <a:endParaRPr lang="en-IN" spc="-25" dirty="0"/>
          </a:p>
        </p:txBody>
      </p:sp>
    </p:spTree>
    <p:extLst>
      <p:ext uri="{BB962C8B-B14F-4D97-AF65-F5344CB8AC3E}">
        <p14:creationId xmlns:p14="http://schemas.microsoft.com/office/powerpoint/2010/main" val="16598097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12700">
              <a:lnSpc>
                <a:spcPts val="1845"/>
              </a:lnSpc>
            </a:pPr>
            <a:r>
              <a:rPr lang="en-US" cap="small" spc="-75"/>
              <a:t>Dept.</a:t>
            </a:r>
            <a:r>
              <a:rPr lang="en-US" cap="small" spc="-10"/>
              <a:t> </a:t>
            </a:r>
            <a:r>
              <a:rPr lang="en-US" cap="small" spc="-100"/>
              <a:t>of</a:t>
            </a:r>
            <a:r>
              <a:rPr lang="en-US" cap="small" spc="25"/>
              <a:t> </a:t>
            </a:r>
            <a:r>
              <a:rPr lang="en-US" cap="small" spc="-114"/>
              <a:t>Computer</a:t>
            </a:r>
            <a:r>
              <a:rPr lang="en-US" cap="small" spc="50"/>
              <a:t> </a:t>
            </a:r>
            <a:r>
              <a:rPr lang="en-US" cap="small" spc="-95"/>
              <a:t>Science</a:t>
            </a:r>
            <a:r>
              <a:rPr lang="en-US" cap="small" spc="50"/>
              <a:t> </a:t>
            </a:r>
            <a:r>
              <a:rPr lang="en-US" cap="small" spc="-130"/>
              <a:t>and</a:t>
            </a:r>
            <a:r>
              <a:rPr lang="en-US" cap="small" spc="45"/>
              <a:t> </a:t>
            </a:r>
            <a:r>
              <a:rPr lang="en-US" cap="small" spc="-110"/>
              <a:t>Engineering</a:t>
            </a:r>
            <a:r>
              <a:rPr lang="en-US" cap="small" spc="45"/>
              <a:t> </a:t>
            </a:r>
            <a:r>
              <a:rPr lang="en-US" cap="small" spc="-70"/>
              <a:t>(Data</a:t>
            </a:r>
            <a:r>
              <a:rPr lang="en-US" cap="small" spc="45"/>
              <a:t> </a:t>
            </a:r>
            <a:r>
              <a:rPr lang="en-US" cap="small" spc="-95"/>
              <a:t>Science)</a:t>
            </a:r>
            <a:endParaRPr lang="en-US" cap="small" spc="-95" dirty="0"/>
          </a:p>
        </p:txBody>
      </p:sp>
      <p:sp>
        <p:nvSpPr>
          <p:cNvPr id="6" name="Footer Placeholder 5"/>
          <p:cNvSpPr>
            <a:spLocks noGrp="1"/>
          </p:cNvSpPr>
          <p:nvPr>
            <p:ph type="ftr" sz="quarter" idx="11"/>
          </p:nvPr>
        </p:nvSpPr>
        <p:spPr/>
        <p:txBody>
          <a:bodyPr/>
          <a:lstStyle/>
          <a:p>
            <a:pPr marL="12700">
              <a:lnSpc>
                <a:spcPts val="1845"/>
              </a:lnSpc>
            </a:pPr>
            <a:r>
              <a:rPr lang="en-IN"/>
              <a:t>A</a:t>
            </a:r>
            <a:r>
              <a:rPr lang="en-IN" spc="-10"/>
              <a:t> </a:t>
            </a:r>
            <a:r>
              <a:rPr lang="en-IN"/>
              <a:t>-</a:t>
            </a:r>
            <a:r>
              <a:rPr lang="en-IN" spc="-5"/>
              <a:t> </a:t>
            </a:r>
            <a:r>
              <a:rPr lang="en-IN" spc="-25"/>
              <a:t>00</a:t>
            </a:r>
            <a:endParaRPr lang="en-IN" spc="-25" dirty="0"/>
          </a:p>
        </p:txBody>
      </p:sp>
      <p:sp>
        <p:nvSpPr>
          <p:cNvPr id="7" name="Slide Number Placeholder 6"/>
          <p:cNvSpPr>
            <a:spLocks noGrp="1"/>
          </p:cNvSpPr>
          <p:nvPr>
            <p:ph type="sldNum" sz="quarter" idx="12"/>
          </p:nvPr>
        </p:nvSpPr>
        <p:spPr/>
        <p:txBody>
          <a:bodyPr/>
          <a:lstStyle/>
          <a:p>
            <a:pPr marL="12700">
              <a:lnSpc>
                <a:spcPts val="1845"/>
              </a:lnSpc>
            </a:pPr>
            <a:fld id="{81D60167-4931-47E6-BA6A-407CBD079E47}" type="slidenum">
              <a:rPr lang="en-IN" spc="-25" smtClean="0"/>
              <a:t>‹#›</a:t>
            </a:fld>
            <a:endParaRPr lang="en-IN" spc="-25" dirty="0"/>
          </a:p>
        </p:txBody>
      </p:sp>
    </p:spTree>
    <p:extLst>
      <p:ext uri="{BB962C8B-B14F-4D97-AF65-F5344CB8AC3E}">
        <p14:creationId xmlns:p14="http://schemas.microsoft.com/office/powerpoint/2010/main" val="742517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12700">
              <a:lnSpc>
                <a:spcPts val="1845"/>
              </a:lnSpc>
            </a:pPr>
            <a:r>
              <a:rPr lang="en-US" cap="small" spc="-75"/>
              <a:t>Dept.</a:t>
            </a:r>
            <a:r>
              <a:rPr lang="en-US" cap="small" spc="-10"/>
              <a:t> </a:t>
            </a:r>
            <a:r>
              <a:rPr lang="en-US" cap="small" spc="-100"/>
              <a:t>of</a:t>
            </a:r>
            <a:r>
              <a:rPr lang="en-US" cap="small" spc="25"/>
              <a:t> </a:t>
            </a:r>
            <a:r>
              <a:rPr lang="en-US" cap="small" spc="-114"/>
              <a:t>Computer</a:t>
            </a:r>
            <a:r>
              <a:rPr lang="en-US" cap="small" spc="50"/>
              <a:t> </a:t>
            </a:r>
            <a:r>
              <a:rPr lang="en-US" cap="small" spc="-95"/>
              <a:t>Science</a:t>
            </a:r>
            <a:r>
              <a:rPr lang="en-US" cap="small" spc="50"/>
              <a:t> </a:t>
            </a:r>
            <a:r>
              <a:rPr lang="en-US" cap="small" spc="-130"/>
              <a:t>and</a:t>
            </a:r>
            <a:r>
              <a:rPr lang="en-US" cap="small" spc="45"/>
              <a:t> </a:t>
            </a:r>
            <a:r>
              <a:rPr lang="en-US" cap="small" spc="-110"/>
              <a:t>Engineering</a:t>
            </a:r>
            <a:r>
              <a:rPr lang="en-US" cap="small" spc="45"/>
              <a:t> </a:t>
            </a:r>
            <a:r>
              <a:rPr lang="en-US" cap="small" spc="-70"/>
              <a:t>(Data</a:t>
            </a:r>
            <a:r>
              <a:rPr lang="en-US" cap="small" spc="45"/>
              <a:t> </a:t>
            </a:r>
            <a:r>
              <a:rPr lang="en-US" cap="small" spc="-95"/>
              <a:t>Science)</a:t>
            </a:r>
            <a:endParaRPr lang="en-US" cap="small" spc="-95" dirty="0"/>
          </a:p>
        </p:txBody>
      </p:sp>
      <p:sp>
        <p:nvSpPr>
          <p:cNvPr id="6" name="Footer Placeholder 5"/>
          <p:cNvSpPr>
            <a:spLocks noGrp="1"/>
          </p:cNvSpPr>
          <p:nvPr>
            <p:ph type="ftr" sz="quarter" idx="11"/>
          </p:nvPr>
        </p:nvSpPr>
        <p:spPr/>
        <p:txBody>
          <a:bodyPr/>
          <a:lstStyle/>
          <a:p>
            <a:pPr marL="12700">
              <a:lnSpc>
                <a:spcPts val="1845"/>
              </a:lnSpc>
            </a:pPr>
            <a:r>
              <a:rPr lang="en-IN"/>
              <a:t>A</a:t>
            </a:r>
            <a:r>
              <a:rPr lang="en-IN" spc="-10"/>
              <a:t> </a:t>
            </a:r>
            <a:r>
              <a:rPr lang="en-IN"/>
              <a:t>-</a:t>
            </a:r>
            <a:r>
              <a:rPr lang="en-IN" spc="-5"/>
              <a:t> </a:t>
            </a:r>
            <a:r>
              <a:rPr lang="en-IN" spc="-25"/>
              <a:t>00</a:t>
            </a:r>
            <a:endParaRPr lang="en-IN" spc="-25" dirty="0"/>
          </a:p>
        </p:txBody>
      </p:sp>
      <p:sp>
        <p:nvSpPr>
          <p:cNvPr id="7" name="Slide Number Placeholder 6"/>
          <p:cNvSpPr>
            <a:spLocks noGrp="1"/>
          </p:cNvSpPr>
          <p:nvPr>
            <p:ph type="sldNum" sz="quarter" idx="12"/>
          </p:nvPr>
        </p:nvSpPr>
        <p:spPr/>
        <p:txBody>
          <a:bodyPr/>
          <a:lstStyle/>
          <a:p>
            <a:pPr marL="12700">
              <a:lnSpc>
                <a:spcPts val="1845"/>
              </a:lnSpc>
            </a:pPr>
            <a:fld id="{81D60167-4931-47E6-BA6A-407CBD079E47}" type="slidenum">
              <a:rPr lang="en-IN" spc="-25" smtClean="0"/>
              <a:t>‹#›</a:t>
            </a:fld>
            <a:endParaRPr lang="en-IN" spc="-25" dirty="0"/>
          </a:p>
        </p:txBody>
      </p:sp>
    </p:spTree>
    <p:extLst>
      <p:ext uri="{BB962C8B-B14F-4D97-AF65-F5344CB8AC3E}">
        <p14:creationId xmlns:p14="http://schemas.microsoft.com/office/powerpoint/2010/main" val="21935203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12700">
              <a:lnSpc>
                <a:spcPts val="1845"/>
              </a:lnSpc>
            </a:pPr>
            <a:r>
              <a:rPr lang="en-US" cap="small" spc="-75"/>
              <a:t>Dept.</a:t>
            </a:r>
            <a:r>
              <a:rPr lang="en-US" cap="small" spc="-10"/>
              <a:t> </a:t>
            </a:r>
            <a:r>
              <a:rPr lang="en-US" cap="small" spc="-100"/>
              <a:t>of</a:t>
            </a:r>
            <a:r>
              <a:rPr lang="en-US" cap="small" spc="25"/>
              <a:t> </a:t>
            </a:r>
            <a:r>
              <a:rPr lang="en-US" cap="small" spc="-114"/>
              <a:t>Computer</a:t>
            </a:r>
            <a:r>
              <a:rPr lang="en-US" cap="small" spc="50"/>
              <a:t> </a:t>
            </a:r>
            <a:r>
              <a:rPr lang="en-US" cap="small" spc="-95"/>
              <a:t>Science</a:t>
            </a:r>
            <a:r>
              <a:rPr lang="en-US" cap="small" spc="50"/>
              <a:t> </a:t>
            </a:r>
            <a:r>
              <a:rPr lang="en-US" cap="small" spc="-130"/>
              <a:t>and</a:t>
            </a:r>
            <a:r>
              <a:rPr lang="en-US" cap="small" spc="45"/>
              <a:t> </a:t>
            </a:r>
            <a:r>
              <a:rPr lang="en-US" cap="small" spc="-110"/>
              <a:t>Engineering</a:t>
            </a:r>
            <a:r>
              <a:rPr lang="en-US" cap="small" spc="45"/>
              <a:t> </a:t>
            </a:r>
            <a:r>
              <a:rPr lang="en-US" cap="small" spc="-70"/>
              <a:t>(Data</a:t>
            </a:r>
            <a:r>
              <a:rPr lang="en-US" cap="small" spc="45"/>
              <a:t> </a:t>
            </a:r>
            <a:r>
              <a:rPr lang="en-US" cap="small" spc="-95"/>
              <a:t>Science)</a:t>
            </a:r>
            <a:endParaRPr lang="en-US" cap="small" spc="-95" dirty="0"/>
          </a:p>
        </p:txBody>
      </p:sp>
      <p:sp>
        <p:nvSpPr>
          <p:cNvPr id="6" name="Footer Placeholder 5"/>
          <p:cNvSpPr>
            <a:spLocks noGrp="1"/>
          </p:cNvSpPr>
          <p:nvPr>
            <p:ph type="ftr" sz="quarter" idx="11"/>
          </p:nvPr>
        </p:nvSpPr>
        <p:spPr/>
        <p:txBody>
          <a:bodyPr/>
          <a:lstStyle/>
          <a:p>
            <a:pPr marL="12700">
              <a:lnSpc>
                <a:spcPts val="1845"/>
              </a:lnSpc>
            </a:pPr>
            <a:r>
              <a:rPr lang="en-IN"/>
              <a:t>A</a:t>
            </a:r>
            <a:r>
              <a:rPr lang="en-IN" spc="-10"/>
              <a:t> </a:t>
            </a:r>
            <a:r>
              <a:rPr lang="en-IN"/>
              <a:t>-</a:t>
            </a:r>
            <a:r>
              <a:rPr lang="en-IN" spc="-5"/>
              <a:t> </a:t>
            </a:r>
            <a:r>
              <a:rPr lang="en-IN" spc="-25"/>
              <a:t>00</a:t>
            </a:r>
            <a:endParaRPr lang="en-IN" spc="-25" dirty="0"/>
          </a:p>
        </p:txBody>
      </p:sp>
      <p:sp>
        <p:nvSpPr>
          <p:cNvPr id="7" name="Slide Number Placeholder 6"/>
          <p:cNvSpPr>
            <a:spLocks noGrp="1"/>
          </p:cNvSpPr>
          <p:nvPr>
            <p:ph type="sldNum" sz="quarter" idx="12"/>
          </p:nvPr>
        </p:nvSpPr>
        <p:spPr/>
        <p:txBody>
          <a:bodyPr/>
          <a:lstStyle/>
          <a:p>
            <a:pPr marL="12700">
              <a:lnSpc>
                <a:spcPts val="1845"/>
              </a:lnSpc>
            </a:pPr>
            <a:fld id="{81D60167-4931-47E6-BA6A-407CBD079E47}" type="slidenum">
              <a:rPr lang="en-IN" spc="-25" smtClean="0"/>
              <a:t>‹#›</a:t>
            </a:fld>
            <a:endParaRPr lang="en-IN" spc="-25" dirty="0"/>
          </a:p>
        </p:txBody>
      </p:sp>
    </p:spTree>
    <p:extLst>
      <p:ext uri="{BB962C8B-B14F-4D97-AF65-F5344CB8AC3E}">
        <p14:creationId xmlns:p14="http://schemas.microsoft.com/office/powerpoint/2010/main" val="15585932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12700">
              <a:lnSpc>
                <a:spcPts val="1845"/>
              </a:lnSpc>
            </a:pPr>
            <a:r>
              <a:rPr lang="en-US" cap="small" spc="-75"/>
              <a:t>Dept.</a:t>
            </a:r>
            <a:r>
              <a:rPr lang="en-US" cap="small" spc="-10"/>
              <a:t> </a:t>
            </a:r>
            <a:r>
              <a:rPr lang="en-US" cap="small" spc="-100"/>
              <a:t>of</a:t>
            </a:r>
            <a:r>
              <a:rPr lang="en-US" cap="small" spc="25"/>
              <a:t> </a:t>
            </a:r>
            <a:r>
              <a:rPr lang="en-US" cap="small" spc="-114"/>
              <a:t>Computer</a:t>
            </a:r>
            <a:r>
              <a:rPr lang="en-US" cap="small" spc="50"/>
              <a:t> </a:t>
            </a:r>
            <a:r>
              <a:rPr lang="en-US" cap="small" spc="-95"/>
              <a:t>Science</a:t>
            </a:r>
            <a:r>
              <a:rPr lang="en-US" cap="small" spc="50"/>
              <a:t> </a:t>
            </a:r>
            <a:r>
              <a:rPr lang="en-US" cap="small" spc="-130"/>
              <a:t>and</a:t>
            </a:r>
            <a:r>
              <a:rPr lang="en-US" cap="small" spc="45"/>
              <a:t> </a:t>
            </a:r>
            <a:r>
              <a:rPr lang="en-US" cap="small" spc="-110"/>
              <a:t>Engineering</a:t>
            </a:r>
            <a:r>
              <a:rPr lang="en-US" cap="small" spc="45"/>
              <a:t> </a:t>
            </a:r>
            <a:r>
              <a:rPr lang="en-US" cap="small" spc="-70"/>
              <a:t>(Data</a:t>
            </a:r>
            <a:r>
              <a:rPr lang="en-US" cap="small" spc="45"/>
              <a:t> </a:t>
            </a:r>
            <a:r>
              <a:rPr lang="en-US" cap="small" spc="-95"/>
              <a:t>Science)</a:t>
            </a:r>
            <a:endParaRPr lang="en-US" cap="small" spc="-95" dirty="0"/>
          </a:p>
        </p:txBody>
      </p:sp>
      <p:sp>
        <p:nvSpPr>
          <p:cNvPr id="6" name="Footer Placeholder 5"/>
          <p:cNvSpPr>
            <a:spLocks noGrp="1"/>
          </p:cNvSpPr>
          <p:nvPr>
            <p:ph type="ftr" sz="quarter" idx="11"/>
          </p:nvPr>
        </p:nvSpPr>
        <p:spPr/>
        <p:txBody>
          <a:bodyPr/>
          <a:lstStyle/>
          <a:p>
            <a:pPr marL="12700">
              <a:lnSpc>
                <a:spcPts val="1845"/>
              </a:lnSpc>
            </a:pPr>
            <a:r>
              <a:rPr lang="en-IN"/>
              <a:t>A</a:t>
            </a:r>
            <a:r>
              <a:rPr lang="en-IN" spc="-10"/>
              <a:t> </a:t>
            </a:r>
            <a:r>
              <a:rPr lang="en-IN"/>
              <a:t>-</a:t>
            </a:r>
            <a:r>
              <a:rPr lang="en-IN" spc="-5"/>
              <a:t> </a:t>
            </a:r>
            <a:r>
              <a:rPr lang="en-IN" spc="-25"/>
              <a:t>00</a:t>
            </a:r>
            <a:endParaRPr lang="en-IN" spc="-25" dirty="0"/>
          </a:p>
        </p:txBody>
      </p:sp>
      <p:sp>
        <p:nvSpPr>
          <p:cNvPr id="7" name="Slide Number Placeholder 6"/>
          <p:cNvSpPr>
            <a:spLocks noGrp="1"/>
          </p:cNvSpPr>
          <p:nvPr>
            <p:ph type="sldNum" sz="quarter" idx="12"/>
          </p:nvPr>
        </p:nvSpPr>
        <p:spPr/>
        <p:txBody>
          <a:bodyPr/>
          <a:lstStyle/>
          <a:p>
            <a:pPr marL="12700">
              <a:lnSpc>
                <a:spcPts val="1845"/>
              </a:lnSpc>
            </a:pPr>
            <a:fld id="{81D60167-4931-47E6-BA6A-407CBD079E47}" type="slidenum">
              <a:rPr lang="en-IN" spc="-25" smtClean="0"/>
              <a:t>‹#›</a:t>
            </a:fld>
            <a:endParaRPr lang="en-IN" spc="-25" dirty="0"/>
          </a:p>
        </p:txBody>
      </p:sp>
    </p:spTree>
    <p:extLst>
      <p:ext uri="{BB962C8B-B14F-4D97-AF65-F5344CB8AC3E}">
        <p14:creationId xmlns:p14="http://schemas.microsoft.com/office/powerpoint/2010/main" val="6057475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12700">
              <a:lnSpc>
                <a:spcPts val="1845"/>
              </a:lnSpc>
            </a:pPr>
            <a:r>
              <a:rPr lang="en-US" cap="small" spc="-75"/>
              <a:t>Dept.</a:t>
            </a:r>
            <a:r>
              <a:rPr lang="en-US" cap="small" spc="-10"/>
              <a:t> </a:t>
            </a:r>
            <a:r>
              <a:rPr lang="en-US" cap="small" spc="-100"/>
              <a:t>of</a:t>
            </a:r>
            <a:r>
              <a:rPr lang="en-US" cap="small" spc="25"/>
              <a:t> </a:t>
            </a:r>
            <a:r>
              <a:rPr lang="en-US" cap="small" spc="-114"/>
              <a:t>Computer</a:t>
            </a:r>
            <a:r>
              <a:rPr lang="en-US" cap="small" spc="50"/>
              <a:t> </a:t>
            </a:r>
            <a:r>
              <a:rPr lang="en-US" cap="small" spc="-95"/>
              <a:t>Science</a:t>
            </a:r>
            <a:r>
              <a:rPr lang="en-US" cap="small" spc="50"/>
              <a:t> </a:t>
            </a:r>
            <a:r>
              <a:rPr lang="en-US" cap="small" spc="-130"/>
              <a:t>and</a:t>
            </a:r>
            <a:r>
              <a:rPr lang="en-US" cap="small" spc="45"/>
              <a:t> </a:t>
            </a:r>
            <a:r>
              <a:rPr lang="en-US" cap="small" spc="-110"/>
              <a:t>Engineering</a:t>
            </a:r>
            <a:r>
              <a:rPr lang="en-US" cap="small" spc="45"/>
              <a:t> </a:t>
            </a:r>
            <a:r>
              <a:rPr lang="en-US" cap="small" spc="-70"/>
              <a:t>(Data</a:t>
            </a:r>
            <a:r>
              <a:rPr lang="en-US" cap="small" spc="45"/>
              <a:t> </a:t>
            </a:r>
            <a:r>
              <a:rPr lang="en-US" cap="small" spc="-95"/>
              <a:t>Science)</a:t>
            </a:r>
            <a:endParaRPr lang="en-US" cap="small" spc="-95" dirty="0"/>
          </a:p>
        </p:txBody>
      </p:sp>
      <p:sp>
        <p:nvSpPr>
          <p:cNvPr id="6" name="Footer Placeholder 5"/>
          <p:cNvSpPr>
            <a:spLocks noGrp="1"/>
          </p:cNvSpPr>
          <p:nvPr>
            <p:ph type="ftr" sz="quarter" idx="11"/>
          </p:nvPr>
        </p:nvSpPr>
        <p:spPr/>
        <p:txBody>
          <a:bodyPr/>
          <a:lstStyle/>
          <a:p>
            <a:pPr marL="12700">
              <a:lnSpc>
                <a:spcPts val="1845"/>
              </a:lnSpc>
            </a:pPr>
            <a:r>
              <a:rPr lang="en-IN"/>
              <a:t>A</a:t>
            </a:r>
            <a:r>
              <a:rPr lang="en-IN" spc="-10"/>
              <a:t> </a:t>
            </a:r>
            <a:r>
              <a:rPr lang="en-IN"/>
              <a:t>-</a:t>
            </a:r>
            <a:r>
              <a:rPr lang="en-IN" spc="-5"/>
              <a:t> </a:t>
            </a:r>
            <a:r>
              <a:rPr lang="en-IN" spc="-25"/>
              <a:t>00</a:t>
            </a:r>
            <a:endParaRPr lang="en-IN" spc="-25" dirty="0"/>
          </a:p>
        </p:txBody>
      </p:sp>
      <p:sp>
        <p:nvSpPr>
          <p:cNvPr id="7" name="Slide Number Placeholder 6"/>
          <p:cNvSpPr>
            <a:spLocks noGrp="1"/>
          </p:cNvSpPr>
          <p:nvPr>
            <p:ph type="sldNum" sz="quarter" idx="12"/>
          </p:nvPr>
        </p:nvSpPr>
        <p:spPr/>
        <p:txBody>
          <a:bodyPr/>
          <a:lstStyle/>
          <a:p>
            <a:pPr marL="12700">
              <a:lnSpc>
                <a:spcPts val="1845"/>
              </a:lnSpc>
            </a:pPr>
            <a:fld id="{81D60167-4931-47E6-BA6A-407CBD079E47}" type="slidenum">
              <a:rPr lang="en-IN" spc="-25" smtClean="0"/>
              <a:t>‹#›</a:t>
            </a:fld>
            <a:endParaRPr lang="en-IN" spc="-25"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9089510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12700">
              <a:lnSpc>
                <a:spcPts val="1845"/>
              </a:lnSpc>
            </a:pPr>
            <a:r>
              <a:rPr lang="en-US" cap="small" spc="-75"/>
              <a:t>Dept.</a:t>
            </a:r>
            <a:r>
              <a:rPr lang="en-US" cap="small" spc="-10"/>
              <a:t> </a:t>
            </a:r>
            <a:r>
              <a:rPr lang="en-US" cap="small" spc="-100"/>
              <a:t>of</a:t>
            </a:r>
            <a:r>
              <a:rPr lang="en-US" cap="small" spc="25"/>
              <a:t> </a:t>
            </a:r>
            <a:r>
              <a:rPr lang="en-US" cap="small" spc="-114"/>
              <a:t>Computer</a:t>
            </a:r>
            <a:r>
              <a:rPr lang="en-US" cap="small" spc="50"/>
              <a:t> </a:t>
            </a:r>
            <a:r>
              <a:rPr lang="en-US" cap="small" spc="-95"/>
              <a:t>Science</a:t>
            </a:r>
            <a:r>
              <a:rPr lang="en-US" cap="small" spc="50"/>
              <a:t> </a:t>
            </a:r>
            <a:r>
              <a:rPr lang="en-US" cap="small" spc="-130"/>
              <a:t>and</a:t>
            </a:r>
            <a:r>
              <a:rPr lang="en-US" cap="small" spc="45"/>
              <a:t> </a:t>
            </a:r>
            <a:r>
              <a:rPr lang="en-US" cap="small" spc="-110"/>
              <a:t>Engineering</a:t>
            </a:r>
            <a:r>
              <a:rPr lang="en-US" cap="small" spc="45"/>
              <a:t> </a:t>
            </a:r>
            <a:r>
              <a:rPr lang="en-US" cap="small" spc="-70"/>
              <a:t>(Data</a:t>
            </a:r>
            <a:r>
              <a:rPr lang="en-US" cap="small" spc="45"/>
              <a:t> </a:t>
            </a:r>
            <a:r>
              <a:rPr lang="en-US" cap="small" spc="-95"/>
              <a:t>Science)</a:t>
            </a:r>
            <a:endParaRPr lang="en-US" cap="small" spc="-95" dirty="0"/>
          </a:p>
        </p:txBody>
      </p:sp>
      <p:sp>
        <p:nvSpPr>
          <p:cNvPr id="6" name="Footer Placeholder 5"/>
          <p:cNvSpPr>
            <a:spLocks noGrp="1"/>
          </p:cNvSpPr>
          <p:nvPr>
            <p:ph type="ftr" sz="quarter" idx="11"/>
          </p:nvPr>
        </p:nvSpPr>
        <p:spPr/>
        <p:txBody>
          <a:bodyPr/>
          <a:lstStyle/>
          <a:p>
            <a:pPr marL="12700">
              <a:lnSpc>
                <a:spcPts val="1845"/>
              </a:lnSpc>
            </a:pPr>
            <a:r>
              <a:rPr lang="en-IN"/>
              <a:t>A</a:t>
            </a:r>
            <a:r>
              <a:rPr lang="en-IN" spc="-10"/>
              <a:t> </a:t>
            </a:r>
            <a:r>
              <a:rPr lang="en-IN"/>
              <a:t>-</a:t>
            </a:r>
            <a:r>
              <a:rPr lang="en-IN" spc="-5"/>
              <a:t> </a:t>
            </a:r>
            <a:r>
              <a:rPr lang="en-IN" spc="-25"/>
              <a:t>00</a:t>
            </a:r>
            <a:endParaRPr lang="en-IN" spc="-25" dirty="0"/>
          </a:p>
        </p:txBody>
      </p:sp>
      <p:sp>
        <p:nvSpPr>
          <p:cNvPr id="7" name="Slide Number Placeholder 6"/>
          <p:cNvSpPr>
            <a:spLocks noGrp="1"/>
          </p:cNvSpPr>
          <p:nvPr>
            <p:ph type="sldNum" sz="quarter" idx="12"/>
          </p:nvPr>
        </p:nvSpPr>
        <p:spPr/>
        <p:txBody>
          <a:bodyPr/>
          <a:lstStyle/>
          <a:p>
            <a:pPr marL="12700">
              <a:lnSpc>
                <a:spcPts val="1845"/>
              </a:lnSpc>
            </a:pPr>
            <a:fld id="{81D60167-4931-47E6-BA6A-407CBD079E47}" type="slidenum">
              <a:rPr lang="en-IN" spc="-25" smtClean="0"/>
              <a:t>‹#›</a:t>
            </a:fld>
            <a:endParaRPr lang="en-IN" spc="-25" dirty="0"/>
          </a:p>
        </p:txBody>
      </p:sp>
    </p:spTree>
    <p:extLst>
      <p:ext uri="{BB962C8B-B14F-4D97-AF65-F5344CB8AC3E}">
        <p14:creationId xmlns:p14="http://schemas.microsoft.com/office/powerpoint/2010/main" val="20674695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pPr marL="12700">
              <a:lnSpc>
                <a:spcPts val="1845"/>
              </a:lnSpc>
            </a:pPr>
            <a:r>
              <a:rPr lang="en-US" cap="small" spc="-75"/>
              <a:t>Dept.</a:t>
            </a:r>
            <a:r>
              <a:rPr lang="en-US" cap="small" spc="-10"/>
              <a:t> </a:t>
            </a:r>
            <a:r>
              <a:rPr lang="en-US" cap="small" spc="-100"/>
              <a:t>of</a:t>
            </a:r>
            <a:r>
              <a:rPr lang="en-US" cap="small" spc="25"/>
              <a:t> </a:t>
            </a:r>
            <a:r>
              <a:rPr lang="en-US" cap="small" spc="-114"/>
              <a:t>Computer</a:t>
            </a:r>
            <a:r>
              <a:rPr lang="en-US" cap="small" spc="50"/>
              <a:t> </a:t>
            </a:r>
            <a:r>
              <a:rPr lang="en-US" cap="small" spc="-95"/>
              <a:t>Science</a:t>
            </a:r>
            <a:r>
              <a:rPr lang="en-US" cap="small" spc="50"/>
              <a:t> </a:t>
            </a:r>
            <a:r>
              <a:rPr lang="en-US" cap="small" spc="-130"/>
              <a:t>and</a:t>
            </a:r>
            <a:r>
              <a:rPr lang="en-US" cap="small" spc="45"/>
              <a:t> </a:t>
            </a:r>
            <a:r>
              <a:rPr lang="en-US" cap="small" spc="-110"/>
              <a:t>Engineering</a:t>
            </a:r>
            <a:r>
              <a:rPr lang="en-US" cap="small" spc="45"/>
              <a:t> </a:t>
            </a:r>
            <a:r>
              <a:rPr lang="en-US" cap="small" spc="-70"/>
              <a:t>(Data</a:t>
            </a:r>
            <a:r>
              <a:rPr lang="en-US" cap="small" spc="45"/>
              <a:t> </a:t>
            </a:r>
            <a:r>
              <a:rPr lang="en-US" cap="small" spc="-95"/>
              <a:t>Science)</a:t>
            </a:r>
            <a:endParaRPr lang="en-US" cap="small" spc="-95" dirty="0"/>
          </a:p>
        </p:txBody>
      </p:sp>
      <p:sp>
        <p:nvSpPr>
          <p:cNvPr id="4" name="Footer Placeholder 3"/>
          <p:cNvSpPr>
            <a:spLocks noGrp="1"/>
          </p:cNvSpPr>
          <p:nvPr>
            <p:ph type="ftr" sz="quarter" idx="11"/>
          </p:nvPr>
        </p:nvSpPr>
        <p:spPr/>
        <p:txBody>
          <a:bodyPr/>
          <a:lstStyle/>
          <a:p>
            <a:pPr marL="12700">
              <a:lnSpc>
                <a:spcPts val="1845"/>
              </a:lnSpc>
            </a:pPr>
            <a:r>
              <a:rPr lang="en-IN"/>
              <a:t>A</a:t>
            </a:r>
            <a:r>
              <a:rPr lang="en-IN" spc="-10"/>
              <a:t> </a:t>
            </a:r>
            <a:r>
              <a:rPr lang="en-IN"/>
              <a:t>-</a:t>
            </a:r>
            <a:r>
              <a:rPr lang="en-IN" spc="-5"/>
              <a:t> </a:t>
            </a:r>
            <a:r>
              <a:rPr lang="en-IN" spc="-25"/>
              <a:t>00</a:t>
            </a:r>
            <a:endParaRPr lang="en-IN" spc="-25" dirty="0"/>
          </a:p>
        </p:txBody>
      </p:sp>
      <p:sp>
        <p:nvSpPr>
          <p:cNvPr id="5" name="Slide Number Placeholder 4"/>
          <p:cNvSpPr>
            <a:spLocks noGrp="1"/>
          </p:cNvSpPr>
          <p:nvPr>
            <p:ph type="sldNum" sz="quarter" idx="12"/>
          </p:nvPr>
        </p:nvSpPr>
        <p:spPr/>
        <p:txBody>
          <a:bodyPr/>
          <a:lstStyle/>
          <a:p>
            <a:pPr marL="12700">
              <a:lnSpc>
                <a:spcPts val="1845"/>
              </a:lnSpc>
            </a:pPr>
            <a:fld id="{81D60167-4931-47E6-BA6A-407CBD079E47}" type="slidenum">
              <a:rPr lang="en-IN" spc="-25" smtClean="0"/>
              <a:t>‹#›</a:t>
            </a:fld>
            <a:endParaRPr lang="en-IN" spc="-25" dirty="0"/>
          </a:p>
        </p:txBody>
      </p:sp>
    </p:spTree>
    <p:extLst>
      <p:ext uri="{BB962C8B-B14F-4D97-AF65-F5344CB8AC3E}">
        <p14:creationId xmlns:p14="http://schemas.microsoft.com/office/powerpoint/2010/main" val="12644711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pPr marL="12700">
              <a:lnSpc>
                <a:spcPts val="1845"/>
              </a:lnSpc>
            </a:pPr>
            <a:r>
              <a:rPr lang="en-US" cap="small" spc="-75"/>
              <a:t>Dept.</a:t>
            </a:r>
            <a:r>
              <a:rPr lang="en-US" cap="small" spc="-10"/>
              <a:t> </a:t>
            </a:r>
            <a:r>
              <a:rPr lang="en-US" cap="small" spc="-100"/>
              <a:t>of</a:t>
            </a:r>
            <a:r>
              <a:rPr lang="en-US" cap="small" spc="25"/>
              <a:t> </a:t>
            </a:r>
            <a:r>
              <a:rPr lang="en-US" cap="small" spc="-114"/>
              <a:t>Computer</a:t>
            </a:r>
            <a:r>
              <a:rPr lang="en-US" cap="small" spc="50"/>
              <a:t> </a:t>
            </a:r>
            <a:r>
              <a:rPr lang="en-US" cap="small" spc="-95"/>
              <a:t>Science</a:t>
            </a:r>
            <a:r>
              <a:rPr lang="en-US" cap="small" spc="50"/>
              <a:t> </a:t>
            </a:r>
            <a:r>
              <a:rPr lang="en-US" cap="small" spc="-130"/>
              <a:t>and</a:t>
            </a:r>
            <a:r>
              <a:rPr lang="en-US" cap="small" spc="45"/>
              <a:t> </a:t>
            </a:r>
            <a:r>
              <a:rPr lang="en-US" cap="small" spc="-110"/>
              <a:t>Engineering</a:t>
            </a:r>
            <a:r>
              <a:rPr lang="en-US" cap="small" spc="45"/>
              <a:t> </a:t>
            </a:r>
            <a:r>
              <a:rPr lang="en-US" cap="small" spc="-70"/>
              <a:t>(Data</a:t>
            </a:r>
            <a:r>
              <a:rPr lang="en-US" cap="small" spc="45"/>
              <a:t> </a:t>
            </a:r>
            <a:r>
              <a:rPr lang="en-US" cap="small" spc="-95"/>
              <a:t>Science)</a:t>
            </a:r>
            <a:endParaRPr lang="en-US" cap="small" spc="-95" dirty="0"/>
          </a:p>
        </p:txBody>
      </p:sp>
      <p:sp>
        <p:nvSpPr>
          <p:cNvPr id="4" name="Footer Placeholder 3"/>
          <p:cNvSpPr>
            <a:spLocks noGrp="1"/>
          </p:cNvSpPr>
          <p:nvPr>
            <p:ph type="ftr" sz="quarter" idx="11"/>
          </p:nvPr>
        </p:nvSpPr>
        <p:spPr/>
        <p:txBody>
          <a:bodyPr/>
          <a:lstStyle/>
          <a:p>
            <a:pPr marL="12700">
              <a:lnSpc>
                <a:spcPts val="1845"/>
              </a:lnSpc>
            </a:pPr>
            <a:r>
              <a:rPr lang="en-IN"/>
              <a:t>A</a:t>
            </a:r>
            <a:r>
              <a:rPr lang="en-IN" spc="-10"/>
              <a:t> </a:t>
            </a:r>
            <a:r>
              <a:rPr lang="en-IN"/>
              <a:t>-</a:t>
            </a:r>
            <a:r>
              <a:rPr lang="en-IN" spc="-5"/>
              <a:t> </a:t>
            </a:r>
            <a:r>
              <a:rPr lang="en-IN" spc="-25"/>
              <a:t>00</a:t>
            </a:r>
            <a:endParaRPr lang="en-IN" spc="-25" dirty="0"/>
          </a:p>
        </p:txBody>
      </p:sp>
      <p:sp>
        <p:nvSpPr>
          <p:cNvPr id="5" name="Slide Number Placeholder 4"/>
          <p:cNvSpPr>
            <a:spLocks noGrp="1"/>
          </p:cNvSpPr>
          <p:nvPr>
            <p:ph type="sldNum" sz="quarter" idx="12"/>
          </p:nvPr>
        </p:nvSpPr>
        <p:spPr/>
        <p:txBody>
          <a:bodyPr/>
          <a:lstStyle/>
          <a:p>
            <a:pPr marL="12700">
              <a:lnSpc>
                <a:spcPts val="1845"/>
              </a:lnSpc>
            </a:pPr>
            <a:fld id="{81D60167-4931-47E6-BA6A-407CBD079E47}" type="slidenum">
              <a:rPr lang="en-IN" spc="-25" smtClean="0"/>
              <a:t>‹#›</a:t>
            </a:fld>
            <a:endParaRPr lang="en-IN" spc="-25" dirty="0"/>
          </a:p>
        </p:txBody>
      </p:sp>
    </p:spTree>
    <p:extLst>
      <p:ext uri="{BB962C8B-B14F-4D97-AF65-F5344CB8AC3E}">
        <p14:creationId xmlns:p14="http://schemas.microsoft.com/office/powerpoint/2010/main" val="35708905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marL="12700">
              <a:lnSpc>
                <a:spcPts val="1845"/>
              </a:lnSpc>
            </a:pPr>
            <a:r>
              <a:rPr lang="en-US" cap="small" spc="-75"/>
              <a:t>Dept.</a:t>
            </a:r>
            <a:r>
              <a:rPr lang="en-US" cap="small" spc="-10"/>
              <a:t> </a:t>
            </a:r>
            <a:r>
              <a:rPr lang="en-US" cap="small" spc="-100"/>
              <a:t>of</a:t>
            </a:r>
            <a:r>
              <a:rPr lang="en-US" cap="small" spc="25"/>
              <a:t> </a:t>
            </a:r>
            <a:r>
              <a:rPr lang="en-US" cap="small" spc="-114"/>
              <a:t>Computer</a:t>
            </a:r>
            <a:r>
              <a:rPr lang="en-US" cap="small" spc="50"/>
              <a:t> </a:t>
            </a:r>
            <a:r>
              <a:rPr lang="en-US" cap="small" spc="-95"/>
              <a:t>Science</a:t>
            </a:r>
            <a:r>
              <a:rPr lang="en-US" cap="small" spc="50"/>
              <a:t> </a:t>
            </a:r>
            <a:r>
              <a:rPr lang="en-US" cap="small" spc="-130"/>
              <a:t>and</a:t>
            </a:r>
            <a:r>
              <a:rPr lang="en-US" cap="small" spc="45"/>
              <a:t> </a:t>
            </a:r>
            <a:r>
              <a:rPr lang="en-US" cap="small" spc="-110"/>
              <a:t>Engineering</a:t>
            </a:r>
            <a:r>
              <a:rPr lang="en-US" cap="small" spc="45"/>
              <a:t> </a:t>
            </a:r>
            <a:r>
              <a:rPr lang="en-US" cap="small" spc="-70"/>
              <a:t>(Data</a:t>
            </a:r>
            <a:r>
              <a:rPr lang="en-US" cap="small" spc="45"/>
              <a:t> </a:t>
            </a:r>
            <a:r>
              <a:rPr lang="en-US" cap="small" spc="-95"/>
              <a:t>Science)</a:t>
            </a:r>
            <a:endParaRPr lang="en-US" cap="small" spc="-95" dirty="0"/>
          </a:p>
        </p:txBody>
      </p:sp>
      <p:sp>
        <p:nvSpPr>
          <p:cNvPr id="5" name="Footer Placeholder 4"/>
          <p:cNvSpPr>
            <a:spLocks noGrp="1"/>
          </p:cNvSpPr>
          <p:nvPr>
            <p:ph type="ftr" sz="quarter" idx="11"/>
          </p:nvPr>
        </p:nvSpPr>
        <p:spPr/>
        <p:txBody>
          <a:bodyPr/>
          <a:lstStyle/>
          <a:p>
            <a:pPr marL="12700">
              <a:lnSpc>
                <a:spcPts val="1845"/>
              </a:lnSpc>
            </a:pPr>
            <a:r>
              <a:rPr lang="en-IN"/>
              <a:t>A</a:t>
            </a:r>
            <a:r>
              <a:rPr lang="en-IN" spc="-10"/>
              <a:t> </a:t>
            </a:r>
            <a:r>
              <a:rPr lang="en-IN"/>
              <a:t>-</a:t>
            </a:r>
            <a:r>
              <a:rPr lang="en-IN" spc="-5"/>
              <a:t> </a:t>
            </a:r>
            <a:r>
              <a:rPr lang="en-IN" spc="-25"/>
              <a:t>00</a:t>
            </a:r>
            <a:endParaRPr lang="en-IN" spc="-25" dirty="0"/>
          </a:p>
        </p:txBody>
      </p:sp>
      <p:sp>
        <p:nvSpPr>
          <p:cNvPr id="6" name="Slide Number Placeholder 5"/>
          <p:cNvSpPr>
            <a:spLocks noGrp="1"/>
          </p:cNvSpPr>
          <p:nvPr>
            <p:ph type="sldNum" sz="quarter" idx="12"/>
          </p:nvPr>
        </p:nvSpPr>
        <p:spPr/>
        <p:txBody>
          <a:bodyPr/>
          <a:lstStyle/>
          <a:p>
            <a:pPr marL="12700">
              <a:lnSpc>
                <a:spcPts val="1845"/>
              </a:lnSpc>
            </a:pPr>
            <a:fld id="{81D60167-4931-47E6-BA6A-407CBD079E47}" type="slidenum">
              <a:rPr lang="en-IN" spc="-25" smtClean="0"/>
              <a:t>‹#›</a:t>
            </a:fld>
            <a:endParaRPr lang="en-IN" spc="-25" dirty="0"/>
          </a:p>
        </p:txBody>
      </p:sp>
    </p:spTree>
    <p:extLst>
      <p:ext uri="{BB962C8B-B14F-4D97-AF65-F5344CB8AC3E}">
        <p14:creationId xmlns:p14="http://schemas.microsoft.com/office/powerpoint/2010/main" val="10739815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marL="12700">
              <a:lnSpc>
                <a:spcPts val="1845"/>
              </a:lnSpc>
            </a:pPr>
            <a:r>
              <a:rPr lang="en-US" cap="small" spc="-75"/>
              <a:t>Dept.</a:t>
            </a:r>
            <a:r>
              <a:rPr lang="en-US" cap="small" spc="-10"/>
              <a:t> </a:t>
            </a:r>
            <a:r>
              <a:rPr lang="en-US" cap="small" spc="-100"/>
              <a:t>of</a:t>
            </a:r>
            <a:r>
              <a:rPr lang="en-US" cap="small" spc="25"/>
              <a:t> </a:t>
            </a:r>
            <a:r>
              <a:rPr lang="en-US" cap="small" spc="-114"/>
              <a:t>Computer</a:t>
            </a:r>
            <a:r>
              <a:rPr lang="en-US" cap="small" spc="50"/>
              <a:t> </a:t>
            </a:r>
            <a:r>
              <a:rPr lang="en-US" cap="small" spc="-95"/>
              <a:t>Science</a:t>
            </a:r>
            <a:r>
              <a:rPr lang="en-US" cap="small" spc="50"/>
              <a:t> </a:t>
            </a:r>
            <a:r>
              <a:rPr lang="en-US" cap="small" spc="-130"/>
              <a:t>and</a:t>
            </a:r>
            <a:r>
              <a:rPr lang="en-US" cap="small" spc="45"/>
              <a:t> </a:t>
            </a:r>
            <a:r>
              <a:rPr lang="en-US" cap="small" spc="-110"/>
              <a:t>Engineering</a:t>
            </a:r>
            <a:r>
              <a:rPr lang="en-US" cap="small" spc="45"/>
              <a:t> </a:t>
            </a:r>
            <a:r>
              <a:rPr lang="en-US" cap="small" spc="-70"/>
              <a:t>(Data</a:t>
            </a:r>
            <a:r>
              <a:rPr lang="en-US" cap="small" spc="45"/>
              <a:t> </a:t>
            </a:r>
            <a:r>
              <a:rPr lang="en-US" cap="small" spc="-95"/>
              <a:t>Science)</a:t>
            </a:r>
            <a:endParaRPr lang="en-US" cap="small" spc="-95" dirty="0"/>
          </a:p>
        </p:txBody>
      </p:sp>
      <p:sp>
        <p:nvSpPr>
          <p:cNvPr id="5" name="Footer Placeholder 4"/>
          <p:cNvSpPr>
            <a:spLocks noGrp="1"/>
          </p:cNvSpPr>
          <p:nvPr>
            <p:ph type="ftr" sz="quarter" idx="11"/>
          </p:nvPr>
        </p:nvSpPr>
        <p:spPr/>
        <p:txBody>
          <a:bodyPr/>
          <a:lstStyle/>
          <a:p>
            <a:pPr marL="12700">
              <a:lnSpc>
                <a:spcPts val="1845"/>
              </a:lnSpc>
            </a:pPr>
            <a:r>
              <a:rPr lang="en-IN"/>
              <a:t>A</a:t>
            </a:r>
            <a:r>
              <a:rPr lang="en-IN" spc="-10"/>
              <a:t> </a:t>
            </a:r>
            <a:r>
              <a:rPr lang="en-IN"/>
              <a:t>-</a:t>
            </a:r>
            <a:r>
              <a:rPr lang="en-IN" spc="-5"/>
              <a:t> </a:t>
            </a:r>
            <a:r>
              <a:rPr lang="en-IN" spc="-25"/>
              <a:t>00</a:t>
            </a:r>
            <a:endParaRPr lang="en-IN" spc="-25" dirty="0"/>
          </a:p>
        </p:txBody>
      </p:sp>
      <p:sp>
        <p:nvSpPr>
          <p:cNvPr id="6" name="Slide Number Placeholder 5"/>
          <p:cNvSpPr>
            <a:spLocks noGrp="1"/>
          </p:cNvSpPr>
          <p:nvPr>
            <p:ph type="sldNum" sz="quarter" idx="12"/>
          </p:nvPr>
        </p:nvSpPr>
        <p:spPr/>
        <p:txBody>
          <a:bodyPr/>
          <a:lstStyle/>
          <a:p>
            <a:pPr marL="12700">
              <a:lnSpc>
                <a:spcPts val="1845"/>
              </a:lnSpc>
            </a:pPr>
            <a:fld id="{81D60167-4931-47E6-BA6A-407CBD079E47}" type="slidenum">
              <a:rPr lang="en-IN" spc="-25" smtClean="0"/>
              <a:t>‹#›</a:t>
            </a:fld>
            <a:endParaRPr lang="en-IN" spc="-25" dirty="0"/>
          </a:p>
        </p:txBody>
      </p:sp>
    </p:spTree>
    <p:extLst>
      <p:ext uri="{BB962C8B-B14F-4D97-AF65-F5344CB8AC3E}">
        <p14:creationId xmlns:p14="http://schemas.microsoft.com/office/powerpoint/2010/main" val="17887431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pPr marL="12700">
              <a:lnSpc>
                <a:spcPts val="1845"/>
              </a:lnSpc>
            </a:pPr>
            <a:r>
              <a:rPr lang="en-US" cap="small" spc="-75"/>
              <a:t>Dept.</a:t>
            </a:r>
            <a:r>
              <a:rPr lang="en-US" cap="small" spc="-10"/>
              <a:t> </a:t>
            </a:r>
            <a:r>
              <a:rPr lang="en-US" cap="small" spc="-100"/>
              <a:t>of</a:t>
            </a:r>
            <a:r>
              <a:rPr lang="en-US" cap="small" spc="25"/>
              <a:t> </a:t>
            </a:r>
            <a:r>
              <a:rPr lang="en-US" cap="small" spc="-114"/>
              <a:t>Computer</a:t>
            </a:r>
            <a:r>
              <a:rPr lang="en-US" cap="small" spc="50"/>
              <a:t> </a:t>
            </a:r>
            <a:r>
              <a:rPr lang="en-US" cap="small" spc="-95"/>
              <a:t>Science</a:t>
            </a:r>
            <a:r>
              <a:rPr lang="en-US" cap="small" spc="50"/>
              <a:t> </a:t>
            </a:r>
            <a:r>
              <a:rPr lang="en-US" cap="small" spc="-130"/>
              <a:t>and</a:t>
            </a:r>
            <a:r>
              <a:rPr lang="en-US" cap="small" spc="45"/>
              <a:t> </a:t>
            </a:r>
            <a:r>
              <a:rPr lang="en-US" cap="small" spc="-110"/>
              <a:t>Engineering</a:t>
            </a:r>
            <a:r>
              <a:rPr lang="en-US" cap="small" spc="45"/>
              <a:t> </a:t>
            </a:r>
            <a:r>
              <a:rPr lang="en-US" cap="small" spc="-70"/>
              <a:t>(Data</a:t>
            </a:r>
            <a:r>
              <a:rPr lang="en-US" cap="small" spc="45"/>
              <a:t> </a:t>
            </a:r>
            <a:r>
              <a:rPr lang="en-US" cap="small" spc="-95"/>
              <a:t>Science)</a:t>
            </a:r>
            <a:endParaRPr lang="en-US" cap="small" spc="-95" dirty="0"/>
          </a:p>
        </p:txBody>
      </p:sp>
      <p:sp>
        <p:nvSpPr>
          <p:cNvPr id="5" name="Footer Placeholder 4"/>
          <p:cNvSpPr>
            <a:spLocks noGrp="1"/>
          </p:cNvSpPr>
          <p:nvPr>
            <p:ph type="ftr" sz="quarter" idx="11"/>
          </p:nvPr>
        </p:nvSpPr>
        <p:spPr/>
        <p:txBody>
          <a:bodyPr/>
          <a:lstStyle/>
          <a:p>
            <a:pPr marL="12700">
              <a:lnSpc>
                <a:spcPts val="1845"/>
              </a:lnSpc>
            </a:pPr>
            <a:r>
              <a:rPr lang="en-IN"/>
              <a:t>A</a:t>
            </a:r>
            <a:r>
              <a:rPr lang="en-IN" spc="-10"/>
              <a:t> </a:t>
            </a:r>
            <a:r>
              <a:rPr lang="en-IN"/>
              <a:t>-</a:t>
            </a:r>
            <a:r>
              <a:rPr lang="en-IN" spc="-5"/>
              <a:t> </a:t>
            </a:r>
            <a:r>
              <a:rPr lang="en-IN" spc="-25"/>
              <a:t>00</a:t>
            </a:r>
            <a:endParaRPr lang="en-IN" spc="-25" dirty="0"/>
          </a:p>
        </p:txBody>
      </p:sp>
      <p:sp>
        <p:nvSpPr>
          <p:cNvPr id="6" name="Slide Number Placeholder 5"/>
          <p:cNvSpPr>
            <a:spLocks noGrp="1"/>
          </p:cNvSpPr>
          <p:nvPr>
            <p:ph type="sldNum" sz="quarter" idx="12"/>
          </p:nvPr>
        </p:nvSpPr>
        <p:spPr/>
        <p:txBody>
          <a:bodyPr/>
          <a:lstStyle/>
          <a:p>
            <a:pPr marL="12700">
              <a:lnSpc>
                <a:spcPts val="1845"/>
              </a:lnSpc>
            </a:pPr>
            <a:fld id="{81D60167-4931-47E6-BA6A-407CBD079E47}" type="slidenum">
              <a:rPr lang="en-IN" spc="-25" smtClean="0"/>
              <a:t>‹#›</a:t>
            </a:fld>
            <a:endParaRPr lang="en-IN" spc="-25" dirty="0"/>
          </a:p>
        </p:txBody>
      </p:sp>
    </p:spTree>
    <p:extLst>
      <p:ext uri="{BB962C8B-B14F-4D97-AF65-F5344CB8AC3E}">
        <p14:creationId xmlns:p14="http://schemas.microsoft.com/office/powerpoint/2010/main" val="37341415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pPr marL="12700">
              <a:lnSpc>
                <a:spcPts val="1845"/>
              </a:lnSpc>
            </a:pPr>
            <a:r>
              <a:rPr lang="en-US" cap="small" spc="-75"/>
              <a:t>Dept.</a:t>
            </a:r>
            <a:r>
              <a:rPr lang="en-US" cap="small" spc="-10"/>
              <a:t> </a:t>
            </a:r>
            <a:r>
              <a:rPr lang="en-US" cap="small" spc="-100"/>
              <a:t>of</a:t>
            </a:r>
            <a:r>
              <a:rPr lang="en-US" cap="small" spc="25"/>
              <a:t> </a:t>
            </a:r>
            <a:r>
              <a:rPr lang="en-US" cap="small" spc="-114"/>
              <a:t>Computer</a:t>
            </a:r>
            <a:r>
              <a:rPr lang="en-US" cap="small" spc="50"/>
              <a:t> </a:t>
            </a:r>
            <a:r>
              <a:rPr lang="en-US" cap="small" spc="-95"/>
              <a:t>Science</a:t>
            </a:r>
            <a:r>
              <a:rPr lang="en-US" cap="small" spc="50"/>
              <a:t> </a:t>
            </a:r>
            <a:r>
              <a:rPr lang="en-US" cap="small" spc="-130"/>
              <a:t>and</a:t>
            </a:r>
            <a:r>
              <a:rPr lang="en-US" cap="small" spc="45"/>
              <a:t> </a:t>
            </a:r>
            <a:r>
              <a:rPr lang="en-US" cap="small" spc="-110"/>
              <a:t>Engineering</a:t>
            </a:r>
            <a:r>
              <a:rPr lang="en-US" cap="small" spc="45"/>
              <a:t> </a:t>
            </a:r>
            <a:r>
              <a:rPr lang="en-US" cap="small" spc="-70"/>
              <a:t>(Data</a:t>
            </a:r>
            <a:r>
              <a:rPr lang="en-US" cap="small" spc="45"/>
              <a:t> </a:t>
            </a:r>
            <a:r>
              <a:rPr lang="en-US" cap="small" spc="-95"/>
              <a:t>Science)</a:t>
            </a:r>
            <a:endParaRPr lang="en-US" cap="small" spc="-95"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pPr marL="12700">
              <a:lnSpc>
                <a:spcPts val="1845"/>
              </a:lnSpc>
            </a:pPr>
            <a:r>
              <a:rPr lang="en-IN"/>
              <a:t>A</a:t>
            </a:r>
            <a:r>
              <a:rPr lang="en-IN" spc="-10"/>
              <a:t> </a:t>
            </a:r>
            <a:r>
              <a:rPr lang="en-IN"/>
              <a:t>-</a:t>
            </a:r>
            <a:r>
              <a:rPr lang="en-IN" spc="-5"/>
              <a:t> </a:t>
            </a:r>
            <a:r>
              <a:rPr lang="en-IN" spc="-25"/>
              <a:t>00</a:t>
            </a:r>
            <a:endParaRPr lang="en-IN" spc="-25"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pPr marL="12700">
              <a:lnSpc>
                <a:spcPts val="1845"/>
              </a:lnSpc>
            </a:pPr>
            <a:fld id="{81D60167-4931-47E6-BA6A-407CBD079E47}" type="slidenum">
              <a:rPr lang="en-IN" spc="-25" smtClean="0"/>
              <a:t>‹#›</a:t>
            </a:fld>
            <a:endParaRPr lang="en-IN" spc="-25" dirty="0"/>
          </a:p>
        </p:txBody>
      </p:sp>
    </p:spTree>
    <p:extLst>
      <p:ext uri="{BB962C8B-B14F-4D97-AF65-F5344CB8AC3E}">
        <p14:creationId xmlns:p14="http://schemas.microsoft.com/office/powerpoint/2010/main" val="183256937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object 11"/>
          <p:cNvSpPr txBox="1"/>
          <p:nvPr/>
        </p:nvSpPr>
        <p:spPr>
          <a:xfrm>
            <a:off x="2072010" y="4796566"/>
            <a:ext cx="8265159" cy="1426845"/>
          </a:xfrm>
          <a:prstGeom prst="rect">
            <a:avLst/>
          </a:prstGeom>
        </p:spPr>
        <p:txBody>
          <a:bodyPr vert="horz" wrap="square" lIns="0" tIns="13970" rIns="0" bIns="0" rtlCol="0">
            <a:spAutoFit/>
          </a:bodyPr>
          <a:lstStyle/>
          <a:p>
            <a:pPr algn="ctr">
              <a:lnSpc>
                <a:spcPts val="2400"/>
              </a:lnSpc>
              <a:spcBef>
                <a:spcPts val="110"/>
              </a:spcBef>
            </a:pPr>
            <a:r>
              <a:rPr sz="2300" dirty="0">
                <a:latin typeface="Times New Roman"/>
                <a:cs typeface="Times New Roman"/>
              </a:rPr>
              <a:t>Department</a:t>
            </a:r>
            <a:r>
              <a:rPr sz="2300" spc="-15" dirty="0">
                <a:latin typeface="Times New Roman"/>
                <a:cs typeface="Times New Roman"/>
              </a:rPr>
              <a:t> </a:t>
            </a:r>
            <a:r>
              <a:rPr sz="2300" dirty="0">
                <a:latin typeface="Times New Roman"/>
                <a:cs typeface="Times New Roman"/>
              </a:rPr>
              <a:t>of</a:t>
            </a:r>
            <a:r>
              <a:rPr sz="2300" spc="-15" dirty="0">
                <a:latin typeface="Times New Roman"/>
                <a:cs typeface="Times New Roman"/>
              </a:rPr>
              <a:t> </a:t>
            </a:r>
            <a:r>
              <a:rPr sz="2300" dirty="0">
                <a:latin typeface="Times New Roman"/>
                <a:cs typeface="Times New Roman"/>
              </a:rPr>
              <a:t>Computer</a:t>
            </a:r>
            <a:r>
              <a:rPr sz="2300" spc="-15" dirty="0">
                <a:latin typeface="Times New Roman"/>
                <a:cs typeface="Times New Roman"/>
              </a:rPr>
              <a:t> </a:t>
            </a:r>
            <a:r>
              <a:rPr sz="2300" dirty="0">
                <a:latin typeface="Times New Roman"/>
                <a:cs typeface="Times New Roman"/>
              </a:rPr>
              <a:t>Science</a:t>
            </a:r>
            <a:r>
              <a:rPr sz="2300" spc="-10" dirty="0">
                <a:latin typeface="Times New Roman"/>
                <a:cs typeface="Times New Roman"/>
              </a:rPr>
              <a:t> </a:t>
            </a:r>
            <a:r>
              <a:rPr sz="2300" dirty="0">
                <a:latin typeface="Times New Roman"/>
                <a:cs typeface="Times New Roman"/>
              </a:rPr>
              <a:t>and</a:t>
            </a:r>
            <a:r>
              <a:rPr sz="2300" spc="-15" dirty="0">
                <a:latin typeface="Times New Roman"/>
                <a:cs typeface="Times New Roman"/>
              </a:rPr>
              <a:t> </a:t>
            </a:r>
            <a:r>
              <a:rPr sz="2300" dirty="0">
                <a:latin typeface="Times New Roman"/>
                <a:cs typeface="Times New Roman"/>
              </a:rPr>
              <a:t>Engineering</a:t>
            </a:r>
            <a:r>
              <a:rPr sz="2300" spc="-15" dirty="0">
                <a:latin typeface="Times New Roman"/>
                <a:cs typeface="Times New Roman"/>
              </a:rPr>
              <a:t> </a:t>
            </a:r>
            <a:r>
              <a:rPr sz="2300" dirty="0">
                <a:latin typeface="Times New Roman"/>
                <a:cs typeface="Times New Roman"/>
              </a:rPr>
              <a:t>(Data</a:t>
            </a:r>
            <a:r>
              <a:rPr sz="2300" spc="-10" dirty="0">
                <a:latin typeface="Times New Roman"/>
                <a:cs typeface="Times New Roman"/>
              </a:rPr>
              <a:t> Science)</a:t>
            </a:r>
            <a:endParaRPr sz="2300" dirty="0">
              <a:latin typeface="Times New Roman"/>
              <a:cs typeface="Times New Roman"/>
            </a:endParaRPr>
          </a:p>
          <a:p>
            <a:pPr algn="ctr">
              <a:lnSpc>
                <a:spcPts val="3810"/>
              </a:lnSpc>
            </a:pPr>
            <a:r>
              <a:rPr sz="3550" dirty="0">
                <a:solidFill>
                  <a:srgbClr val="FF0000"/>
                </a:solidFill>
                <a:latin typeface="Times New Roman"/>
                <a:cs typeface="Times New Roman"/>
              </a:rPr>
              <a:t>Srinivasa</a:t>
            </a:r>
            <a:r>
              <a:rPr sz="3550" spc="-20" dirty="0">
                <a:solidFill>
                  <a:srgbClr val="FF0000"/>
                </a:solidFill>
                <a:latin typeface="Times New Roman"/>
                <a:cs typeface="Times New Roman"/>
              </a:rPr>
              <a:t> </a:t>
            </a:r>
            <a:r>
              <a:rPr sz="3550" dirty="0">
                <a:solidFill>
                  <a:srgbClr val="FF0000"/>
                </a:solidFill>
                <a:latin typeface="Times New Roman"/>
                <a:cs typeface="Times New Roman"/>
              </a:rPr>
              <a:t>Ramanujan</a:t>
            </a:r>
            <a:r>
              <a:rPr sz="3550" spc="-15" dirty="0">
                <a:solidFill>
                  <a:srgbClr val="FF0000"/>
                </a:solidFill>
                <a:latin typeface="Times New Roman"/>
                <a:cs typeface="Times New Roman"/>
              </a:rPr>
              <a:t> </a:t>
            </a:r>
            <a:r>
              <a:rPr sz="3550" dirty="0">
                <a:solidFill>
                  <a:srgbClr val="FF0000"/>
                </a:solidFill>
                <a:latin typeface="Times New Roman"/>
                <a:cs typeface="Times New Roman"/>
              </a:rPr>
              <a:t>Institute</a:t>
            </a:r>
            <a:r>
              <a:rPr sz="3550" spc="-20" dirty="0">
                <a:solidFill>
                  <a:srgbClr val="FF0000"/>
                </a:solidFill>
                <a:latin typeface="Times New Roman"/>
                <a:cs typeface="Times New Roman"/>
              </a:rPr>
              <a:t> </a:t>
            </a:r>
            <a:r>
              <a:rPr sz="3550" dirty="0">
                <a:solidFill>
                  <a:srgbClr val="FF0000"/>
                </a:solidFill>
                <a:latin typeface="Times New Roman"/>
                <a:cs typeface="Times New Roman"/>
              </a:rPr>
              <a:t>of</a:t>
            </a:r>
            <a:r>
              <a:rPr sz="3550" spc="-15" dirty="0">
                <a:solidFill>
                  <a:srgbClr val="FF0000"/>
                </a:solidFill>
                <a:latin typeface="Times New Roman"/>
                <a:cs typeface="Times New Roman"/>
              </a:rPr>
              <a:t> </a:t>
            </a:r>
            <a:r>
              <a:rPr sz="3550" spc="-10" dirty="0">
                <a:solidFill>
                  <a:srgbClr val="FF0000"/>
                </a:solidFill>
                <a:latin typeface="Times New Roman"/>
                <a:cs typeface="Times New Roman"/>
              </a:rPr>
              <a:t>Technology</a:t>
            </a:r>
            <a:endParaRPr sz="3550" dirty="0">
              <a:latin typeface="Times New Roman"/>
              <a:cs typeface="Times New Roman"/>
            </a:endParaRPr>
          </a:p>
          <a:p>
            <a:pPr marL="7620" algn="ctr">
              <a:lnSpc>
                <a:spcPts val="1220"/>
              </a:lnSpc>
            </a:pPr>
            <a:r>
              <a:rPr sz="1150" b="1" spc="-10" dirty="0">
                <a:latin typeface="Times New Roman"/>
                <a:cs typeface="Times New Roman"/>
              </a:rPr>
              <a:t>(Affiliated </a:t>
            </a:r>
            <a:r>
              <a:rPr sz="1150" b="1" dirty="0">
                <a:latin typeface="Times New Roman"/>
                <a:cs typeface="Times New Roman"/>
              </a:rPr>
              <a:t>to</a:t>
            </a:r>
            <a:r>
              <a:rPr sz="1150" b="1" spc="-10" dirty="0">
                <a:latin typeface="Times New Roman"/>
                <a:cs typeface="Times New Roman"/>
              </a:rPr>
              <a:t> </a:t>
            </a:r>
            <a:r>
              <a:rPr sz="1150" b="1" dirty="0">
                <a:latin typeface="Times New Roman"/>
                <a:cs typeface="Times New Roman"/>
              </a:rPr>
              <a:t>JNTUA</a:t>
            </a:r>
            <a:r>
              <a:rPr sz="1150" b="1" spc="-10" dirty="0">
                <a:latin typeface="Times New Roman"/>
                <a:cs typeface="Times New Roman"/>
              </a:rPr>
              <a:t> </a:t>
            </a:r>
            <a:r>
              <a:rPr sz="1150" b="1" dirty="0">
                <a:latin typeface="Times New Roman"/>
                <a:cs typeface="Times New Roman"/>
              </a:rPr>
              <a:t>&amp;</a:t>
            </a:r>
            <a:r>
              <a:rPr sz="1150" b="1" spc="-5" dirty="0">
                <a:latin typeface="Times New Roman"/>
                <a:cs typeface="Times New Roman"/>
              </a:rPr>
              <a:t> </a:t>
            </a:r>
            <a:r>
              <a:rPr sz="1150" b="1" dirty="0">
                <a:latin typeface="Times New Roman"/>
                <a:cs typeface="Times New Roman"/>
              </a:rPr>
              <a:t>Approved</a:t>
            </a:r>
            <a:r>
              <a:rPr sz="1150" b="1" spc="-10" dirty="0">
                <a:latin typeface="Times New Roman"/>
                <a:cs typeface="Times New Roman"/>
              </a:rPr>
              <a:t> </a:t>
            </a:r>
            <a:r>
              <a:rPr sz="1150" b="1" dirty="0">
                <a:latin typeface="Times New Roman"/>
                <a:cs typeface="Times New Roman"/>
              </a:rPr>
              <a:t>by</a:t>
            </a:r>
            <a:r>
              <a:rPr sz="1150" b="1" spc="-10" dirty="0">
                <a:latin typeface="Times New Roman"/>
                <a:cs typeface="Times New Roman"/>
              </a:rPr>
              <a:t> </a:t>
            </a:r>
            <a:r>
              <a:rPr sz="1150" b="1" dirty="0">
                <a:latin typeface="Times New Roman"/>
                <a:cs typeface="Times New Roman"/>
              </a:rPr>
              <a:t>AICTE)</a:t>
            </a:r>
            <a:r>
              <a:rPr sz="1150" b="1" spc="-5" dirty="0">
                <a:latin typeface="Times New Roman"/>
                <a:cs typeface="Times New Roman"/>
              </a:rPr>
              <a:t> </a:t>
            </a:r>
            <a:r>
              <a:rPr sz="1150" b="1" dirty="0">
                <a:latin typeface="Times New Roman"/>
                <a:cs typeface="Times New Roman"/>
              </a:rPr>
              <a:t>(Accredited</a:t>
            </a:r>
            <a:r>
              <a:rPr sz="1150" b="1" spc="-10" dirty="0">
                <a:latin typeface="Times New Roman"/>
                <a:cs typeface="Times New Roman"/>
              </a:rPr>
              <a:t> </a:t>
            </a:r>
            <a:r>
              <a:rPr sz="1150" b="1" dirty="0">
                <a:latin typeface="Times New Roman"/>
                <a:cs typeface="Times New Roman"/>
              </a:rPr>
              <a:t>by</a:t>
            </a:r>
            <a:r>
              <a:rPr sz="1150" b="1" spc="-10" dirty="0">
                <a:latin typeface="Times New Roman"/>
                <a:cs typeface="Times New Roman"/>
              </a:rPr>
              <a:t> </a:t>
            </a:r>
            <a:r>
              <a:rPr sz="1150" b="1" dirty="0">
                <a:latin typeface="Times New Roman"/>
                <a:cs typeface="Times New Roman"/>
              </a:rPr>
              <a:t>NAAC</a:t>
            </a:r>
            <a:r>
              <a:rPr sz="1150" b="1" spc="-5" dirty="0">
                <a:latin typeface="Times New Roman"/>
                <a:cs typeface="Times New Roman"/>
              </a:rPr>
              <a:t> </a:t>
            </a:r>
            <a:r>
              <a:rPr sz="1150" b="1" dirty="0">
                <a:latin typeface="Times New Roman"/>
                <a:cs typeface="Times New Roman"/>
              </a:rPr>
              <a:t>with</a:t>
            </a:r>
            <a:r>
              <a:rPr sz="1150" b="1" spc="-10" dirty="0">
                <a:latin typeface="Times New Roman"/>
                <a:cs typeface="Times New Roman"/>
              </a:rPr>
              <a:t> </a:t>
            </a:r>
            <a:r>
              <a:rPr sz="1150" b="1" dirty="0">
                <a:latin typeface="Times New Roman"/>
                <a:cs typeface="Times New Roman"/>
              </a:rPr>
              <a:t>‘A’</a:t>
            </a:r>
            <a:r>
              <a:rPr sz="1150" b="1" spc="-10" dirty="0">
                <a:latin typeface="Times New Roman"/>
                <a:cs typeface="Times New Roman"/>
              </a:rPr>
              <a:t> </a:t>
            </a:r>
            <a:r>
              <a:rPr sz="1150" b="1" dirty="0">
                <a:latin typeface="Times New Roman"/>
                <a:cs typeface="Times New Roman"/>
              </a:rPr>
              <a:t>Grade</a:t>
            </a:r>
            <a:r>
              <a:rPr sz="1150" b="1" spc="-5" dirty="0">
                <a:latin typeface="Times New Roman"/>
                <a:cs typeface="Times New Roman"/>
              </a:rPr>
              <a:t> </a:t>
            </a:r>
            <a:r>
              <a:rPr sz="1150" b="1" dirty="0">
                <a:latin typeface="Times New Roman"/>
                <a:cs typeface="Times New Roman"/>
              </a:rPr>
              <a:t>&amp;</a:t>
            </a:r>
            <a:r>
              <a:rPr sz="1150" b="1" spc="-10" dirty="0">
                <a:latin typeface="Times New Roman"/>
                <a:cs typeface="Times New Roman"/>
              </a:rPr>
              <a:t> </a:t>
            </a:r>
            <a:r>
              <a:rPr sz="1150" b="1" dirty="0">
                <a:latin typeface="Times New Roman"/>
                <a:cs typeface="Times New Roman"/>
              </a:rPr>
              <a:t>Accredited</a:t>
            </a:r>
            <a:r>
              <a:rPr sz="1150" b="1" spc="-10" dirty="0">
                <a:latin typeface="Times New Roman"/>
                <a:cs typeface="Times New Roman"/>
              </a:rPr>
              <a:t> </a:t>
            </a:r>
            <a:r>
              <a:rPr sz="1150" b="1" dirty="0">
                <a:latin typeface="Times New Roman"/>
                <a:cs typeface="Times New Roman"/>
              </a:rPr>
              <a:t>by</a:t>
            </a:r>
            <a:r>
              <a:rPr sz="1150" b="1" spc="-5" dirty="0">
                <a:latin typeface="Times New Roman"/>
                <a:cs typeface="Times New Roman"/>
              </a:rPr>
              <a:t> </a:t>
            </a:r>
            <a:r>
              <a:rPr sz="1150" b="1" dirty="0">
                <a:latin typeface="Times New Roman"/>
                <a:cs typeface="Times New Roman"/>
              </a:rPr>
              <a:t>NBA</a:t>
            </a:r>
            <a:r>
              <a:rPr sz="1150" b="1" spc="-10" dirty="0">
                <a:latin typeface="Times New Roman"/>
                <a:cs typeface="Times New Roman"/>
              </a:rPr>
              <a:t> </a:t>
            </a:r>
            <a:r>
              <a:rPr sz="1150" b="1" dirty="0">
                <a:latin typeface="Times New Roman"/>
                <a:cs typeface="Times New Roman"/>
              </a:rPr>
              <a:t>(EEE,</a:t>
            </a:r>
            <a:r>
              <a:rPr sz="1150" b="1" spc="-10" dirty="0">
                <a:latin typeface="Times New Roman"/>
                <a:cs typeface="Times New Roman"/>
              </a:rPr>
              <a:t> </a:t>
            </a:r>
            <a:r>
              <a:rPr sz="1150" b="1" dirty="0">
                <a:latin typeface="Times New Roman"/>
                <a:cs typeface="Times New Roman"/>
              </a:rPr>
              <a:t>ECE</a:t>
            </a:r>
            <a:r>
              <a:rPr sz="1150" b="1" spc="-10" dirty="0">
                <a:latin typeface="Times New Roman"/>
                <a:cs typeface="Times New Roman"/>
              </a:rPr>
              <a:t> </a:t>
            </a:r>
            <a:r>
              <a:rPr sz="1150" b="1" dirty="0">
                <a:latin typeface="Times New Roman"/>
                <a:cs typeface="Times New Roman"/>
              </a:rPr>
              <a:t>&amp;</a:t>
            </a:r>
            <a:r>
              <a:rPr sz="1150" b="1" spc="-5" dirty="0">
                <a:latin typeface="Times New Roman"/>
                <a:cs typeface="Times New Roman"/>
              </a:rPr>
              <a:t> </a:t>
            </a:r>
            <a:r>
              <a:rPr sz="1150" b="1" spc="-20" dirty="0">
                <a:latin typeface="Times New Roman"/>
                <a:cs typeface="Times New Roman"/>
              </a:rPr>
              <a:t>CSE)</a:t>
            </a:r>
            <a:endParaRPr sz="1150" dirty="0">
              <a:latin typeface="Times New Roman"/>
              <a:cs typeface="Times New Roman"/>
            </a:endParaRPr>
          </a:p>
          <a:p>
            <a:pPr marL="6350" algn="ctr">
              <a:lnSpc>
                <a:spcPts val="1430"/>
              </a:lnSpc>
            </a:pPr>
            <a:r>
              <a:rPr sz="1250" b="1" dirty="0">
                <a:latin typeface="Times New Roman"/>
                <a:cs typeface="Times New Roman"/>
              </a:rPr>
              <a:t>Rotarypuram</a:t>
            </a:r>
            <a:r>
              <a:rPr sz="1250" b="1" spc="30" dirty="0">
                <a:latin typeface="Times New Roman"/>
                <a:cs typeface="Times New Roman"/>
              </a:rPr>
              <a:t> </a:t>
            </a:r>
            <a:r>
              <a:rPr sz="1250" b="1" dirty="0">
                <a:latin typeface="Times New Roman"/>
                <a:cs typeface="Times New Roman"/>
              </a:rPr>
              <a:t>Village,</a:t>
            </a:r>
            <a:r>
              <a:rPr sz="1250" b="1" spc="30" dirty="0">
                <a:latin typeface="Times New Roman"/>
                <a:cs typeface="Times New Roman"/>
              </a:rPr>
              <a:t> </a:t>
            </a:r>
            <a:r>
              <a:rPr sz="1250" b="1" dirty="0">
                <a:latin typeface="Times New Roman"/>
                <a:cs typeface="Times New Roman"/>
              </a:rPr>
              <a:t>B</a:t>
            </a:r>
            <a:r>
              <a:rPr sz="1250" b="1" spc="35" dirty="0">
                <a:latin typeface="Times New Roman"/>
                <a:cs typeface="Times New Roman"/>
              </a:rPr>
              <a:t> </a:t>
            </a:r>
            <a:r>
              <a:rPr sz="1250" b="1" dirty="0">
                <a:latin typeface="Times New Roman"/>
                <a:cs typeface="Times New Roman"/>
              </a:rPr>
              <a:t>K</a:t>
            </a:r>
            <a:r>
              <a:rPr sz="1250" b="1" spc="30" dirty="0">
                <a:latin typeface="Times New Roman"/>
                <a:cs typeface="Times New Roman"/>
              </a:rPr>
              <a:t> </a:t>
            </a:r>
            <a:r>
              <a:rPr sz="1250" b="1" dirty="0">
                <a:latin typeface="Times New Roman"/>
                <a:cs typeface="Times New Roman"/>
              </a:rPr>
              <a:t>Samudram</a:t>
            </a:r>
            <a:r>
              <a:rPr sz="1250" b="1" spc="30" dirty="0">
                <a:latin typeface="Times New Roman"/>
                <a:cs typeface="Times New Roman"/>
              </a:rPr>
              <a:t> </a:t>
            </a:r>
            <a:r>
              <a:rPr sz="1250" b="1" dirty="0">
                <a:latin typeface="Times New Roman"/>
                <a:cs typeface="Times New Roman"/>
              </a:rPr>
              <a:t>Mandal,</a:t>
            </a:r>
            <a:r>
              <a:rPr sz="1250" b="1" spc="35" dirty="0">
                <a:latin typeface="Times New Roman"/>
                <a:cs typeface="Times New Roman"/>
              </a:rPr>
              <a:t> </a:t>
            </a:r>
            <a:r>
              <a:rPr sz="1250" b="1" dirty="0">
                <a:latin typeface="Times New Roman"/>
                <a:cs typeface="Times New Roman"/>
              </a:rPr>
              <a:t>Ananthapuramu</a:t>
            </a:r>
            <a:r>
              <a:rPr sz="1250" b="1" spc="30" dirty="0">
                <a:latin typeface="Times New Roman"/>
                <a:cs typeface="Times New Roman"/>
              </a:rPr>
              <a:t> </a:t>
            </a:r>
            <a:r>
              <a:rPr sz="1250" b="1" dirty="0">
                <a:latin typeface="Times New Roman"/>
                <a:cs typeface="Times New Roman"/>
              </a:rPr>
              <a:t>–</a:t>
            </a:r>
            <a:r>
              <a:rPr sz="1250" b="1" spc="30" dirty="0">
                <a:latin typeface="Times New Roman"/>
                <a:cs typeface="Times New Roman"/>
              </a:rPr>
              <a:t> </a:t>
            </a:r>
            <a:r>
              <a:rPr sz="1250" b="1" spc="-10" dirty="0">
                <a:latin typeface="Times New Roman"/>
                <a:cs typeface="Times New Roman"/>
              </a:rPr>
              <a:t>515701.</a:t>
            </a:r>
            <a:endParaRPr sz="1250" dirty="0">
              <a:latin typeface="Times New Roman"/>
              <a:cs typeface="Times New Roman"/>
            </a:endParaRPr>
          </a:p>
          <a:p>
            <a:pPr marL="5080" algn="ctr">
              <a:lnSpc>
                <a:spcPct val="100000"/>
              </a:lnSpc>
              <a:spcBef>
                <a:spcPts val="535"/>
              </a:spcBef>
            </a:pPr>
            <a:r>
              <a:rPr sz="1350" b="1" dirty="0">
                <a:solidFill>
                  <a:srgbClr val="1E4E78"/>
                </a:solidFill>
                <a:latin typeface="Times New Roman"/>
                <a:cs typeface="Times New Roman"/>
              </a:rPr>
              <a:t>202</a:t>
            </a:r>
            <a:r>
              <a:rPr lang="en-US" sz="1350" b="1" dirty="0">
                <a:solidFill>
                  <a:srgbClr val="1E4E78"/>
                </a:solidFill>
                <a:latin typeface="Times New Roman"/>
                <a:cs typeface="Times New Roman"/>
              </a:rPr>
              <a:t>5</a:t>
            </a:r>
            <a:r>
              <a:rPr sz="1350" b="1" spc="20" dirty="0">
                <a:solidFill>
                  <a:srgbClr val="1E4E78"/>
                </a:solidFill>
                <a:latin typeface="Times New Roman"/>
                <a:cs typeface="Times New Roman"/>
              </a:rPr>
              <a:t> </a:t>
            </a:r>
            <a:r>
              <a:rPr sz="1350" b="1" dirty="0">
                <a:solidFill>
                  <a:srgbClr val="1E4E78"/>
                </a:solidFill>
                <a:latin typeface="Times New Roman"/>
                <a:cs typeface="Times New Roman"/>
              </a:rPr>
              <a:t>-</a:t>
            </a:r>
            <a:r>
              <a:rPr sz="1350" b="1" spc="20" dirty="0">
                <a:solidFill>
                  <a:srgbClr val="1E4E78"/>
                </a:solidFill>
                <a:latin typeface="Times New Roman"/>
                <a:cs typeface="Times New Roman"/>
              </a:rPr>
              <a:t> </a:t>
            </a:r>
            <a:r>
              <a:rPr sz="1350" b="1" spc="-20" dirty="0">
                <a:solidFill>
                  <a:srgbClr val="1E4E78"/>
                </a:solidFill>
                <a:latin typeface="Times New Roman"/>
                <a:cs typeface="Times New Roman"/>
              </a:rPr>
              <a:t>202</a:t>
            </a:r>
            <a:r>
              <a:rPr lang="en-US" sz="1350" b="1" spc="-20" dirty="0">
                <a:solidFill>
                  <a:srgbClr val="1E4E78"/>
                </a:solidFill>
                <a:latin typeface="Times New Roman"/>
                <a:cs typeface="Times New Roman"/>
              </a:rPr>
              <a:t>6</a:t>
            </a:r>
            <a:endParaRPr sz="1350" dirty="0">
              <a:latin typeface="Times New Roman"/>
              <a:cs typeface="Times New Roman"/>
            </a:endParaRPr>
          </a:p>
        </p:txBody>
      </p:sp>
      <p:sp>
        <p:nvSpPr>
          <p:cNvPr id="12" name="object 12"/>
          <p:cNvSpPr txBox="1"/>
          <p:nvPr/>
        </p:nvSpPr>
        <p:spPr>
          <a:xfrm>
            <a:off x="6705600" y="1626179"/>
            <a:ext cx="1990725" cy="428964"/>
          </a:xfrm>
          <a:prstGeom prst="rect">
            <a:avLst/>
          </a:prstGeom>
        </p:spPr>
        <p:txBody>
          <a:bodyPr vert="horz" wrap="square" lIns="0" tIns="13335" rIns="0" bIns="0" rtlCol="0">
            <a:spAutoFit/>
          </a:bodyPr>
          <a:lstStyle/>
          <a:p>
            <a:pPr algn="ctr">
              <a:lnSpc>
                <a:spcPct val="100000"/>
              </a:lnSpc>
              <a:spcBef>
                <a:spcPts val="105"/>
              </a:spcBef>
            </a:pPr>
            <a:r>
              <a:rPr lang="en-US" sz="1600" dirty="0">
                <a:latin typeface="Times New Roman"/>
                <a:cs typeface="Times New Roman"/>
              </a:rPr>
              <a:t>SATHEESH REDDY J</a:t>
            </a:r>
            <a:endParaRPr sz="1600" dirty="0">
              <a:latin typeface="Times New Roman"/>
              <a:cs typeface="Times New Roman"/>
            </a:endParaRPr>
          </a:p>
          <a:p>
            <a:pPr marL="1905" algn="ctr">
              <a:lnSpc>
                <a:spcPct val="100000"/>
              </a:lnSpc>
              <a:spcBef>
                <a:spcPts val="35"/>
              </a:spcBef>
            </a:pPr>
            <a:r>
              <a:rPr sz="1100" dirty="0">
                <a:latin typeface="Times New Roman"/>
                <a:cs typeface="Times New Roman"/>
              </a:rPr>
              <a:t>Roll No. </a:t>
            </a:r>
            <a:r>
              <a:rPr lang="en-US" sz="1100" spc="-10" dirty="0">
                <a:latin typeface="Times New Roman"/>
                <a:cs typeface="Times New Roman"/>
              </a:rPr>
              <a:t>234G5A3208</a:t>
            </a:r>
            <a:endParaRPr sz="1100" dirty="0">
              <a:latin typeface="Times New Roman"/>
              <a:cs typeface="Times New Roman"/>
            </a:endParaRPr>
          </a:p>
        </p:txBody>
      </p:sp>
      <p:sp>
        <p:nvSpPr>
          <p:cNvPr id="14" name="object 14"/>
          <p:cNvSpPr txBox="1"/>
          <p:nvPr/>
        </p:nvSpPr>
        <p:spPr>
          <a:xfrm>
            <a:off x="3753621" y="1632218"/>
            <a:ext cx="1990725" cy="459741"/>
          </a:xfrm>
          <a:prstGeom prst="rect">
            <a:avLst/>
          </a:prstGeom>
        </p:spPr>
        <p:txBody>
          <a:bodyPr vert="horz" wrap="square" lIns="0" tIns="13335" rIns="0" bIns="0" rtlCol="0">
            <a:spAutoFit/>
          </a:bodyPr>
          <a:lstStyle/>
          <a:p>
            <a:pPr algn="ctr">
              <a:lnSpc>
                <a:spcPct val="100000"/>
              </a:lnSpc>
              <a:spcBef>
                <a:spcPts val="105"/>
              </a:spcBef>
            </a:pPr>
            <a:r>
              <a:rPr lang="en-US" dirty="0">
                <a:latin typeface="Times New Roman"/>
                <a:cs typeface="Times New Roman"/>
              </a:rPr>
              <a:t>ADARSH B</a:t>
            </a:r>
            <a:endParaRPr dirty="0">
              <a:latin typeface="Times New Roman"/>
              <a:cs typeface="Times New Roman"/>
            </a:endParaRPr>
          </a:p>
          <a:p>
            <a:pPr marL="1905" algn="ctr">
              <a:lnSpc>
                <a:spcPct val="100000"/>
              </a:lnSpc>
              <a:spcBef>
                <a:spcPts val="35"/>
              </a:spcBef>
            </a:pPr>
            <a:r>
              <a:rPr sz="1100" dirty="0">
                <a:latin typeface="Times New Roman"/>
                <a:cs typeface="Times New Roman"/>
              </a:rPr>
              <a:t>Roll No. </a:t>
            </a:r>
            <a:r>
              <a:rPr lang="en-US" sz="1100" spc="-10" dirty="0">
                <a:latin typeface="Times New Roman"/>
                <a:cs typeface="Times New Roman"/>
              </a:rPr>
              <a:t>234G5A3201</a:t>
            </a:r>
            <a:endParaRPr sz="1100" dirty="0">
              <a:latin typeface="Times New Roman"/>
              <a:cs typeface="Times New Roman"/>
            </a:endParaRPr>
          </a:p>
        </p:txBody>
      </p:sp>
      <p:sp>
        <p:nvSpPr>
          <p:cNvPr id="18" name="object 18"/>
          <p:cNvSpPr txBox="1">
            <a:spLocks noGrp="1"/>
          </p:cNvSpPr>
          <p:nvPr>
            <p:ph type="title"/>
          </p:nvPr>
        </p:nvSpPr>
        <p:spPr>
          <a:xfrm>
            <a:off x="795131" y="415166"/>
            <a:ext cx="10642482" cy="689932"/>
          </a:xfrm>
          <a:prstGeom prst="rect">
            <a:avLst/>
          </a:prstGeom>
        </p:spPr>
        <p:txBody>
          <a:bodyPr vert="horz" wrap="square" lIns="0" tIns="12700" rIns="0" bIns="0" rtlCol="0">
            <a:spAutoFit/>
          </a:bodyPr>
          <a:lstStyle/>
          <a:p>
            <a:pPr marL="12700">
              <a:lnSpc>
                <a:spcPct val="100000"/>
              </a:lnSpc>
              <a:spcBef>
                <a:spcPts val="100"/>
              </a:spcBef>
            </a:pPr>
            <a:r>
              <a:rPr lang="en-US" sz="2200" b="1" dirty="0">
                <a:solidFill>
                  <a:schemeClr val="tx1"/>
                </a:solidFill>
                <a:latin typeface="Times New Roman" panose="02020603050405020304" pitchFamily="18" charset="0"/>
                <a:cs typeface="Times New Roman" panose="02020603050405020304" pitchFamily="18" charset="0"/>
              </a:rPr>
              <a:t>Real-Time Traffic Sign Recognition with Open-Set Rejection and Temporal Consensus</a:t>
            </a:r>
            <a:endParaRPr sz="2200" dirty="0">
              <a:solidFill>
                <a:schemeClr val="tx1"/>
              </a:solidFill>
              <a:latin typeface="Times New Roman" panose="02020603050405020304" pitchFamily="18" charset="0"/>
              <a:cs typeface="Times New Roman" panose="02020603050405020304" pitchFamily="18" charset="0"/>
            </a:endParaRPr>
          </a:p>
        </p:txBody>
      </p:sp>
      <p:sp>
        <p:nvSpPr>
          <p:cNvPr id="24" name="object 11">
            <a:extLst>
              <a:ext uri="{FF2B5EF4-FFF2-40B4-BE49-F238E27FC236}">
                <a16:creationId xmlns:a16="http://schemas.microsoft.com/office/drawing/2014/main" id="{B6939C08-5BEE-B79D-DCA0-5D7E22DE31FF}"/>
              </a:ext>
            </a:extLst>
          </p:cNvPr>
          <p:cNvSpPr txBox="1">
            <a:spLocks noGrp="1"/>
          </p:cNvSpPr>
          <p:nvPr>
            <p:ph type="sldNum" sz="quarter" idx="12"/>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a:t>
            </a:fld>
            <a:endParaRPr spc="-25" dirty="0"/>
          </a:p>
        </p:txBody>
      </p:sp>
      <p:sp>
        <p:nvSpPr>
          <p:cNvPr id="19" name="object 19"/>
          <p:cNvSpPr txBox="1"/>
          <p:nvPr/>
        </p:nvSpPr>
        <p:spPr>
          <a:xfrm>
            <a:off x="5987420" y="1278968"/>
            <a:ext cx="217170" cy="269240"/>
          </a:xfrm>
          <a:prstGeom prst="rect">
            <a:avLst/>
          </a:prstGeom>
        </p:spPr>
        <p:txBody>
          <a:bodyPr vert="horz" wrap="square" lIns="0" tIns="12700" rIns="0" bIns="0" rtlCol="0">
            <a:spAutoFit/>
          </a:bodyPr>
          <a:lstStyle/>
          <a:p>
            <a:pPr marL="12700">
              <a:lnSpc>
                <a:spcPct val="100000"/>
              </a:lnSpc>
              <a:spcBef>
                <a:spcPts val="100"/>
              </a:spcBef>
            </a:pPr>
            <a:r>
              <a:rPr sz="1600" i="1" spc="-25" dirty="0">
                <a:latin typeface="Times New Roman"/>
                <a:cs typeface="Times New Roman"/>
              </a:rPr>
              <a:t>by</a:t>
            </a:r>
            <a:endParaRPr sz="1600">
              <a:latin typeface="Times New Roman"/>
              <a:cs typeface="Times New Roman"/>
            </a:endParaRPr>
          </a:p>
        </p:txBody>
      </p:sp>
      <p:pic>
        <p:nvPicPr>
          <p:cNvPr id="20" name="object 20"/>
          <p:cNvPicPr/>
          <p:nvPr/>
        </p:nvPicPr>
        <p:blipFill>
          <a:blip r:embed="rId2" cstate="print">
            <a:extLst>
              <a:ext uri="{BEBA8EAE-BF5A-486C-A8C5-ECC9F3942E4B}">
                <a14:imgProps xmlns:a14="http://schemas.microsoft.com/office/drawing/2010/main">
                  <a14:imgLayer r:embed="rId3">
                    <a14:imgEffect>
                      <a14:sharpenSoften amount="-50000"/>
                    </a14:imgEffect>
                    <a14:imgEffect>
                      <a14:brightnessContrast bright="-20000" contrast="40000"/>
                    </a14:imgEffect>
                  </a14:imgLayer>
                </a14:imgProps>
              </a:ext>
            </a:extLst>
          </a:blip>
          <a:stretch>
            <a:fillRect/>
          </a:stretch>
        </p:blipFill>
        <p:spPr>
          <a:xfrm>
            <a:off x="5359424" y="2505468"/>
            <a:ext cx="1843672" cy="168548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B9D9396-F015-5265-CAAB-698046A05B43}"/>
              </a:ext>
            </a:extLst>
          </p:cNvPr>
          <p:cNvSpPr/>
          <p:nvPr/>
        </p:nvSpPr>
        <p:spPr>
          <a:xfrm>
            <a:off x="0" y="6607000"/>
            <a:ext cx="12192000" cy="25099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solidFill>
                <a:schemeClr val="bg1"/>
              </a:solidFill>
            </a:endParaRPr>
          </a:p>
        </p:txBody>
      </p:sp>
      <p:sp>
        <p:nvSpPr>
          <p:cNvPr id="2" name="object 2"/>
          <p:cNvSpPr txBox="1"/>
          <p:nvPr/>
        </p:nvSpPr>
        <p:spPr>
          <a:xfrm>
            <a:off x="2590800" y="6614344"/>
            <a:ext cx="80772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chemeClr val="bg1"/>
                </a:solidFill>
                <a:latin typeface="Times New Roman"/>
                <a:cs typeface="Times New Roman"/>
              </a:rPr>
              <a:t>Real-Time Traffic Sign Recognition with Open-Set Rejection and Temporal Consensus.</a:t>
            </a:r>
            <a:endParaRPr lang="en-US" sz="1500" dirty="0">
              <a:solidFill>
                <a:schemeClr val="bg1"/>
              </a:solidFill>
              <a:latin typeface="Times New Roman"/>
              <a:cs typeface="Times New Roman"/>
            </a:endParaRPr>
          </a:p>
        </p:txBody>
      </p:sp>
      <p:sp>
        <p:nvSpPr>
          <p:cNvPr id="6" name="object 6"/>
          <p:cNvSpPr txBox="1">
            <a:spLocks noGrp="1"/>
          </p:cNvSpPr>
          <p:nvPr>
            <p:ph type="title"/>
          </p:nvPr>
        </p:nvSpPr>
        <p:spPr>
          <a:xfrm>
            <a:off x="141783" y="405154"/>
            <a:ext cx="3888104" cy="695960"/>
          </a:xfrm>
          <a:prstGeom prst="rect">
            <a:avLst/>
          </a:prstGeom>
        </p:spPr>
        <p:txBody>
          <a:bodyPr vert="horz" wrap="square" lIns="0" tIns="12700" rIns="0" bIns="0" rtlCol="0">
            <a:spAutoFit/>
          </a:bodyPr>
          <a:lstStyle/>
          <a:p>
            <a:pPr marL="12700">
              <a:lnSpc>
                <a:spcPct val="100000"/>
              </a:lnSpc>
              <a:spcBef>
                <a:spcPts val="100"/>
              </a:spcBef>
            </a:pPr>
            <a:r>
              <a:rPr spc="-10" dirty="0">
                <a:solidFill>
                  <a:schemeClr val="tx1"/>
                </a:solidFill>
              </a:rPr>
              <a:t>Contents</a:t>
            </a:r>
          </a:p>
        </p:txBody>
      </p:sp>
      <p:sp>
        <p:nvSpPr>
          <p:cNvPr id="7" name="object 7"/>
          <p:cNvSpPr txBox="1"/>
          <p:nvPr/>
        </p:nvSpPr>
        <p:spPr>
          <a:xfrm>
            <a:off x="855167" y="1264305"/>
            <a:ext cx="2870200" cy="4329390"/>
          </a:xfrm>
          <a:prstGeom prst="rect">
            <a:avLst/>
          </a:prstGeom>
        </p:spPr>
        <p:txBody>
          <a:bodyPr vert="horz" wrap="square" lIns="0" tIns="12700" rIns="0" bIns="0" rtlCol="0">
            <a:spAutoFit/>
          </a:bodyPr>
          <a:lstStyle/>
          <a:p>
            <a:pPr marL="421005" indent="-408305">
              <a:lnSpc>
                <a:spcPct val="100000"/>
              </a:lnSpc>
              <a:spcBef>
                <a:spcPts val="100"/>
              </a:spcBef>
              <a:buChar char="•"/>
              <a:tabLst>
                <a:tab pos="421005" algn="l"/>
              </a:tabLst>
            </a:pPr>
            <a:r>
              <a:rPr sz="2800" spc="-10" dirty="0">
                <a:latin typeface="Google Sans Text"/>
                <a:cs typeface="Times New Roman"/>
              </a:rPr>
              <a:t>Abstract</a:t>
            </a:r>
            <a:endParaRPr sz="2800" dirty="0">
              <a:latin typeface="Google Sans Text"/>
              <a:cs typeface="Times New Roman"/>
            </a:endParaRPr>
          </a:p>
          <a:p>
            <a:pPr marL="421005" indent="-408305">
              <a:lnSpc>
                <a:spcPct val="100000"/>
              </a:lnSpc>
              <a:spcBef>
                <a:spcPts val="2680"/>
              </a:spcBef>
              <a:buChar char="•"/>
              <a:tabLst>
                <a:tab pos="421005" algn="l"/>
              </a:tabLst>
            </a:pPr>
            <a:r>
              <a:rPr sz="2800" spc="-10" dirty="0">
                <a:latin typeface="Google Sans Text"/>
                <a:cs typeface="Times New Roman"/>
              </a:rPr>
              <a:t>Introduction</a:t>
            </a:r>
            <a:endParaRPr sz="2800" dirty="0">
              <a:latin typeface="Google Sans Text"/>
              <a:cs typeface="Times New Roman"/>
            </a:endParaRPr>
          </a:p>
          <a:p>
            <a:pPr marL="421005" indent="-408305">
              <a:lnSpc>
                <a:spcPct val="100000"/>
              </a:lnSpc>
              <a:spcBef>
                <a:spcPts val="2680"/>
              </a:spcBef>
              <a:buChar char="•"/>
              <a:tabLst>
                <a:tab pos="421005" algn="l"/>
              </a:tabLst>
            </a:pPr>
            <a:r>
              <a:rPr sz="2800" dirty="0">
                <a:latin typeface="Google Sans Text"/>
                <a:cs typeface="Times New Roman"/>
              </a:rPr>
              <a:t>Literature</a:t>
            </a:r>
            <a:r>
              <a:rPr sz="2800" spc="-50" dirty="0">
                <a:latin typeface="Google Sans Text"/>
                <a:cs typeface="Times New Roman"/>
              </a:rPr>
              <a:t> </a:t>
            </a:r>
            <a:r>
              <a:rPr sz="2800" spc="-10" dirty="0">
                <a:latin typeface="Google Sans Text"/>
                <a:cs typeface="Times New Roman"/>
              </a:rPr>
              <a:t>survey</a:t>
            </a:r>
            <a:endParaRPr sz="2800" dirty="0">
              <a:latin typeface="Google Sans Text"/>
              <a:cs typeface="Times New Roman"/>
            </a:endParaRPr>
          </a:p>
          <a:p>
            <a:pPr marL="421005" indent="-408305">
              <a:lnSpc>
                <a:spcPct val="100000"/>
              </a:lnSpc>
              <a:spcBef>
                <a:spcPts val="2680"/>
              </a:spcBef>
              <a:buChar char="•"/>
              <a:tabLst>
                <a:tab pos="421005" algn="l"/>
              </a:tabLst>
            </a:pPr>
            <a:r>
              <a:rPr sz="2800" dirty="0">
                <a:latin typeface="Google Sans Text"/>
                <a:cs typeface="Times New Roman"/>
              </a:rPr>
              <a:t>Proposed</a:t>
            </a:r>
            <a:r>
              <a:rPr sz="2800" spc="-105" dirty="0">
                <a:latin typeface="Google Sans Text"/>
                <a:cs typeface="Times New Roman"/>
              </a:rPr>
              <a:t> </a:t>
            </a:r>
            <a:r>
              <a:rPr sz="2800" spc="-20" dirty="0">
                <a:latin typeface="Google Sans Text"/>
                <a:cs typeface="Times New Roman"/>
              </a:rPr>
              <a:t>Work</a:t>
            </a:r>
            <a:endParaRPr sz="2800" dirty="0">
              <a:latin typeface="Google Sans Text"/>
              <a:cs typeface="Times New Roman"/>
            </a:endParaRPr>
          </a:p>
          <a:p>
            <a:pPr marL="421005" indent="-408305">
              <a:lnSpc>
                <a:spcPct val="100000"/>
              </a:lnSpc>
              <a:spcBef>
                <a:spcPts val="2680"/>
              </a:spcBef>
              <a:buChar char="•"/>
              <a:tabLst>
                <a:tab pos="421005" algn="l"/>
              </a:tabLst>
            </a:pPr>
            <a:r>
              <a:rPr sz="2800" spc="-10" dirty="0">
                <a:latin typeface="Google Sans Text"/>
                <a:cs typeface="Times New Roman"/>
              </a:rPr>
              <a:t>References</a:t>
            </a:r>
            <a:endParaRPr sz="2800" dirty="0">
              <a:latin typeface="Google Sans Text"/>
              <a:cs typeface="Times New Roman"/>
            </a:endParaRPr>
          </a:p>
          <a:p>
            <a:pPr marL="421005" indent="-408305">
              <a:lnSpc>
                <a:spcPct val="100000"/>
              </a:lnSpc>
              <a:spcBef>
                <a:spcPts val="2680"/>
              </a:spcBef>
              <a:buChar char="•"/>
              <a:tabLst>
                <a:tab pos="421005" algn="l"/>
              </a:tabLst>
            </a:pPr>
            <a:r>
              <a:rPr sz="2800" spc="-10" dirty="0">
                <a:latin typeface="Google Sans Text"/>
                <a:cs typeface="Times New Roman"/>
              </a:rPr>
              <a:t>Queries</a:t>
            </a:r>
            <a:endParaRPr sz="2800" dirty="0">
              <a:latin typeface="Google Sans Text"/>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E7F7CE4-21DB-5E59-0026-385FD7BB0A51}"/>
              </a:ext>
            </a:extLst>
          </p:cNvPr>
          <p:cNvSpPr/>
          <p:nvPr/>
        </p:nvSpPr>
        <p:spPr>
          <a:xfrm>
            <a:off x="0" y="6607001"/>
            <a:ext cx="12192000" cy="25099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 name="object 2"/>
          <p:cNvSpPr txBox="1"/>
          <p:nvPr/>
        </p:nvSpPr>
        <p:spPr>
          <a:xfrm>
            <a:off x="2819400" y="6606191"/>
            <a:ext cx="7085786" cy="243656"/>
          </a:xfrm>
          <a:prstGeom prst="rect">
            <a:avLst/>
          </a:prstGeom>
        </p:spPr>
        <p:txBody>
          <a:bodyPr vert="horz" wrap="square" lIns="0" tIns="12700" rIns="0" bIns="0" rtlCol="0">
            <a:spAutoFit/>
          </a:bodyPr>
          <a:lstStyle/>
          <a:p>
            <a:pPr marL="12700">
              <a:lnSpc>
                <a:spcPct val="100000"/>
              </a:lnSpc>
              <a:spcBef>
                <a:spcPts val="100"/>
              </a:spcBef>
            </a:pPr>
            <a:r>
              <a:rPr lang="en-US" sz="1500" i="1" dirty="0">
                <a:ln w="0"/>
                <a:solidFill>
                  <a:schemeClr val="bg1"/>
                </a:solidFill>
                <a:effectLst>
                  <a:outerShdw blurRad="38100" dist="19050" dir="2700000" algn="tl" rotWithShape="0">
                    <a:schemeClr val="dk1">
                      <a:alpha val="40000"/>
                    </a:schemeClr>
                  </a:outerShdw>
                </a:effectLst>
                <a:latin typeface="Times New Roman"/>
                <a:cs typeface="Times New Roman"/>
              </a:rPr>
              <a:t>Real-Time Traffic Sign Recognition with Open-Set Rejection and Temporal Consensus.</a:t>
            </a:r>
            <a:endParaRPr sz="1500" dirty="0">
              <a:ln w="0"/>
              <a:solidFill>
                <a:schemeClr val="bg1"/>
              </a:solidFill>
              <a:effectLst>
                <a:outerShdw blurRad="38100" dist="19050" dir="2700000" algn="tl" rotWithShape="0">
                  <a:schemeClr val="dk1">
                    <a:alpha val="40000"/>
                  </a:schemeClr>
                </a:outerShdw>
              </a:effectLst>
              <a:latin typeface="Times New Roman"/>
              <a:cs typeface="Times New Roman"/>
            </a:endParaRPr>
          </a:p>
        </p:txBody>
      </p:sp>
      <p:sp>
        <p:nvSpPr>
          <p:cNvPr id="6" name="object 6"/>
          <p:cNvSpPr txBox="1">
            <a:spLocks noGrp="1"/>
          </p:cNvSpPr>
          <p:nvPr>
            <p:ph type="title"/>
          </p:nvPr>
        </p:nvSpPr>
        <p:spPr>
          <a:xfrm>
            <a:off x="129083" y="251809"/>
            <a:ext cx="3888104" cy="695960"/>
          </a:xfrm>
          <a:prstGeom prst="rect">
            <a:avLst/>
          </a:prstGeom>
        </p:spPr>
        <p:txBody>
          <a:bodyPr vert="horz" wrap="square" lIns="0" tIns="12700" rIns="0" bIns="0" rtlCol="0">
            <a:spAutoFit/>
          </a:bodyPr>
          <a:lstStyle/>
          <a:p>
            <a:pPr marL="12700">
              <a:lnSpc>
                <a:spcPct val="100000"/>
              </a:lnSpc>
              <a:spcBef>
                <a:spcPts val="100"/>
              </a:spcBef>
            </a:pPr>
            <a:r>
              <a:rPr spc="-10" dirty="0">
                <a:solidFill>
                  <a:schemeClr val="tx1"/>
                </a:solidFill>
              </a:rPr>
              <a:t>Abstract</a:t>
            </a:r>
          </a:p>
        </p:txBody>
      </p:sp>
      <p:sp>
        <p:nvSpPr>
          <p:cNvPr id="7" name="object 7"/>
          <p:cNvSpPr txBox="1"/>
          <p:nvPr/>
        </p:nvSpPr>
        <p:spPr>
          <a:xfrm>
            <a:off x="272528" y="990802"/>
            <a:ext cx="11462271" cy="5286062"/>
          </a:xfrm>
          <a:prstGeom prst="rect">
            <a:avLst/>
          </a:prstGeom>
        </p:spPr>
        <p:txBody>
          <a:bodyPr vert="horz" wrap="square" lIns="0" tIns="12700" rIns="0" bIns="0" rtlCol="0">
            <a:spAutoFit/>
          </a:bodyPr>
          <a:lstStyle/>
          <a:p>
            <a:pPr algn="just"/>
            <a:r>
              <a:rPr lang="en-US" sz="2400" dirty="0">
                <a:latin typeface="Google Sans Text"/>
              </a:rPr>
              <a:t>Our project is a system that can </a:t>
            </a:r>
            <a:r>
              <a:rPr lang="en-US" sz="2400" b="1" dirty="0">
                <a:latin typeface="Google Sans Text"/>
              </a:rPr>
              <a:t>find and understand traffic signs in real time</a:t>
            </a:r>
            <a:r>
              <a:rPr lang="en-US" sz="2400" dirty="0">
                <a:latin typeface="Google Sans Text"/>
              </a:rPr>
              <a:t> using video from a moving car. This is a difficult task because signs can be small, hidden behind things, or look like other objects.</a:t>
            </a:r>
          </a:p>
          <a:p>
            <a:pPr algn="just"/>
            <a:r>
              <a:rPr lang="en-US" sz="2400" dirty="0">
                <a:latin typeface="Google Sans Text"/>
              </a:rPr>
              <a:t>Our system is built to be fast, using a simple detector to find the signs and a detailed classifier to figure out what they mean. To prevent the system from getting confused by things that look like signs but aren't, it has a special feature that </a:t>
            </a:r>
            <a:r>
              <a:rPr lang="en-US" sz="2400" b="1" dirty="0">
                <a:latin typeface="Google Sans Text"/>
              </a:rPr>
              <a:t>rejects these fake signs</a:t>
            </a:r>
            <a:r>
              <a:rPr lang="en-US" sz="2400" dirty="0">
                <a:latin typeface="Google Sans Text"/>
              </a:rPr>
              <a:t> by checking their shape and color.</a:t>
            </a:r>
          </a:p>
          <a:p>
            <a:pPr algn="just"/>
            <a:r>
              <a:rPr lang="en-US" sz="2400" dirty="0">
                <a:latin typeface="Google Sans Text"/>
              </a:rPr>
              <a:t>The system also uses </a:t>
            </a:r>
            <a:r>
              <a:rPr lang="en-US" sz="2400" b="1" dirty="0">
                <a:latin typeface="Google Sans Text"/>
              </a:rPr>
              <a:t>temporal consensus</a:t>
            </a:r>
            <a:r>
              <a:rPr lang="en-US" sz="2400" dirty="0">
                <a:latin typeface="Google Sans Text"/>
              </a:rPr>
              <a:t>, which means it tracks signs across multiple video frames to make its predictions more stable and accurate, especially when signs are blurry or briefly out of sight.</a:t>
            </a:r>
          </a:p>
          <a:p>
            <a:pPr algn="just"/>
            <a:r>
              <a:rPr lang="en-US" sz="2400" dirty="0">
                <a:latin typeface="Google Sans Text"/>
              </a:rPr>
              <a:t>This project is designed to run quickly on a small computer, like the kind found in a car. We have tested it on real video and found that it is both fast and accurate. Our work provides a solid foundation for future projects in driver assistance and smart transportation.</a:t>
            </a:r>
          </a:p>
          <a:p>
            <a:pPr algn="just">
              <a:lnSpc>
                <a:spcPct val="100000"/>
              </a:lnSpc>
              <a:spcBef>
                <a:spcPts val="835"/>
              </a:spcBef>
            </a:pPr>
            <a:endParaRPr sz="2400" dirty="0">
              <a:latin typeface="Google Sans Text"/>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A31E938-ACD3-4936-B050-9FD283F74838}"/>
              </a:ext>
            </a:extLst>
          </p:cNvPr>
          <p:cNvSpPr/>
          <p:nvPr/>
        </p:nvSpPr>
        <p:spPr>
          <a:xfrm>
            <a:off x="0" y="6607000"/>
            <a:ext cx="12192000" cy="25099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 name="object 2"/>
          <p:cNvSpPr txBox="1"/>
          <p:nvPr/>
        </p:nvSpPr>
        <p:spPr>
          <a:xfrm>
            <a:off x="2819400" y="6607001"/>
            <a:ext cx="7230636" cy="250999"/>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Real-Time Traffic Sign Recognition with Open-Set Rejection and Temporal Consensus.</a:t>
            </a:r>
            <a:endParaRPr sz="1500" dirty="0">
              <a:latin typeface="Times New Roman"/>
              <a:cs typeface="Times New Roman"/>
            </a:endParaRPr>
          </a:p>
        </p:txBody>
      </p:sp>
      <p:sp>
        <p:nvSpPr>
          <p:cNvPr id="6" name="object 6"/>
          <p:cNvSpPr txBox="1">
            <a:spLocks noGrp="1"/>
          </p:cNvSpPr>
          <p:nvPr>
            <p:ph type="title"/>
          </p:nvPr>
        </p:nvSpPr>
        <p:spPr>
          <a:xfrm>
            <a:off x="141783" y="236159"/>
            <a:ext cx="3888104" cy="695960"/>
          </a:xfrm>
          <a:prstGeom prst="rect">
            <a:avLst/>
          </a:prstGeom>
        </p:spPr>
        <p:txBody>
          <a:bodyPr vert="horz" wrap="square" lIns="0" tIns="12700" rIns="0" bIns="0" rtlCol="0">
            <a:spAutoFit/>
          </a:bodyPr>
          <a:lstStyle/>
          <a:p>
            <a:pPr marL="12700">
              <a:lnSpc>
                <a:spcPct val="100000"/>
              </a:lnSpc>
              <a:spcBef>
                <a:spcPts val="100"/>
              </a:spcBef>
            </a:pPr>
            <a:r>
              <a:rPr lang="en-US" spc="-10" dirty="0">
                <a:solidFill>
                  <a:schemeClr val="tx1"/>
                </a:solidFill>
              </a:rPr>
              <a:t>Introduction</a:t>
            </a:r>
            <a:endParaRPr spc="-10" dirty="0">
              <a:solidFill>
                <a:schemeClr val="tx1"/>
              </a:solidFill>
            </a:endParaRPr>
          </a:p>
        </p:txBody>
      </p:sp>
      <p:sp>
        <p:nvSpPr>
          <p:cNvPr id="24" name="Rectangle 13">
            <a:extLst>
              <a:ext uri="{FF2B5EF4-FFF2-40B4-BE49-F238E27FC236}">
                <a16:creationId xmlns:a16="http://schemas.microsoft.com/office/drawing/2014/main" id="{A4D260E1-EFED-6CFC-824E-284CC33AB56A}"/>
              </a:ext>
            </a:extLst>
          </p:cNvPr>
          <p:cNvSpPr>
            <a:spLocks noChangeArrowheads="1"/>
          </p:cNvSpPr>
          <p:nvPr/>
        </p:nvSpPr>
        <p:spPr bwMode="auto">
          <a:xfrm>
            <a:off x="388513" y="1307072"/>
            <a:ext cx="11277600" cy="46063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5078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rgbClr val="1B1C1D"/>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1B1C1D"/>
                </a:solidFill>
                <a:effectLst/>
                <a:latin typeface="Google Sans Text"/>
              </a:rPr>
              <a:t>The Problem</a:t>
            </a:r>
            <a:endParaRPr kumimoji="0" lang="en-US" altLang="en-US" b="0" i="0" u="none" strike="noStrike" cap="none" normalizeH="0" baseline="0" dirty="0">
              <a:ln>
                <a:noFill/>
              </a:ln>
              <a:solidFill>
                <a:srgbClr val="1B1C1D"/>
              </a:solidFill>
              <a:effectLst/>
              <a:latin typeface="Google Sans Text"/>
            </a:endParaRPr>
          </a:p>
          <a:p>
            <a:pPr marL="457200" marR="0" lvl="1"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rgbClr val="1B1C1D"/>
                </a:solidFill>
                <a:effectLst/>
                <a:latin typeface="Google Sans Text"/>
              </a:rPr>
              <a:t>Our project tackles a big challenge for self-driving cars: recognizing traffic signs in real time. This is hard because signs can be tiny, hidden, or look like other objects, and our system has to be super fast to keep up with the car's speed.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1B1C1D"/>
                </a:solidFill>
                <a:effectLst/>
                <a:latin typeface="Google Sans Text"/>
              </a:rPr>
              <a:t>The Solution</a:t>
            </a:r>
            <a:endParaRPr kumimoji="0" lang="en-US" altLang="en-US" sz="1800" b="0" i="0" u="none" strike="noStrike" cap="none" normalizeH="0" baseline="0" dirty="0">
              <a:ln>
                <a:noFill/>
              </a:ln>
              <a:solidFill>
                <a:srgbClr val="1B1C1D"/>
              </a:solidFill>
              <a:effectLst/>
              <a:latin typeface="Google Sans Text"/>
            </a:endParaRPr>
          </a:p>
          <a:p>
            <a:pPr marL="457200" marR="0" lvl="1"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rgbClr val="1B1C1D"/>
                </a:solidFill>
                <a:effectLst/>
                <a:latin typeface="Google Sans Text"/>
              </a:rPr>
              <a:t>To solve this, we're building a special system that has two main parts. One part is a </a:t>
            </a:r>
            <a:r>
              <a:rPr kumimoji="0" lang="en-US" altLang="en-US" sz="1800" b="1" i="0" u="none" strike="noStrike" cap="none" normalizeH="0" baseline="0" dirty="0">
                <a:ln>
                  <a:noFill/>
                </a:ln>
                <a:solidFill>
                  <a:srgbClr val="1B1C1D"/>
                </a:solidFill>
                <a:effectLst/>
                <a:latin typeface="Google Sans Text"/>
              </a:rPr>
              <a:t>simple, fast detector</a:t>
            </a:r>
            <a:r>
              <a:rPr kumimoji="0" lang="en-US" altLang="en-US" sz="1800" b="0" i="0" u="none" strike="noStrike" cap="none" normalizeH="0" baseline="0" dirty="0">
                <a:ln>
                  <a:noFill/>
                </a:ln>
                <a:solidFill>
                  <a:srgbClr val="1B1C1D"/>
                </a:solidFill>
                <a:effectLst/>
                <a:latin typeface="Google Sans Text"/>
              </a:rPr>
              <a:t> that finds all the possible signs in a video. The second part is a </a:t>
            </a:r>
            <a:r>
              <a:rPr kumimoji="0" lang="en-US" altLang="en-US" sz="1800" b="1" i="0" u="none" strike="noStrike" cap="none" normalizeH="0" baseline="0" dirty="0">
                <a:ln>
                  <a:noFill/>
                </a:ln>
                <a:solidFill>
                  <a:srgbClr val="1B1C1D"/>
                </a:solidFill>
                <a:effectLst/>
                <a:latin typeface="Google Sans Text"/>
              </a:rPr>
              <a:t>smarter classifier</a:t>
            </a:r>
            <a:r>
              <a:rPr kumimoji="0" lang="en-US" altLang="en-US" sz="1800" b="0" i="0" u="none" strike="noStrike" cap="none" normalizeH="0" baseline="0" dirty="0">
                <a:ln>
                  <a:noFill/>
                </a:ln>
                <a:solidFill>
                  <a:srgbClr val="1B1C1D"/>
                </a:solidFill>
                <a:effectLst/>
                <a:latin typeface="Google Sans Text"/>
              </a:rPr>
              <a:t> that looks at what's been found and figures out exactly what kind of traffic sign it 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1B1C1D"/>
                </a:solidFill>
                <a:effectLst/>
                <a:latin typeface="Google Sans Text"/>
              </a:rPr>
              <a:t>Our Unique Approach</a:t>
            </a:r>
            <a:endParaRPr kumimoji="0" lang="en-US" altLang="en-US" sz="1800" b="0" i="0" u="none" strike="noStrike" cap="none" normalizeH="0" baseline="0" dirty="0">
              <a:ln>
                <a:noFill/>
              </a:ln>
              <a:solidFill>
                <a:srgbClr val="1B1C1D"/>
              </a:solidFill>
              <a:effectLst/>
              <a:latin typeface="Google Sans Text"/>
            </a:endParaRPr>
          </a:p>
          <a:p>
            <a:pPr marL="457200" marR="0" lvl="1"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rgbClr val="1B1C1D"/>
                </a:solidFill>
                <a:effectLst/>
                <a:latin typeface="Google Sans Text"/>
              </a:rPr>
              <a:t>Our system has two key features. First, it can </a:t>
            </a:r>
            <a:r>
              <a:rPr kumimoji="0" lang="en-US" altLang="en-US" sz="1800" b="1" i="0" u="none" strike="noStrike" cap="none" normalizeH="0" baseline="0" dirty="0">
                <a:ln>
                  <a:noFill/>
                </a:ln>
                <a:solidFill>
                  <a:srgbClr val="1B1C1D"/>
                </a:solidFill>
                <a:effectLst/>
                <a:latin typeface="Google Sans Text"/>
              </a:rPr>
              <a:t>reject fake signs</a:t>
            </a:r>
            <a:r>
              <a:rPr lang="en-US" altLang="en-US" dirty="0">
                <a:solidFill>
                  <a:srgbClr val="1B1C1D"/>
                </a:solidFill>
                <a:latin typeface="Google Sans Text"/>
              </a:rPr>
              <a:t> </a:t>
            </a:r>
            <a:r>
              <a:rPr kumimoji="0" lang="en-US" altLang="en-US" sz="1800" b="0" i="0" u="none" strike="noStrike" cap="none" normalizeH="0" baseline="0" dirty="0">
                <a:ln>
                  <a:noFill/>
                </a:ln>
                <a:solidFill>
                  <a:srgbClr val="1B1C1D"/>
                </a:solidFill>
                <a:effectLst/>
                <a:latin typeface="Google Sans Text"/>
              </a:rPr>
              <a:t>things that look like traffic signs but aren't—by checking their shape and color. Second, it uses a </a:t>
            </a:r>
            <a:r>
              <a:rPr kumimoji="0" lang="en-US" altLang="en-US" sz="1800" b="1" i="0" u="none" strike="noStrike" cap="none" normalizeH="0" baseline="0" dirty="0">
                <a:ln>
                  <a:noFill/>
                </a:ln>
                <a:solidFill>
                  <a:srgbClr val="1B1C1D"/>
                </a:solidFill>
                <a:effectLst/>
                <a:latin typeface="Google Sans Text"/>
              </a:rPr>
              <a:t>temporal consensus</a:t>
            </a:r>
            <a:r>
              <a:rPr kumimoji="0" lang="en-US" altLang="en-US" sz="1800" b="0" i="0" u="none" strike="noStrike" cap="none" normalizeH="0" baseline="0" dirty="0">
                <a:ln>
                  <a:noFill/>
                </a:ln>
                <a:solidFill>
                  <a:srgbClr val="1B1C1D"/>
                </a:solidFill>
                <a:effectLst/>
                <a:latin typeface="Google Sans Text"/>
              </a:rPr>
              <a:t> module that tracks a sign across multiple video frames. This makes our predictions more reliable, especially if a sign is blurry or briefly hidden.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1B1C1D"/>
                </a:solidFill>
                <a:effectLst/>
                <a:latin typeface="Google Sans Text"/>
              </a:rPr>
              <a:t>The Goal</a:t>
            </a:r>
            <a:endParaRPr kumimoji="0" lang="en-US" altLang="en-US" sz="1800" b="0" i="0" u="none" strike="noStrike" cap="none" normalizeH="0" baseline="0" dirty="0">
              <a:ln>
                <a:noFill/>
              </a:ln>
              <a:solidFill>
                <a:srgbClr val="1B1C1D"/>
              </a:solidFill>
              <a:effectLst/>
              <a:latin typeface="Google Sans Text"/>
            </a:endParaRPr>
          </a:p>
          <a:p>
            <a:pPr marL="457200" marR="0" lvl="1"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rgbClr val="1B1C1D"/>
                </a:solidFill>
                <a:effectLst/>
                <a:latin typeface="Google Sans Text"/>
              </a:rPr>
              <a:t>The main goal of our project is to create a high-performing system that runs quickly on a small computer. We want to show that our approach is a solid foundation for building practical and safe driver assistance systems.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55880C2-6116-797A-2AA0-60BC9089E685}"/>
              </a:ext>
            </a:extLst>
          </p:cNvPr>
          <p:cNvSpPr/>
          <p:nvPr/>
        </p:nvSpPr>
        <p:spPr>
          <a:xfrm>
            <a:off x="0" y="6607000"/>
            <a:ext cx="12192000" cy="25099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 name="object 2"/>
          <p:cNvSpPr txBox="1"/>
          <p:nvPr/>
        </p:nvSpPr>
        <p:spPr>
          <a:xfrm>
            <a:off x="2743200" y="6614344"/>
            <a:ext cx="7534074"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Real-Time Traffic Sign Recognition with Open-Set Rejection and Temporal Consensus.</a:t>
            </a:r>
            <a:endParaRPr sz="1500" dirty="0">
              <a:latin typeface="Times New Roman"/>
              <a:cs typeface="Times New Roman"/>
            </a:endParaRPr>
          </a:p>
        </p:txBody>
      </p:sp>
      <p:sp>
        <p:nvSpPr>
          <p:cNvPr id="6" name="object 6"/>
          <p:cNvSpPr txBox="1">
            <a:spLocks noGrp="1"/>
          </p:cNvSpPr>
          <p:nvPr>
            <p:ph type="title"/>
          </p:nvPr>
        </p:nvSpPr>
        <p:spPr>
          <a:xfrm>
            <a:off x="31679" y="232759"/>
            <a:ext cx="3946525" cy="695960"/>
          </a:xfrm>
          <a:prstGeom prst="rect">
            <a:avLst/>
          </a:prstGeom>
        </p:spPr>
        <p:txBody>
          <a:bodyPr vert="horz" wrap="square" lIns="0" tIns="12700" rIns="0" bIns="0" rtlCol="0">
            <a:spAutoFit/>
          </a:bodyPr>
          <a:lstStyle/>
          <a:p>
            <a:pPr marL="12700">
              <a:lnSpc>
                <a:spcPct val="100000"/>
              </a:lnSpc>
              <a:spcBef>
                <a:spcPts val="100"/>
              </a:spcBef>
            </a:pPr>
            <a:r>
              <a:rPr dirty="0">
                <a:solidFill>
                  <a:schemeClr val="tx1"/>
                </a:solidFill>
              </a:rPr>
              <a:t>Literature</a:t>
            </a:r>
            <a:r>
              <a:rPr spc="-50" dirty="0">
                <a:solidFill>
                  <a:schemeClr val="tx1"/>
                </a:solidFill>
              </a:rPr>
              <a:t> </a:t>
            </a:r>
            <a:r>
              <a:rPr spc="-10" dirty="0">
                <a:solidFill>
                  <a:schemeClr val="tx1"/>
                </a:solidFill>
              </a:rPr>
              <a:t>Survey</a:t>
            </a:r>
          </a:p>
        </p:txBody>
      </p:sp>
      <p:graphicFrame>
        <p:nvGraphicFramePr>
          <p:cNvPr id="7" name="object 7"/>
          <p:cNvGraphicFramePr>
            <a:graphicFrameLocks noGrp="1"/>
          </p:cNvGraphicFramePr>
          <p:nvPr>
            <p:extLst>
              <p:ext uri="{D42A27DB-BD31-4B8C-83A1-F6EECF244321}">
                <p14:modId xmlns:p14="http://schemas.microsoft.com/office/powerpoint/2010/main" val="2613282545"/>
              </p:ext>
            </p:extLst>
          </p:nvPr>
        </p:nvGraphicFramePr>
        <p:xfrm>
          <a:off x="228600" y="1143000"/>
          <a:ext cx="11582400" cy="4724401"/>
        </p:xfrm>
        <a:graphic>
          <a:graphicData uri="http://schemas.openxmlformats.org/drawingml/2006/table">
            <a:tbl>
              <a:tblPr firstRow="1" bandRow="1">
                <a:tableStyleId>{073A0DAA-6AF3-43AB-8588-CEC1D06C72B9}</a:tableStyleId>
              </a:tblPr>
              <a:tblGrid>
                <a:gridCol w="268468">
                  <a:extLst>
                    <a:ext uri="{9D8B030D-6E8A-4147-A177-3AD203B41FA5}">
                      <a16:colId xmlns:a16="http://schemas.microsoft.com/office/drawing/2014/main" val="20000"/>
                    </a:ext>
                  </a:extLst>
                </a:gridCol>
                <a:gridCol w="2159495">
                  <a:extLst>
                    <a:ext uri="{9D8B030D-6E8A-4147-A177-3AD203B41FA5}">
                      <a16:colId xmlns:a16="http://schemas.microsoft.com/office/drawing/2014/main" val="20001"/>
                    </a:ext>
                  </a:extLst>
                </a:gridCol>
                <a:gridCol w="1529145">
                  <a:extLst>
                    <a:ext uri="{9D8B030D-6E8A-4147-A177-3AD203B41FA5}">
                      <a16:colId xmlns:a16="http://schemas.microsoft.com/office/drawing/2014/main" val="20002"/>
                    </a:ext>
                  </a:extLst>
                </a:gridCol>
                <a:gridCol w="1504652">
                  <a:extLst>
                    <a:ext uri="{9D8B030D-6E8A-4147-A177-3AD203B41FA5}">
                      <a16:colId xmlns:a16="http://schemas.microsoft.com/office/drawing/2014/main" val="20003"/>
                    </a:ext>
                  </a:extLst>
                </a:gridCol>
                <a:gridCol w="1946936">
                  <a:extLst>
                    <a:ext uri="{9D8B030D-6E8A-4147-A177-3AD203B41FA5}">
                      <a16:colId xmlns:a16="http://schemas.microsoft.com/office/drawing/2014/main" val="20004"/>
                    </a:ext>
                  </a:extLst>
                </a:gridCol>
                <a:gridCol w="2213589">
                  <a:extLst>
                    <a:ext uri="{9D8B030D-6E8A-4147-A177-3AD203B41FA5}">
                      <a16:colId xmlns:a16="http://schemas.microsoft.com/office/drawing/2014/main" val="20005"/>
                    </a:ext>
                  </a:extLst>
                </a:gridCol>
                <a:gridCol w="1960115">
                  <a:extLst>
                    <a:ext uri="{9D8B030D-6E8A-4147-A177-3AD203B41FA5}">
                      <a16:colId xmlns:a16="http://schemas.microsoft.com/office/drawing/2014/main" val="20006"/>
                    </a:ext>
                  </a:extLst>
                </a:gridCol>
              </a:tblGrid>
              <a:tr h="474539">
                <a:tc>
                  <a:txBody>
                    <a:bodyPr/>
                    <a:lstStyle/>
                    <a:p>
                      <a:pPr marL="85725" algn="ctr">
                        <a:lnSpc>
                          <a:spcPct val="100000"/>
                        </a:lnSpc>
                        <a:spcBef>
                          <a:spcPts val="225"/>
                        </a:spcBef>
                      </a:pPr>
                      <a:endParaRPr lang="en-US" sz="1100" b="1" spc="-25" dirty="0">
                        <a:solidFill>
                          <a:srgbClr val="FFFFFF"/>
                        </a:solidFill>
                        <a:latin typeface="Google Sans Text"/>
                      </a:endParaRPr>
                    </a:p>
                  </a:txBody>
                  <a:tcPr marL="0" marR="0" marT="28575" marB="0" anchor="ctr"/>
                </a:tc>
                <a:tc>
                  <a:txBody>
                    <a:bodyPr/>
                    <a:lstStyle/>
                    <a:p>
                      <a:pPr marL="85725" algn="ctr">
                        <a:lnSpc>
                          <a:spcPct val="100000"/>
                        </a:lnSpc>
                        <a:spcBef>
                          <a:spcPts val="225"/>
                        </a:spcBef>
                      </a:pPr>
                      <a:r>
                        <a:rPr sz="1100" b="1" spc="-10" dirty="0">
                          <a:solidFill>
                            <a:srgbClr val="FFFFFF"/>
                          </a:solidFill>
                          <a:latin typeface="Google Sans Text"/>
                        </a:rPr>
                        <a:t>Title</a:t>
                      </a:r>
                      <a:endParaRPr sz="1100">
                        <a:latin typeface="Google Sans Text"/>
                        <a:cs typeface="Calibri"/>
                      </a:endParaRPr>
                    </a:p>
                  </a:txBody>
                  <a:tcPr marL="0" marR="0" marT="28575" marB="0" anchor="ctr"/>
                </a:tc>
                <a:tc>
                  <a:txBody>
                    <a:bodyPr/>
                    <a:lstStyle/>
                    <a:p>
                      <a:pPr marL="85725" algn="ctr">
                        <a:lnSpc>
                          <a:spcPct val="100000"/>
                        </a:lnSpc>
                        <a:spcBef>
                          <a:spcPts val="225"/>
                        </a:spcBef>
                      </a:pPr>
                      <a:r>
                        <a:rPr sz="1100" b="1" spc="-10" dirty="0">
                          <a:solidFill>
                            <a:srgbClr val="FFFFFF"/>
                          </a:solidFill>
                          <a:latin typeface="Google Sans Text"/>
                        </a:rPr>
                        <a:t>Author</a:t>
                      </a:r>
                      <a:endParaRPr sz="1100">
                        <a:latin typeface="Google Sans Text"/>
                        <a:cs typeface="Calibri"/>
                      </a:endParaRPr>
                    </a:p>
                  </a:txBody>
                  <a:tcPr marL="0" marR="0" marT="28575" marB="0" anchor="ctr"/>
                </a:tc>
                <a:tc>
                  <a:txBody>
                    <a:bodyPr/>
                    <a:lstStyle/>
                    <a:p>
                      <a:pPr marL="85725" marR="137160" algn="ctr">
                        <a:lnSpc>
                          <a:spcPct val="100000"/>
                        </a:lnSpc>
                        <a:spcBef>
                          <a:spcPts val="225"/>
                        </a:spcBef>
                      </a:pPr>
                      <a:r>
                        <a:rPr sz="1100" b="1" dirty="0">
                          <a:solidFill>
                            <a:srgbClr val="FFFFFF"/>
                          </a:solidFill>
                          <a:latin typeface="Google Sans Text"/>
                        </a:rPr>
                        <a:t>Journal</a:t>
                      </a:r>
                      <a:r>
                        <a:rPr sz="1100" b="1" spc="-35" dirty="0">
                          <a:solidFill>
                            <a:srgbClr val="FFFFFF"/>
                          </a:solidFill>
                          <a:latin typeface="Google Sans Text"/>
                        </a:rPr>
                        <a:t> </a:t>
                      </a:r>
                      <a:r>
                        <a:rPr sz="1100" b="1" spc="-20" dirty="0">
                          <a:solidFill>
                            <a:srgbClr val="FFFFFF"/>
                          </a:solidFill>
                          <a:latin typeface="Google Sans Text"/>
                        </a:rPr>
                        <a:t>Name </a:t>
                      </a:r>
                      <a:r>
                        <a:rPr sz="1100" b="1" dirty="0">
                          <a:solidFill>
                            <a:srgbClr val="FFFFFF"/>
                          </a:solidFill>
                          <a:latin typeface="Google Sans Text"/>
                        </a:rPr>
                        <a:t>&amp;</a:t>
                      </a:r>
                      <a:r>
                        <a:rPr sz="1100" b="1" spc="-5" dirty="0">
                          <a:solidFill>
                            <a:srgbClr val="FFFFFF"/>
                          </a:solidFill>
                          <a:latin typeface="Google Sans Text"/>
                        </a:rPr>
                        <a:t> </a:t>
                      </a:r>
                      <a:r>
                        <a:rPr sz="1100" b="1" spc="-20" dirty="0">
                          <a:solidFill>
                            <a:srgbClr val="FFFFFF"/>
                          </a:solidFill>
                          <a:latin typeface="Google Sans Text"/>
                        </a:rPr>
                        <a:t>Year</a:t>
                      </a:r>
                      <a:endParaRPr sz="1100">
                        <a:latin typeface="Google Sans Text"/>
                        <a:cs typeface="Calibri"/>
                      </a:endParaRPr>
                    </a:p>
                  </a:txBody>
                  <a:tcPr marL="0" marR="0" marT="28575" marB="0" anchor="ctr"/>
                </a:tc>
                <a:tc>
                  <a:txBody>
                    <a:bodyPr/>
                    <a:lstStyle/>
                    <a:p>
                      <a:pPr marL="85090" marR="521334" algn="ctr">
                        <a:lnSpc>
                          <a:spcPct val="100000"/>
                        </a:lnSpc>
                        <a:spcBef>
                          <a:spcPts val="225"/>
                        </a:spcBef>
                      </a:pPr>
                      <a:r>
                        <a:rPr sz="1100" b="1" spc="-10" dirty="0">
                          <a:solidFill>
                            <a:srgbClr val="FFFFFF"/>
                          </a:solidFill>
                          <a:latin typeface="Google Sans Text"/>
                        </a:rPr>
                        <a:t>Methodology Adapted</a:t>
                      </a:r>
                      <a:endParaRPr sz="1100" dirty="0">
                        <a:latin typeface="Google Sans Text"/>
                        <a:cs typeface="Calibri"/>
                      </a:endParaRPr>
                    </a:p>
                  </a:txBody>
                  <a:tcPr marL="0" marR="0" marT="28575" marB="0" anchor="ctr"/>
                </a:tc>
                <a:tc>
                  <a:txBody>
                    <a:bodyPr/>
                    <a:lstStyle/>
                    <a:p>
                      <a:pPr marL="85725" algn="ctr">
                        <a:lnSpc>
                          <a:spcPct val="100000"/>
                        </a:lnSpc>
                        <a:spcBef>
                          <a:spcPts val="225"/>
                        </a:spcBef>
                      </a:pPr>
                      <a:r>
                        <a:rPr sz="1100" b="1" dirty="0">
                          <a:solidFill>
                            <a:srgbClr val="FFFFFF"/>
                          </a:solidFill>
                          <a:latin typeface="Google Sans Text"/>
                        </a:rPr>
                        <a:t>Key</a:t>
                      </a:r>
                      <a:r>
                        <a:rPr sz="1100" b="1" spc="-25" dirty="0">
                          <a:solidFill>
                            <a:srgbClr val="FFFFFF"/>
                          </a:solidFill>
                          <a:latin typeface="Google Sans Text"/>
                        </a:rPr>
                        <a:t> </a:t>
                      </a:r>
                      <a:r>
                        <a:rPr sz="1100" b="1" spc="-10" dirty="0">
                          <a:solidFill>
                            <a:srgbClr val="FFFFFF"/>
                          </a:solidFill>
                          <a:latin typeface="Google Sans Text"/>
                        </a:rPr>
                        <a:t>Findings</a:t>
                      </a:r>
                      <a:endParaRPr sz="1100">
                        <a:latin typeface="Google Sans Text"/>
                        <a:cs typeface="Calibri"/>
                      </a:endParaRPr>
                    </a:p>
                  </a:txBody>
                  <a:tcPr marL="0" marR="0" marT="28575" marB="0" anchor="ctr"/>
                </a:tc>
                <a:tc>
                  <a:txBody>
                    <a:bodyPr/>
                    <a:lstStyle/>
                    <a:p>
                      <a:pPr marL="85725" algn="ctr">
                        <a:lnSpc>
                          <a:spcPct val="100000"/>
                        </a:lnSpc>
                        <a:spcBef>
                          <a:spcPts val="225"/>
                        </a:spcBef>
                      </a:pPr>
                      <a:r>
                        <a:rPr sz="1100" b="1" spc="-20" dirty="0">
                          <a:solidFill>
                            <a:srgbClr val="FFFFFF"/>
                          </a:solidFill>
                          <a:latin typeface="Google Sans Text"/>
                        </a:rPr>
                        <a:t>Gaps</a:t>
                      </a:r>
                      <a:endParaRPr sz="1100">
                        <a:latin typeface="Google Sans Text"/>
                        <a:cs typeface="Calibri"/>
                      </a:endParaRPr>
                    </a:p>
                  </a:txBody>
                  <a:tcPr marL="0" marR="0" marT="28575" marB="0" anchor="ctr"/>
                </a:tc>
                <a:extLst>
                  <a:ext uri="{0D108BD9-81ED-4DB2-BD59-A6C34878D82A}">
                    <a16:rowId xmlns:a16="http://schemas.microsoft.com/office/drawing/2014/main" val="10000"/>
                  </a:ext>
                </a:extLst>
              </a:tr>
              <a:tr h="1749943">
                <a:tc>
                  <a:txBody>
                    <a:bodyPr/>
                    <a:lstStyle/>
                    <a:p>
                      <a:pPr marL="85725" algn="ctr">
                        <a:lnSpc>
                          <a:spcPct val="100000"/>
                        </a:lnSpc>
                        <a:spcBef>
                          <a:spcPts val="225"/>
                        </a:spcBef>
                      </a:pPr>
                      <a:r>
                        <a:rPr lang="en-US" sz="1100" spc="-50" dirty="0">
                          <a:latin typeface="Google Sans Text"/>
                        </a:rPr>
                        <a:t>1</a:t>
                      </a:r>
                      <a:endParaRPr sz="1100" dirty="0">
                        <a:latin typeface="Google Sans Text"/>
                        <a:cs typeface="Calibri"/>
                      </a:endParaRPr>
                    </a:p>
                  </a:txBody>
                  <a:tcPr marL="0" marR="0" marT="28575" marB="0" anchor="ctr"/>
                </a:tc>
                <a:tc>
                  <a:txBody>
                    <a:bodyPr/>
                    <a:lstStyle/>
                    <a:p>
                      <a:pPr algn="ctr">
                        <a:lnSpc>
                          <a:spcPct val="100000"/>
                        </a:lnSpc>
                      </a:pPr>
                      <a:r>
                        <a:rPr lang="en-US" sz="1100" dirty="0">
                          <a:latin typeface="Google Sans Text"/>
                        </a:rPr>
                        <a:t>A Real-Time Traffic Sign Recognition Method Using a New Attention-Based Deep Convolutional Neural Network for Smart Vehicles</a:t>
                      </a:r>
                      <a:endParaRPr sz="1100" dirty="0">
                        <a:latin typeface="Google Sans Text"/>
                        <a:cs typeface="Times New Roman"/>
                      </a:endParaRPr>
                    </a:p>
                  </a:txBody>
                  <a:tcPr marL="0" marR="0" marT="0" marB="0" anchor="ctr"/>
                </a:tc>
                <a:tc>
                  <a:txBody>
                    <a:bodyPr/>
                    <a:lstStyle/>
                    <a:p>
                      <a:pPr algn="ctr">
                        <a:lnSpc>
                          <a:spcPct val="100000"/>
                        </a:lnSpc>
                      </a:pPr>
                      <a:r>
                        <a:rPr lang="pl-PL" sz="1100" dirty="0">
                          <a:latin typeface="Google Sans Text"/>
                        </a:rPr>
                        <a:t>Hana, B. F., Amani, C., Jamel, B. H., Chokri, S.</a:t>
                      </a:r>
                      <a:endParaRPr sz="1100" dirty="0">
                        <a:latin typeface="Google Sans Text"/>
                        <a:cs typeface="Times New Roman"/>
                      </a:endParaRPr>
                    </a:p>
                  </a:txBody>
                  <a:tcPr marL="0" marR="0" marT="0" marB="0" anchor="ctr"/>
                </a:tc>
                <a:tc>
                  <a:txBody>
                    <a:bodyPr/>
                    <a:lstStyle/>
                    <a:p>
                      <a:pPr algn="ctr">
                        <a:lnSpc>
                          <a:spcPct val="100000"/>
                        </a:lnSpc>
                      </a:pPr>
                      <a:r>
                        <a:rPr lang="en-IN" sz="1100" dirty="0">
                          <a:latin typeface="Google Sans Text"/>
                        </a:rPr>
                        <a:t>MDPI &amp; 2023</a:t>
                      </a:r>
                      <a:endParaRPr sz="1100" dirty="0">
                        <a:latin typeface="Google Sans Text"/>
                        <a:cs typeface="Times New Roman"/>
                      </a:endParaRPr>
                    </a:p>
                  </a:txBody>
                  <a:tcPr marL="0" marR="0" marT="0" marB="0" anchor="ctr"/>
                </a:tc>
                <a:tc>
                  <a:txBody>
                    <a:bodyPr/>
                    <a:lstStyle/>
                    <a:p>
                      <a:pPr algn="ctr">
                        <a:lnSpc>
                          <a:spcPct val="100000"/>
                        </a:lnSpc>
                      </a:pPr>
                      <a:r>
                        <a:rPr lang="en-US" sz="1100" dirty="0">
                          <a:latin typeface="Google Sans Text"/>
                        </a:rPr>
                        <a:t>Combines the Haar cascade technique with a deep CNN model classifier to recognize 43 types of signs.</a:t>
                      </a:r>
                      <a:endParaRPr sz="1100" dirty="0">
                        <a:latin typeface="Google Sans Text"/>
                        <a:cs typeface="Times New Roman"/>
                      </a:endParaRPr>
                    </a:p>
                  </a:txBody>
                  <a:tcPr marL="0" marR="0" marT="0" marB="0" anchor="ctr"/>
                </a:tc>
                <a:tc>
                  <a:txBody>
                    <a:bodyPr/>
                    <a:lstStyle/>
                    <a:p>
                      <a:pPr algn="ctr">
                        <a:lnSpc>
                          <a:spcPct val="100000"/>
                        </a:lnSpc>
                      </a:pPr>
                      <a:r>
                        <a:rPr lang="en-US" sz="1100" dirty="0">
                          <a:latin typeface="Google Sans Text"/>
                        </a:rPr>
                        <a:t>Achieved high accuracy (99.91%) and F1-measure rates (99%). The system was validated on a Raspberry Pi 4 board, demonstrating its viability for embedded systems.</a:t>
                      </a:r>
                      <a:endParaRPr sz="1100" dirty="0">
                        <a:latin typeface="Google Sans Text"/>
                        <a:cs typeface="Times New Roman"/>
                      </a:endParaRPr>
                    </a:p>
                  </a:txBody>
                  <a:tcPr marL="0" marR="0" marT="0" marB="0" anchor="ctr"/>
                </a:tc>
                <a:tc>
                  <a:txBody>
                    <a:bodyPr/>
                    <a:lstStyle/>
                    <a:p>
                      <a:pPr algn="ctr">
                        <a:lnSpc>
                          <a:spcPct val="100000"/>
                        </a:lnSpc>
                      </a:pPr>
                      <a:r>
                        <a:rPr lang="en-US" sz="1100" dirty="0">
                          <a:latin typeface="Google Sans Text"/>
                        </a:rPr>
                        <a:t>While this paper mentions a system for smart vehicles, it does not specifically address the problem of open-set rejection or the use of temporal consensus to handle unknown objects or improve stability in a video stream.</a:t>
                      </a:r>
                      <a:endParaRPr sz="1100" dirty="0">
                        <a:latin typeface="Google Sans Text"/>
                        <a:cs typeface="Times New Roman"/>
                      </a:endParaRPr>
                    </a:p>
                  </a:txBody>
                  <a:tcPr marL="0" marR="0" marT="0" marB="0" anchor="ctr"/>
                </a:tc>
                <a:extLst>
                  <a:ext uri="{0D108BD9-81ED-4DB2-BD59-A6C34878D82A}">
                    <a16:rowId xmlns:a16="http://schemas.microsoft.com/office/drawing/2014/main" val="10002"/>
                  </a:ext>
                </a:extLst>
              </a:tr>
              <a:tr h="2499919">
                <a:tc>
                  <a:txBody>
                    <a:bodyPr/>
                    <a:lstStyle/>
                    <a:p>
                      <a:pPr marL="85725" algn="ctr">
                        <a:lnSpc>
                          <a:spcPct val="100000"/>
                        </a:lnSpc>
                        <a:spcBef>
                          <a:spcPts val="225"/>
                        </a:spcBef>
                      </a:pPr>
                      <a:r>
                        <a:rPr lang="en-US" sz="1100" spc="-50" dirty="0">
                          <a:latin typeface="Google Sans Text"/>
                        </a:rPr>
                        <a:t>2</a:t>
                      </a:r>
                      <a:endParaRPr sz="1100" dirty="0">
                        <a:latin typeface="Google Sans Text"/>
                        <a:cs typeface="Calibri"/>
                      </a:endParaRPr>
                    </a:p>
                  </a:txBody>
                  <a:tcPr marL="0" marR="0" marT="28575" marB="0" anchor="ctr"/>
                </a:tc>
                <a:tc>
                  <a:txBody>
                    <a:bodyPr/>
                    <a:lstStyle/>
                    <a:p>
                      <a:pPr algn="ctr">
                        <a:lnSpc>
                          <a:spcPct val="100000"/>
                        </a:lnSpc>
                      </a:pPr>
                      <a:r>
                        <a:rPr lang="en-US" sz="1100" dirty="0">
                          <a:latin typeface="Google Sans Text"/>
                        </a:rPr>
                        <a:t>"Video Object Detection via Object-level Temporal Aggregation"</a:t>
                      </a:r>
                      <a:endParaRPr sz="1100" dirty="0">
                        <a:latin typeface="Google Sans Text"/>
                        <a:cs typeface="Times New Roman"/>
                      </a:endParaRPr>
                    </a:p>
                  </a:txBody>
                  <a:tcPr marL="0" marR="0" marT="0" marB="0" anchor="ctr"/>
                </a:tc>
                <a:tc>
                  <a:txBody>
                    <a:bodyPr/>
                    <a:lstStyle/>
                    <a:p>
                      <a:pPr algn="ctr">
                        <a:lnSpc>
                          <a:spcPct val="100000"/>
                        </a:lnSpc>
                      </a:pPr>
                      <a:r>
                        <a:rPr lang="en-IN" sz="1100" dirty="0">
                          <a:latin typeface="Google Sans Text"/>
                        </a:rPr>
                        <a:t>Xingyi Zhou, Deva Ramanan</a:t>
                      </a:r>
                      <a:endParaRPr sz="1100" dirty="0">
                        <a:latin typeface="Google Sans Text"/>
                        <a:cs typeface="Times New Roman"/>
                      </a:endParaRPr>
                    </a:p>
                  </a:txBody>
                  <a:tcPr marL="0" marR="0" marT="0" marB="0" anchor="ctr"/>
                </a:tc>
                <a:tc>
                  <a:txBody>
                    <a:bodyPr/>
                    <a:lstStyle/>
                    <a:p>
                      <a:pPr algn="ctr">
                        <a:lnSpc>
                          <a:spcPct val="100000"/>
                        </a:lnSpc>
                      </a:pPr>
                      <a:r>
                        <a:rPr lang="en-IN" sz="1100" dirty="0">
                          <a:latin typeface="Google Sans Text"/>
                        </a:rPr>
                        <a:t>European Computer Vision Association &amp; 2020</a:t>
                      </a:r>
                      <a:endParaRPr sz="1100" dirty="0">
                        <a:latin typeface="Google Sans Text"/>
                        <a:cs typeface="Times New Roman"/>
                      </a:endParaRPr>
                    </a:p>
                  </a:txBody>
                  <a:tcPr marL="0" marR="0" marT="0" marB="0" anchor="ctr"/>
                </a:tc>
                <a:tc>
                  <a:txBody>
                    <a:bodyPr/>
                    <a:lstStyle/>
                    <a:p>
                      <a:pPr algn="ctr">
                        <a:lnSpc>
                          <a:spcPct val="100000"/>
                        </a:lnSpc>
                      </a:pPr>
                      <a:r>
                        <a:rPr lang="en-US" sz="1100" dirty="0">
                          <a:latin typeface="Google Sans Text"/>
                        </a:rPr>
                        <a:t>Proposes temporal aggregation modules that integrate object detection and tracking at the object or bounding box level. It applies detection on sparse keyframes and uses real-time trackers to propagate object status.</a:t>
                      </a:r>
                      <a:endParaRPr sz="1100" dirty="0">
                        <a:latin typeface="Google Sans Text"/>
                        <a:cs typeface="Times New Roman"/>
                      </a:endParaRPr>
                    </a:p>
                  </a:txBody>
                  <a:tcPr marL="0" marR="0" marT="0" marB="0" anchor="ctr"/>
                </a:tc>
                <a:tc>
                  <a:txBody>
                    <a:bodyPr/>
                    <a:lstStyle/>
                    <a:p>
                      <a:pPr algn="ctr">
                        <a:lnSpc>
                          <a:spcPct val="100000"/>
                        </a:lnSpc>
                      </a:pPr>
                      <a:r>
                        <a:rPr lang="en-US" sz="1100" dirty="0">
                          <a:latin typeface="Google Sans Text"/>
                        </a:rPr>
                        <a:t>Achieved a competitive speed-accuracy trade-off by reducing redundant computation while maintaining temporal consistency.</a:t>
                      </a:r>
                      <a:endParaRPr sz="1100" dirty="0">
                        <a:latin typeface="Google Sans Text"/>
                        <a:cs typeface="Times New Roman"/>
                      </a:endParaRPr>
                    </a:p>
                  </a:txBody>
                  <a:tcPr marL="0" marR="0" marT="0" marB="0" anchor="ctr"/>
                </a:tc>
                <a:tc>
                  <a:txBody>
                    <a:bodyPr/>
                    <a:lstStyle/>
                    <a:p>
                      <a:pPr algn="ctr">
                        <a:lnSpc>
                          <a:spcPct val="100000"/>
                        </a:lnSpc>
                      </a:pPr>
                      <a:r>
                        <a:rPr lang="en-US" sz="1100" dirty="0">
                          <a:latin typeface="Google Sans Text"/>
                        </a:rPr>
                        <a:t>This is a foundational approach to using tracking for temporal aggregation in video object detection. Your project will apply this concept specifically to traffic signs, which have a unique set of challenges, and will combine it with an open-set rejection component, which is not the focus of this paper.</a:t>
                      </a:r>
                      <a:endParaRPr sz="1100" dirty="0">
                        <a:latin typeface="Google Sans Text"/>
                        <a:cs typeface="Times New Roman"/>
                      </a:endParaRPr>
                    </a:p>
                  </a:txBody>
                  <a:tcPr marL="0" marR="0" marT="0" marB="0"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0" y="189751"/>
            <a:ext cx="3888104" cy="695960"/>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spc="-10" dirty="0">
                <a:solidFill>
                  <a:schemeClr val="tx1"/>
                </a:solidFill>
              </a:rPr>
              <a:t>Proposed</a:t>
            </a:r>
            <a:r>
              <a:rPr dirty="0">
                <a:solidFill>
                  <a:schemeClr val="tx1"/>
                </a:solidFill>
              </a:rPr>
              <a:t>	</a:t>
            </a:r>
            <a:r>
              <a:rPr spc="-10" dirty="0">
                <a:solidFill>
                  <a:schemeClr val="tx1"/>
                </a:solidFill>
              </a:rPr>
              <a:t>System</a:t>
            </a:r>
          </a:p>
        </p:txBody>
      </p:sp>
      <p:sp>
        <p:nvSpPr>
          <p:cNvPr id="11" name="object 11"/>
          <p:cNvSpPr txBox="1">
            <a:spLocks noGrp="1"/>
          </p:cNvSpPr>
          <p:nvPr>
            <p:ph type="sldNum" sz="quarter" idx="12"/>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6</a:t>
            </a:fld>
            <a:endParaRPr spc="-25" dirty="0"/>
          </a:p>
        </p:txBody>
      </p:sp>
      <p:sp>
        <p:nvSpPr>
          <p:cNvPr id="2" name="Rectangle 1">
            <a:extLst>
              <a:ext uri="{FF2B5EF4-FFF2-40B4-BE49-F238E27FC236}">
                <a16:creationId xmlns:a16="http://schemas.microsoft.com/office/drawing/2014/main" id="{6055F276-D9BC-EE02-21A5-4B9F7F519470}"/>
              </a:ext>
            </a:extLst>
          </p:cNvPr>
          <p:cNvSpPr/>
          <p:nvPr/>
        </p:nvSpPr>
        <p:spPr>
          <a:xfrm>
            <a:off x="0" y="6607000"/>
            <a:ext cx="12192000" cy="25099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5" name="Rectangle 3">
            <a:extLst>
              <a:ext uri="{FF2B5EF4-FFF2-40B4-BE49-F238E27FC236}">
                <a16:creationId xmlns:a16="http://schemas.microsoft.com/office/drawing/2014/main" id="{747BDB76-3702-2B0A-9762-54565910FDDB}"/>
              </a:ext>
            </a:extLst>
          </p:cNvPr>
          <p:cNvSpPr>
            <a:spLocks noChangeArrowheads="1"/>
          </p:cNvSpPr>
          <p:nvPr/>
        </p:nvSpPr>
        <p:spPr bwMode="auto">
          <a:xfrm>
            <a:off x="166588" y="1067717"/>
            <a:ext cx="11858823" cy="5283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50784"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1" i="0" u="none" strike="noStrike" cap="none" normalizeH="0" baseline="0" dirty="0">
                <a:ln>
                  <a:noFill/>
                </a:ln>
                <a:solidFill>
                  <a:srgbClr val="1B1C1D"/>
                </a:solidFill>
                <a:effectLst/>
                <a:latin typeface="Google Sans Text"/>
              </a:rPr>
              <a:t> How the System Works</a:t>
            </a:r>
            <a:endParaRPr kumimoji="0" lang="en-US" altLang="en-US" sz="1700" b="0" i="0" u="none" strike="noStrike" cap="none" normalizeH="0" baseline="0" dirty="0">
              <a:ln>
                <a:noFill/>
              </a:ln>
              <a:solidFill>
                <a:srgbClr val="1B1C1D"/>
              </a:solidFill>
              <a:effectLst/>
              <a:latin typeface="Google Sans Text"/>
            </a:endParaRPr>
          </a:p>
          <a:p>
            <a:pPr marL="742950" marR="0" lvl="1"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rgbClr val="1B1C1D"/>
                </a:solidFill>
                <a:effectLst/>
                <a:latin typeface="Google Sans Text"/>
              </a:rPr>
              <a:t>Our system processes a video to find traffic signs in real time.</a:t>
            </a:r>
          </a:p>
          <a:p>
            <a:pPr marL="742950" marR="0" lvl="1"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rgbClr val="1B1C1D"/>
                </a:solidFill>
                <a:effectLst/>
                <a:latin typeface="Google Sans Text"/>
              </a:rPr>
              <a:t>It first uses a fast detector to spot possible signs. Then, a more detailed classifier identifies what each sign means.</a:t>
            </a:r>
          </a:p>
          <a:p>
            <a:pPr marL="742950" marR="0" lvl="1"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rgbClr val="1B1C1D"/>
                </a:solidFill>
                <a:effectLst/>
                <a:latin typeface="Google Sans Text"/>
              </a:rPr>
              <a:t>To make sure it's reliable, we've added a feature that rejects fake signs and another that helps the system track signs across different video frames.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1" i="0" u="none" strike="noStrike" cap="none" normalizeH="0" baseline="0" dirty="0">
                <a:ln>
                  <a:noFill/>
                </a:ln>
                <a:solidFill>
                  <a:srgbClr val="1B1C1D"/>
                </a:solidFill>
                <a:effectLst/>
                <a:latin typeface="Google Sans Text"/>
              </a:rPr>
              <a:t>The Fast Detector</a:t>
            </a:r>
            <a:endParaRPr kumimoji="0" lang="en-US" altLang="en-US" sz="1700" b="0" i="0" u="none" strike="noStrike" cap="none" normalizeH="0" baseline="0" dirty="0">
              <a:ln>
                <a:noFill/>
              </a:ln>
              <a:solidFill>
                <a:srgbClr val="1B1C1D"/>
              </a:solidFill>
              <a:effectLst/>
              <a:latin typeface="Google Sans Text"/>
            </a:endParaRPr>
          </a:p>
          <a:p>
            <a:pPr marL="742950" marR="0" lvl="1"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rgbClr val="1B1C1D"/>
                </a:solidFill>
                <a:effectLst/>
                <a:latin typeface="Google Sans Text"/>
              </a:rPr>
              <a:t>We are using a single-stage detector, which is a type of AI model that is very fast.</a:t>
            </a:r>
          </a:p>
          <a:p>
            <a:pPr marL="742950" marR="0" lvl="1"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rgbClr val="1B1C1D"/>
                </a:solidFill>
                <a:effectLst/>
                <a:latin typeface="Google Sans Text"/>
              </a:rPr>
              <a:t>It finds signs in one quick step, which is perfect for real-time video because it helps the system react quickly.</a:t>
            </a:r>
          </a:p>
          <a:p>
            <a:pPr marL="742950" marR="0" lvl="1"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rgbClr val="1B1C1D"/>
                </a:solidFill>
                <a:effectLst/>
                <a:latin typeface="Google Sans Text"/>
              </a:rPr>
              <a:t>This is important because traffic signs are often very small, and we need a system that can find them quickly and efficiently.</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1" i="0" u="none" strike="noStrike" cap="none" normalizeH="0" baseline="0" dirty="0">
                <a:ln>
                  <a:noFill/>
                </a:ln>
                <a:solidFill>
                  <a:srgbClr val="1B1C1D"/>
                </a:solidFill>
                <a:effectLst/>
                <a:latin typeface="Google Sans Text"/>
              </a:rPr>
              <a:t>The Smart Classifier</a:t>
            </a:r>
            <a:endParaRPr kumimoji="0" lang="en-US" altLang="en-US" sz="1700" b="0" i="0" u="none" strike="noStrike" cap="none" normalizeH="0" baseline="0" dirty="0">
              <a:ln>
                <a:noFill/>
              </a:ln>
              <a:solidFill>
                <a:srgbClr val="1B1C1D"/>
              </a:solidFill>
              <a:effectLst/>
              <a:latin typeface="Google Sans Text"/>
            </a:endParaRPr>
          </a:p>
          <a:p>
            <a:pPr marL="742950" marR="0" lvl="1"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rgbClr val="1B1C1D"/>
                </a:solidFill>
                <a:effectLst/>
                <a:latin typeface="Google Sans Text"/>
              </a:rPr>
              <a:t>The classifier is what tells us exactly what kind of sign we've found.</a:t>
            </a:r>
          </a:p>
          <a:p>
            <a:pPr marL="742950" marR="0" lvl="1"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rgbClr val="1B1C1D"/>
                </a:solidFill>
                <a:effectLst/>
                <a:latin typeface="Google Sans Text"/>
              </a:rPr>
              <a:t>It's a "fine-grained" classifier, so it can tell the difference between similar-looking signs.</a:t>
            </a:r>
          </a:p>
          <a:p>
            <a:pPr marL="742950" marR="0" lvl="1"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rgbClr val="1B1C1D"/>
                </a:solidFill>
                <a:effectLst/>
                <a:latin typeface="Google Sans Text"/>
              </a:rPr>
              <a:t>We're also adding a special feature that acts like a bouncer: it uses simple rules about sign shapes (like circles and triangles) and colors (like red and blue) to reject anything that is clearly not a traffic sign.</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1" i="0" u="none" strike="noStrike" cap="none" normalizeH="0" baseline="0" dirty="0">
                <a:ln>
                  <a:noFill/>
                </a:ln>
                <a:solidFill>
                  <a:srgbClr val="1B1C1D"/>
                </a:solidFill>
                <a:effectLst/>
                <a:latin typeface="Google Sans Text"/>
              </a:rPr>
              <a:t>Making It Stable with Tracking</a:t>
            </a:r>
            <a:endParaRPr kumimoji="0" lang="en-US" altLang="en-US" sz="1700" b="0" i="0" u="none" strike="noStrike" cap="none" normalizeH="0" baseline="0" dirty="0">
              <a:ln>
                <a:noFill/>
              </a:ln>
              <a:solidFill>
                <a:srgbClr val="1B1C1D"/>
              </a:solidFill>
              <a:effectLst/>
              <a:latin typeface="Google Sans Text"/>
            </a:endParaRPr>
          </a:p>
          <a:p>
            <a:pPr marL="742950" marR="0" lvl="1"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rgbClr val="1B1C1D"/>
                </a:solidFill>
                <a:effectLst/>
                <a:latin typeface="Google Sans Text"/>
              </a:rPr>
              <a:t>Our system will track a traffic sign as it moves through the video.</a:t>
            </a:r>
          </a:p>
          <a:p>
            <a:pPr marL="742950" marR="0" lvl="1"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rgbClr val="1B1C1D"/>
                </a:solidFill>
                <a:effectLst/>
                <a:latin typeface="Google Sans Text"/>
              </a:rPr>
              <a:t>By looking at a sign in several frames, the system can correct mistakes caused by things like motion blur or a sign being briefly blocked.</a:t>
            </a:r>
          </a:p>
          <a:p>
            <a:pPr marL="742950" marR="0" lvl="1"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rgbClr val="1B1C1D"/>
                </a:solidFill>
                <a:effectLst/>
                <a:latin typeface="Google Sans Text"/>
              </a:rPr>
              <a:t>This makes our predictions much more stable and reliable.</a:t>
            </a:r>
          </a:p>
          <a:p>
            <a:pPr marR="0" lvl="0" algn="just" defTabSz="914400" rtl="0" eaLnBrk="0" fontAlgn="base" latinLnBrk="0" hangingPunct="0">
              <a:lnSpc>
                <a:spcPct val="100000"/>
              </a:lnSpc>
              <a:spcBef>
                <a:spcPct val="0"/>
              </a:spcBef>
              <a:spcAft>
                <a:spcPct val="0"/>
              </a:spcAft>
              <a:buClrTx/>
              <a:buSzTx/>
              <a:tabLst/>
            </a:pPr>
            <a:endParaRPr kumimoji="0" lang="en-US" altLang="en-US" sz="1700" b="0" i="0" u="none" strike="noStrike" cap="none" normalizeH="0" baseline="0" dirty="0">
              <a:ln>
                <a:noFill/>
              </a:ln>
              <a:solidFill>
                <a:schemeClr val="tx1"/>
              </a:solidFill>
              <a:effectLst/>
              <a:latin typeface="Arial" panose="020B0604020202020204" pitchFamily="34" charset="0"/>
            </a:endParaRPr>
          </a:p>
        </p:txBody>
      </p:sp>
      <p:sp>
        <p:nvSpPr>
          <p:cNvPr id="16" name="object 2">
            <a:extLst>
              <a:ext uri="{FF2B5EF4-FFF2-40B4-BE49-F238E27FC236}">
                <a16:creationId xmlns:a16="http://schemas.microsoft.com/office/drawing/2014/main" id="{1A8FE1D5-0816-8B05-A7C8-2B7FE37F28B9}"/>
              </a:ext>
            </a:extLst>
          </p:cNvPr>
          <p:cNvSpPr txBox="1"/>
          <p:nvPr/>
        </p:nvSpPr>
        <p:spPr>
          <a:xfrm>
            <a:off x="2590800" y="6614344"/>
            <a:ext cx="7534074"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Real-Time Traffic Sign Recognition with Open-Set Rejection and Temporal Consensus.</a:t>
            </a:r>
            <a:endParaRPr sz="1500" dirty="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228600" y="473200"/>
            <a:ext cx="3888104" cy="695960"/>
          </a:xfrm>
          <a:prstGeom prst="rect">
            <a:avLst/>
          </a:prstGeom>
        </p:spPr>
        <p:txBody>
          <a:bodyPr vert="horz" wrap="square" lIns="0" tIns="12700" rIns="0" bIns="0" rtlCol="0">
            <a:spAutoFit/>
          </a:bodyPr>
          <a:lstStyle/>
          <a:p>
            <a:pPr marL="12700">
              <a:lnSpc>
                <a:spcPct val="100000"/>
              </a:lnSpc>
              <a:spcBef>
                <a:spcPts val="100"/>
              </a:spcBef>
            </a:pPr>
            <a:r>
              <a:rPr spc="-10" dirty="0">
                <a:solidFill>
                  <a:schemeClr val="tx1"/>
                </a:solidFill>
              </a:rPr>
              <a:t>Reference</a:t>
            </a:r>
            <a:r>
              <a:rPr lang="en-US" spc="-10" dirty="0">
                <a:solidFill>
                  <a:schemeClr val="tx1"/>
                </a:solidFill>
              </a:rPr>
              <a:t>s</a:t>
            </a:r>
            <a:endParaRPr spc="-10" dirty="0">
              <a:solidFill>
                <a:schemeClr val="tx1"/>
              </a:solidFill>
            </a:endParaRPr>
          </a:p>
        </p:txBody>
      </p:sp>
      <p:sp>
        <p:nvSpPr>
          <p:cNvPr id="7" name="object 7"/>
          <p:cNvSpPr txBox="1"/>
          <p:nvPr/>
        </p:nvSpPr>
        <p:spPr>
          <a:xfrm>
            <a:off x="228600" y="1412170"/>
            <a:ext cx="9410700" cy="1600438"/>
          </a:xfrm>
          <a:prstGeom prst="rect">
            <a:avLst/>
          </a:prstGeom>
        </p:spPr>
        <p:txBody>
          <a:bodyPr vert="horz" wrap="square" lIns="0" tIns="60960" rIns="0" bIns="0" rtlCol="0">
            <a:spAutoFit/>
          </a:bodyPr>
          <a:lstStyle/>
          <a:p>
            <a:r>
              <a:rPr lang="en-IN" sz="2000" dirty="0">
                <a:latin typeface="Google Sans Text"/>
              </a:rPr>
              <a:t>[1]. Yi Yang, </a:t>
            </a:r>
            <a:r>
              <a:rPr lang="en-IN" sz="2000" dirty="0" err="1">
                <a:latin typeface="Google Sans Text"/>
              </a:rPr>
              <a:t>Hengliang</a:t>
            </a:r>
            <a:r>
              <a:rPr lang="en-IN" sz="2000" dirty="0">
                <a:latin typeface="Google Sans Text"/>
              </a:rPr>
              <a:t> Luo and </a:t>
            </a:r>
            <a:r>
              <a:rPr lang="en-IN" sz="2000" dirty="0" err="1">
                <a:latin typeface="Google Sans Text"/>
              </a:rPr>
              <a:t>Fuchao</a:t>
            </a:r>
            <a:r>
              <a:rPr lang="en-IN" sz="2000" dirty="0">
                <a:latin typeface="Google Sans Text"/>
              </a:rPr>
              <a:t> Wu, "Towards Real-Time Traffic Sign Detection and Classification," ResearchGate Journal.</a:t>
            </a:r>
          </a:p>
          <a:p>
            <a:r>
              <a:rPr lang="en-IN" sz="2000" dirty="0">
                <a:latin typeface="Google Sans Text"/>
              </a:rPr>
              <a:t>[2]. Hana, B. F., Amani, C., Jamel, B. H., and Chokri, S., "A Real-Time Traffic Sign Recognition Method Using a New Attention-Based Deep Convolutional Neural Network for Smart Vehicles," MDPI, 2023.</a:t>
            </a:r>
          </a:p>
        </p:txBody>
      </p:sp>
      <p:sp>
        <p:nvSpPr>
          <p:cNvPr id="2" name="Rectangle 1">
            <a:extLst>
              <a:ext uri="{FF2B5EF4-FFF2-40B4-BE49-F238E27FC236}">
                <a16:creationId xmlns:a16="http://schemas.microsoft.com/office/drawing/2014/main" id="{B4DC0EE1-4918-1747-59B6-9827D49AD88F}"/>
              </a:ext>
            </a:extLst>
          </p:cNvPr>
          <p:cNvSpPr/>
          <p:nvPr/>
        </p:nvSpPr>
        <p:spPr>
          <a:xfrm>
            <a:off x="0" y="6607000"/>
            <a:ext cx="12192000" cy="25099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7" name="object 2">
            <a:extLst>
              <a:ext uri="{FF2B5EF4-FFF2-40B4-BE49-F238E27FC236}">
                <a16:creationId xmlns:a16="http://schemas.microsoft.com/office/drawing/2014/main" id="{A112ED7C-19CD-1B75-D9D4-9FD1548DFA27}"/>
              </a:ext>
            </a:extLst>
          </p:cNvPr>
          <p:cNvSpPr txBox="1"/>
          <p:nvPr/>
        </p:nvSpPr>
        <p:spPr>
          <a:xfrm>
            <a:off x="2981526" y="6614344"/>
            <a:ext cx="7534074"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Real-Time Traffic Sign Recognition with Open-Set Rejection and Temporal Consensus.</a:t>
            </a:r>
            <a:endParaRPr sz="1500" dirty="0">
              <a:latin typeface="Times New Roman"/>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826638" y="2352302"/>
            <a:ext cx="6692265" cy="1488440"/>
          </a:xfrm>
          <a:prstGeom prst="rect">
            <a:avLst/>
          </a:prstGeom>
        </p:spPr>
        <p:txBody>
          <a:bodyPr vert="horz" wrap="square" lIns="0" tIns="12700" rIns="0" bIns="0" rtlCol="0">
            <a:spAutoFit/>
          </a:bodyPr>
          <a:lstStyle/>
          <a:p>
            <a:pPr marL="12700">
              <a:lnSpc>
                <a:spcPct val="100000"/>
              </a:lnSpc>
              <a:spcBef>
                <a:spcPts val="100"/>
              </a:spcBef>
            </a:pPr>
            <a:r>
              <a:rPr sz="9600" i="1" dirty="0">
                <a:solidFill>
                  <a:schemeClr val="tx1"/>
                </a:solidFill>
                <a:latin typeface="Times New Roman"/>
                <a:cs typeface="Times New Roman"/>
              </a:rPr>
              <a:t>Any</a:t>
            </a:r>
            <a:r>
              <a:rPr sz="9600" i="1" spc="-30" dirty="0">
                <a:solidFill>
                  <a:schemeClr val="tx1"/>
                </a:solidFill>
                <a:latin typeface="Times New Roman"/>
                <a:cs typeface="Times New Roman"/>
              </a:rPr>
              <a:t> </a:t>
            </a:r>
            <a:r>
              <a:rPr sz="9600" i="1" spc="-10" dirty="0">
                <a:solidFill>
                  <a:schemeClr val="tx1"/>
                </a:solidFill>
                <a:latin typeface="Times New Roman"/>
                <a:cs typeface="Times New Roman"/>
              </a:rPr>
              <a:t>Queries?</a:t>
            </a:r>
            <a:endParaRPr sz="9600" dirty="0">
              <a:solidFill>
                <a:schemeClr val="tx1"/>
              </a:solidFill>
              <a:latin typeface="Times New Roman"/>
              <a:cs typeface="Times New Roman"/>
            </a:endParaRPr>
          </a:p>
        </p:txBody>
      </p:sp>
      <p:sp>
        <p:nvSpPr>
          <p:cNvPr id="8" name="object 2">
            <a:extLst>
              <a:ext uri="{FF2B5EF4-FFF2-40B4-BE49-F238E27FC236}">
                <a16:creationId xmlns:a16="http://schemas.microsoft.com/office/drawing/2014/main" id="{215B2258-CABB-3DF0-6ABC-435FF567E280}"/>
              </a:ext>
            </a:extLst>
          </p:cNvPr>
          <p:cNvSpPr txBox="1"/>
          <p:nvPr/>
        </p:nvSpPr>
        <p:spPr>
          <a:xfrm>
            <a:off x="2514600" y="-10897"/>
            <a:ext cx="7534074"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Real-Time Traffic Sign Recognition with Open-Set Rejection and Temporal Consensus.</a:t>
            </a:r>
            <a:endParaRPr sz="1500" dirty="0">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048000" y="1905000"/>
            <a:ext cx="6324600" cy="1364091"/>
          </a:xfrm>
          <a:prstGeom prst="rect">
            <a:avLst/>
          </a:prstGeom>
        </p:spPr>
        <p:txBody>
          <a:bodyPr vert="horz" wrap="square" lIns="0" tIns="12700" rIns="0" bIns="0" rtlCol="0">
            <a:spAutoFit/>
          </a:bodyPr>
          <a:lstStyle/>
          <a:p>
            <a:pPr marL="12700" marR="5080">
              <a:lnSpc>
                <a:spcPct val="107000"/>
              </a:lnSpc>
              <a:spcBef>
                <a:spcPts val="100"/>
              </a:spcBef>
            </a:pPr>
            <a:r>
              <a:rPr sz="8800" i="1" spc="-10" dirty="0">
                <a:solidFill>
                  <a:schemeClr val="tx1"/>
                </a:solidFill>
                <a:latin typeface="Times New Roman"/>
                <a:cs typeface="Times New Roman"/>
              </a:rPr>
              <a:t>Thank</a:t>
            </a:r>
            <a:r>
              <a:rPr lang="en-US" sz="8800" i="1" spc="-10" dirty="0">
                <a:solidFill>
                  <a:schemeClr val="tx1"/>
                </a:solidFill>
                <a:latin typeface="Times New Roman"/>
                <a:cs typeface="Times New Roman"/>
              </a:rPr>
              <a:t> </a:t>
            </a:r>
            <a:r>
              <a:rPr sz="8800" i="1" spc="-10" dirty="0">
                <a:solidFill>
                  <a:schemeClr val="tx1"/>
                </a:solidFill>
                <a:latin typeface="Times New Roman"/>
                <a:cs typeface="Times New Roman"/>
              </a:rPr>
              <a:t>You!!!</a:t>
            </a:r>
            <a:endParaRPr sz="8800" dirty="0">
              <a:solidFill>
                <a:schemeClr val="tx1"/>
              </a:solidFill>
              <a:latin typeface="Times New Roman"/>
              <a:cs typeface="Times New Roman"/>
            </a:endParaRPr>
          </a:p>
        </p:txBody>
      </p:sp>
      <p:sp>
        <p:nvSpPr>
          <p:cNvPr id="8" name="object 2">
            <a:extLst>
              <a:ext uri="{FF2B5EF4-FFF2-40B4-BE49-F238E27FC236}">
                <a16:creationId xmlns:a16="http://schemas.microsoft.com/office/drawing/2014/main" id="{CE6A77E9-06A9-84DE-CA65-4E7CB06A4D93}"/>
              </a:ext>
            </a:extLst>
          </p:cNvPr>
          <p:cNvSpPr txBox="1"/>
          <p:nvPr/>
        </p:nvSpPr>
        <p:spPr>
          <a:xfrm>
            <a:off x="2514600" y="-10897"/>
            <a:ext cx="7534074"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Real-Time Traffic Sign Recognition with Open-Set Rejection and Temporal Consensus.</a:t>
            </a:r>
            <a:endParaRPr sz="1500" dirty="0">
              <a:latin typeface="Times New Roman"/>
              <a:cs typeface="Times New Roman"/>
            </a:endParaRPr>
          </a:p>
        </p:txBody>
      </p:sp>
    </p:spTree>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Droplet</Template>
  <TotalTime>121</TotalTime>
  <Words>1213</Words>
  <Application>Microsoft Office PowerPoint</Application>
  <PresentationFormat>Widescreen</PresentationFormat>
  <Paragraphs>86</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Google Sans Text</vt:lpstr>
      <vt:lpstr>Times New Roman</vt:lpstr>
      <vt:lpstr>Tw Cen MT</vt:lpstr>
      <vt:lpstr>Droplet</vt:lpstr>
      <vt:lpstr>Real-Time Traffic Sign Recognition with Open-Set Rejection and Temporal Consensus</vt:lpstr>
      <vt:lpstr>Contents</vt:lpstr>
      <vt:lpstr>Abstract</vt:lpstr>
      <vt:lpstr>Introduction</vt:lpstr>
      <vt:lpstr>Literature Survey</vt:lpstr>
      <vt:lpstr>Proposed System</vt:lpstr>
      <vt:lpstr>References</vt:lpstr>
      <vt:lpstr>Any Queries?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Sri Vaishnavi</dc:creator>
  <cp:lastModifiedBy>Madhusudhan Sarma</cp:lastModifiedBy>
  <cp:revision>20</cp:revision>
  <dcterms:created xsi:type="dcterms:W3CDTF">2025-09-18T18:06:19Z</dcterms:created>
  <dcterms:modified xsi:type="dcterms:W3CDTF">2025-10-14T16:10:20Z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2025-09-18T00:00:00Z</vt:filetime>
  </property>
  <property fmtid="{D5CDD505-2E9C-101B-9397-08002B2CF9AE}" pid="3" name="Creator">
    <vt:lpwstr>Google</vt:lpwstr>
  </property>
  <property fmtid="{D5CDD505-2E9C-101B-9397-08002B2CF9AE}" pid="4" name="LastSaved">
    <vt:filetime>2025-09-18T00:00:00Z</vt:filetime>
  </property>
</Properties>
</file>