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42" y="31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5923F-D1C9-4258-A9A2-25E5638CBBC2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11DB2D-9416-413B-AA39-8615D5556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673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1DB2D-9416-413B-AA39-8615D555687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153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7240" y="6642822"/>
            <a:ext cx="5654040" cy="215265"/>
          </a:xfrm>
          <a:custGeom>
            <a:avLst/>
            <a:gdLst/>
            <a:ahLst/>
            <a:cxnLst/>
            <a:rect l="l" t="t" r="r" b="b"/>
            <a:pathLst>
              <a:path w="5654040" h="215265">
                <a:moveTo>
                  <a:pt x="5654040" y="0"/>
                </a:moveTo>
                <a:lnTo>
                  <a:pt x="0" y="0"/>
                </a:lnTo>
                <a:lnTo>
                  <a:pt x="0" y="215176"/>
                </a:lnTo>
                <a:lnTo>
                  <a:pt x="5654040" y="215176"/>
                </a:lnTo>
                <a:lnTo>
                  <a:pt x="565404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279" y="6641869"/>
            <a:ext cx="5323205" cy="216535"/>
          </a:xfrm>
          <a:custGeom>
            <a:avLst/>
            <a:gdLst/>
            <a:ahLst/>
            <a:cxnLst/>
            <a:rect l="l" t="t" r="r" b="b"/>
            <a:pathLst>
              <a:path w="5323205" h="216534">
                <a:moveTo>
                  <a:pt x="5322951" y="0"/>
                </a:moveTo>
                <a:lnTo>
                  <a:pt x="0" y="0"/>
                </a:lnTo>
                <a:lnTo>
                  <a:pt x="0" y="216128"/>
                </a:lnTo>
                <a:lnTo>
                  <a:pt x="5322951" y="216128"/>
                </a:lnTo>
                <a:lnTo>
                  <a:pt x="5322951" y="0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754231" y="6641868"/>
            <a:ext cx="438150" cy="216535"/>
          </a:xfrm>
          <a:custGeom>
            <a:avLst/>
            <a:gdLst/>
            <a:ahLst/>
            <a:cxnLst/>
            <a:rect l="l" t="t" r="r" b="b"/>
            <a:pathLst>
              <a:path w="438150" h="216534">
                <a:moveTo>
                  <a:pt x="437807" y="0"/>
                </a:moveTo>
                <a:lnTo>
                  <a:pt x="0" y="0"/>
                </a:lnTo>
                <a:lnTo>
                  <a:pt x="0" y="216128"/>
                </a:lnTo>
                <a:lnTo>
                  <a:pt x="437807" y="216128"/>
                </a:lnTo>
                <a:lnTo>
                  <a:pt x="43780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200" y="5956058"/>
            <a:ext cx="685800" cy="681647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822"/>
            <a:ext cx="777240" cy="215265"/>
          </a:xfrm>
          <a:custGeom>
            <a:avLst/>
            <a:gdLst/>
            <a:ahLst/>
            <a:cxnLst/>
            <a:rect l="l" t="t" r="r" b="b"/>
            <a:pathLst>
              <a:path w="777240" h="215265">
                <a:moveTo>
                  <a:pt x="777240" y="0"/>
                </a:moveTo>
                <a:lnTo>
                  <a:pt x="0" y="0"/>
                </a:lnTo>
                <a:lnTo>
                  <a:pt x="0" y="215176"/>
                </a:lnTo>
                <a:lnTo>
                  <a:pt x="777240" y="215176"/>
                </a:lnTo>
                <a:lnTo>
                  <a:pt x="777240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38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2000" y="0"/>
                </a:moveTo>
                <a:lnTo>
                  <a:pt x="0" y="0"/>
                </a:lnTo>
                <a:lnTo>
                  <a:pt x="0" y="232752"/>
                </a:lnTo>
                <a:lnTo>
                  <a:pt x="12192000" y="23275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14345" y="-17018"/>
            <a:ext cx="6896734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cap="small" spc="-70" dirty="0"/>
              <a:t>Dept.</a:t>
            </a:r>
            <a:r>
              <a:rPr cap="small" spc="-80" dirty="0"/>
              <a:t> </a:t>
            </a:r>
            <a:r>
              <a:rPr cap="small" spc="-30" dirty="0"/>
              <a:t>of</a:t>
            </a:r>
            <a:r>
              <a:rPr cap="small" spc="-10" dirty="0"/>
              <a:t> </a:t>
            </a:r>
            <a:r>
              <a:rPr cap="small" spc="-100" dirty="0"/>
              <a:t>Computer</a:t>
            </a:r>
            <a:r>
              <a:rPr cap="small" spc="45" dirty="0"/>
              <a:t> </a:t>
            </a:r>
            <a:r>
              <a:rPr cap="small" spc="-85" dirty="0"/>
              <a:t>Science</a:t>
            </a:r>
            <a:r>
              <a:rPr cap="small" spc="20" dirty="0"/>
              <a:t> </a:t>
            </a:r>
            <a:r>
              <a:rPr cap="small" spc="-95" dirty="0"/>
              <a:t>and</a:t>
            </a:r>
            <a:r>
              <a:rPr cap="small" spc="20" dirty="0"/>
              <a:t> </a:t>
            </a:r>
            <a:r>
              <a:rPr cap="small" spc="-100" dirty="0"/>
              <a:t>Engineering</a:t>
            </a:r>
            <a:r>
              <a:rPr cap="small" spc="-25" dirty="0"/>
              <a:t> </a:t>
            </a:r>
            <a:r>
              <a:rPr cap="small" spc="-50" dirty="0"/>
              <a:t>(Data</a:t>
            </a:r>
            <a:r>
              <a:rPr cap="small" spc="75" dirty="0"/>
              <a:t> </a:t>
            </a:r>
            <a:r>
              <a:rPr cap="small" spc="-95" dirty="0"/>
              <a:t>Science)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cap="small" spc="-95" dirty="0"/>
              <a:t>Srinivasa</a:t>
            </a:r>
            <a:r>
              <a:rPr cap="small" spc="35" dirty="0"/>
              <a:t> </a:t>
            </a:r>
            <a:r>
              <a:rPr cap="small" spc="-110" dirty="0"/>
              <a:t>Ramanujan</a:t>
            </a:r>
            <a:r>
              <a:rPr cap="small" spc="40" dirty="0"/>
              <a:t> </a:t>
            </a:r>
            <a:r>
              <a:rPr cap="small" spc="-100" dirty="0"/>
              <a:t>Institute</a:t>
            </a:r>
            <a:r>
              <a:rPr cap="small" spc="50" dirty="0"/>
              <a:t> </a:t>
            </a:r>
            <a:r>
              <a:rPr cap="small" dirty="0"/>
              <a:t>of</a:t>
            </a:r>
            <a:r>
              <a:rPr cap="small" spc="70" dirty="0"/>
              <a:t> </a:t>
            </a:r>
            <a:r>
              <a:rPr cap="small" spc="-145" dirty="0"/>
              <a:t>Technology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39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cap="small" spc="-70" dirty="0"/>
              <a:t>Dept.</a:t>
            </a:r>
            <a:r>
              <a:rPr cap="small" spc="-80" dirty="0"/>
              <a:t> </a:t>
            </a:r>
            <a:r>
              <a:rPr cap="small" spc="-30" dirty="0"/>
              <a:t>of</a:t>
            </a:r>
            <a:r>
              <a:rPr cap="small" spc="-10" dirty="0"/>
              <a:t> </a:t>
            </a:r>
            <a:r>
              <a:rPr cap="small" spc="-100" dirty="0"/>
              <a:t>Computer</a:t>
            </a:r>
            <a:r>
              <a:rPr cap="small" spc="45" dirty="0"/>
              <a:t> </a:t>
            </a:r>
            <a:r>
              <a:rPr cap="small" spc="-85" dirty="0"/>
              <a:t>Science</a:t>
            </a:r>
            <a:r>
              <a:rPr cap="small" spc="20" dirty="0"/>
              <a:t> </a:t>
            </a:r>
            <a:r>
              <a:rPr cap="small" spc="-95" dirty="0"/>
              <a:t>and</a:t>
            </a:r>
            <a:r>
              <a:rPr cap="small" spc="20" dirty="0"/>
              <a:t> </a:t>
            </a:r>
            <a:r>
              <a:rPr cap="small" spc="-100" dirty="0"/>
              <a:t>Engineering</a:t>
            </a:r>
            <a:r>
              <a:rPr cap="small" spc="-25" dirty="0"/>
              <a:t> </a:t>
            </a:r>
            <a:r>
              <a:rPr cap="small" spc="-50" dirty="0"/>
              <a:t>(Data</a:t>
            </a:r>
            <a:r>
              <a:rPr cap="small" spc="75" dirty="0"/>
              <a:t> </a:t>
            </a:r>
            <a:r>
              <a:rPr cap="small" spc="-95" dirty="0"/>
              <a:t>Science)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cap="small" spc="-95" dirty="0"/>
              <a:t>Srinivasa</a:t>
            </a:r>
            <a:r>
              <a:rPr cap="small" spc="35" dirty="0"/>
              <a:t> </a:t>
            </a:r>
            <a:r>
              <a:rPr cap="small" spc="-110" dirty="0"/>
              <a:t>Ramanujan</a:t>
            </a:r>
            <a:r>
              <a:rPr cap="small" spc="40" dirty="0"/>
              <a:t> </a:t>
            </a:r>
            <a:r>
              <a:rPr cap="small" spc="-100" dirty="0"/>
              <a:t>Institute</a:t>
            </a:r>
            <a:r>
              <a:rPr cap="small" spc="50" dirty="0"/>
              <a:t> </a:t>
            </a:r>
            <a:r>
              <a:rPr cap="small" dirty="0"/>
              <a:t>of</a:t>
            </a:r>
            <a:r>
              <a:rPr cap="small" spc="70" dirty="0"/>
              <a:t> </a:t>
            </a:r>
            <a:r>
              <a:rPr cap="small" spc="-145" dirty="0"/>
              <a:t>Technology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39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cap="small" spc="-70" dirty="0"/>
              <a:t>Dept.</a:t>
            </a:r>
            <a:r>
              <a:rPr cap="small" spc="-80" dirty="0"/>
              <a:t> </a:t>
            </a:r>
            <a:r>
              <a:rPr cap="small" spc="-30" dirty="0"/>
              <a:t>of</a:t>
            </a:r>
            <a:r>
              <a:rPr cap="small" spc="-10" dirty="0"/>
              <a:t> </a:t>
            </a:r>
            <a:r>
              <a:rPr cap="small" spc="-100" dirty="0"/>
              <a:t>Computer</a:t>
            </a:r>
            <a:r>
              <a:rPr cap="small" spc="45" dirty="0"/>
              <a:t> </a:t>
            </a:r>
            <a:r>
              <a:rPr cap="small" spc="-85" dirty="0"/>
              <a:t>Science</a:t>
            </a:r>
            <a:r>
              <a:rPr cap="small" spc="20" dirty="0"/>
              <a:t> </a:t>
            </a:r>
            <a:r>
              <a:rPr cap="small" spc="-95" dirty="0"/>
              <a:t>and</a:t>
            </a:r>
            <a:r>
              <a:rPr cap="small" spc="20" dirty="0"/>
              <a:t> </a:t>
            </a:r>
            <a:r>
              <a:rPr cap="small" spc="-100" dirty="0"/>
              <a:t>Engineering</a:t>
            </a:r>
            <a:r>
              <a:rPr cap="small" spc="-25" dirty="0"/>
              <a:t> </a:t>
            </a:r>
            <a:r>
              <a:rPr cap="small" spc="-50" dirty="0"/>
              <a:t>(Data</a:t>
            </a:r>
            <a:r>
              <a:rPr cap="small" spc="75" dirty="0"/>
              <a:t> </a:t>
            </a:r>
            <a:r>
              <a:rPr cap="small" spc="-95" dirty="0"/>
              <a:t>Science)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cap="small" spc="-95" dirty="0"/>
              <a:t>Srinivasa</a:t>
            </a:r>
            <a:r>
              <a:rPr cap="small" spc="35" dirty="0"/>
              <a:t> </a:t>
            </a:r>
            <a:r>
              <a:rPr cap="small" spc="-110" dirty="0"/>
              <a:t>Ramanujan</a:t>
            </a:r>
            <a:r>
              <a:rPr cap="small" spc="40" dirty="0"/>
              <a:t> </a:t>
            </a:r>
            <a:r>
              <a:rPr cap="small" spc="-100" dirty="0"/>
              <a:t>Institute</a:t>
            </a:r>
            <a:r>
              <a:rPr cap="small" spc="50" dirty="0"/>
              <a:t> </a:t>
            </a:r>
            <a:r>
              <a:rPr cap="small" dirty="0"/>
              <a:t>of</a:t>
            </a:r>
            <a:r>
              <a:rPr cap="small" spc="70" dirty="0"/>
              <a:t> </a:t>
            </a:r>
            <a:r>
              <a:rPr cap="small" spc="-145" dirty="0"/>
              <a:t>Technology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39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cap="small" spc="-70" dirty="0"/>
              <a:t>Dept.</a:t>
            </a:r>
            <a:r>
              <a:rPr cap="small" spc="-80" dirty="0"/>
              <a:t> </a:t>
            </a:r>
            <a:r>
              <a:rPr cap="small" spc="-30" dirty="0"/>
              <a:t>of</a:t>
            </a:r>
            <a:r>
              <a:rPr cap="small" spc="-10" dirty="0"/>
              <a:t> </a:t>
            </a:r>
            <a:r>
              <a:rPr cap="small" spc="-100" dirty="0"/>
              <a:t>Computer</a:t>
            </a:r>
            <a:r>
              <a:rPr cap="small" spc="45" dirty="0"/>
              <a:t> </a:t>
            </a:r>
            <a:r>
              <a:rPr cap="small" spc="-85" dirty="0"/>
              <a:t>Science</a:t>
            </a:r>
            <a:r>
              <a:rPr cap="small" spc="20" dirty="0"/>
              <a:t> </a:t>
            </a:r>
            <a:r>
              <a:rPr cap="small" spc="-95" dirty="0"/>
              <a:t>and</a:t>
            </a:r>
            <a:r>
              <a:rPr cap="small" spc="20" dirty="0"/>
              <a:t> </a:t>
            </a:r>
            <a:r>
              <a:rPr cap="small" spc="-100" dirty="0"/>
              <a:t>Engineering</a:t>
            </a:r>
            <a:r>
              <a:rPr cap="small" spc="-25" dirty="0"/>
              <a:t> </a:t>
            </a:r>
            <a:r>
              <a:rPr cap="small" spc="-50" dirty="0"/>
              <a:t>(Data</a:t>
            </a:r>
            <a:r>
              <a:rPr cap="small" spc="75" dirty="0"/>
              <a:t> </a:t>
            </a:r>
            <a:r>
              <a:rPr cap="small" spc="-95" dirty="0"/>
              <a:t>Science)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cap="small" spc="-95" dirty="0"/>
              <a:t>Srinivasa</a:t>
            </a:r>
            <a:r>
              <a:rPr cap="small" spc="35" dirty="0"/>
              <a:t> </a:t>
            </a:r>
            <a:r>
              <a:rPr cap="small" spc="-110" dirty="0"/>
              <a:t>Ramanujan</a:t>
            </a:r>
            <a:r>
              <a:rPr cap="small" spc="40" dirty="0"/>
              <a:t> </a:t>
            </a:r>
            <a:r>
              <a:rPr cap="small" spc="-100" dirty="0"/>
              <a:t>Institute</a:t>
            </a:r>
            <a:r>
              <a:rPr cap="small" spc="50" dirty="0"/>
              <a:t> </a:t>
            </a:r>
            <a:r>
              <a:rPr cap="small" dirty="0"/>
              <a:t>of</a:t>
            </a:r>
            <a:r>
              <a:rPr cap="small" spc="70" dirty="0"/>
              <a:t> </a:t>
            </a:r>
            <a:r>
              <a:rPr cap="small" spc="-145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39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7240" y="6634569"/>
            <a:ext cx="5782310" cy="220979"/>
          </a:xfrm>
          <a:custGeom>
            <a:avLst/>
            <a:gdLst/>
            <a:ahLst/>
            <a:cxnLst/>
            <a:rect l="l" t="t" r="r" b="b"/>
            <a:pathLst>
              <a:path w="5782309" h="220979">
                <a:moveTo>
                  <a:pt x="5781802" y="0"/>
                </a:moveTo>
                <a:lnTo>
                  <a:pt x="0" y="0"/>
                </a:lnTo>
                <a:lnTo>
                  <a:pt x="0" y="220980"/>
                </a:lnTo>
                <a:lnTo>
                  <a:pt x="5781802" y="220980"/>
                </a:lnTo>
                <a:lnTo>
                  <a:pt x="5781802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559042" y="6634569"/>
            <a:ext cx="5195570" cy="220979"/>
          </a:xfrm>
          <a:custGeom>
            <a:avLst/>
            <a:gdLst/>
            <a:ahLst/>
            <a:cxnLst/>
            <a:rect l="l" t="t" r="r" b="b"/>
            <a:pathLst>
              <a:path w="5195570" h="220979">
                <a:moveTo>
                  <a:pt x="5195188" y="0"/>
                </a:moveTo>
                <a:lnTo>
                  <a:pt x="0" y="0"/>
                </a:lnTo>
                <a:lnTo>
                  <a:pt x="0" y="220980"/>
                </a:lnTo>
                <a:lnTo>
                  <a:pt x="5195188" y="220980"/>
                </a:lnTo>
                <a:lnTo>
                  <a:pt x="5195188" y="0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754231" y="6637018"/>
            <a:ext cx="438150" cy="220979"/>
          </a:xfrm>
          <a:custGeom>
            <a:avLst/>
            <a:gdLst/>
            <a:ahLst/>
            <a:cxnLst/>
            <a:rect l="l" t="t" r="r" b="b"/>
            <a:pathLst>
              <a:path w="438150" h="220979">
                <a:moveTo>
                  <a:pt x="437807" y="0"/>
                </a:moveTo>
                <a:lnTo>
                  <a:pt x="0" y="0"/>
                </a:lnTo>
                <a:lnTo>
                  <a:pt x="0" y="220979"/>
                </a:lnTo>
                <a:lnTo>
                  <a:pt x="437807" y="220979"/>
                </a:lnTo>
                <a:lnTo>
                  <a:pt x="43780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38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2000" y="0"/>
                </a:moveTo>
                <a:lnTo>
                  <a:pt x="0" y="0"/>
                </a:lnTo>
                <a:lnTo>
                  <a:pt x="0" y="232752"/>
                </a:lnTo>
                <a:lnTo>
                  <a:pt x="12192000" y="23275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6634567"/>
            <a:ext cx="777240" cy="221615"/>
          </a:xfrm>
          <a:custGeom>
            <a:avLst/>
            <a:gdLst/>
            <a:ahLst/>
            <a:cxnLst/>
            <a:rect l="l" t="t" r="r" b="b"/>
            <a:pathLst>
              <a:path w="777240" h="221615">
                <a:moveTo>
                  <a:pt x="777240" y="0"/>
                </a:moveTo>
                <a:lnTo>
                  <a:pt x="0" y="0"/>
                </a:lnTo>
                <a:lnTo>
                  <a:pt x="0" y="221526"/>
                </a:lnTo>
                <a:lnTo>
                  <a:pt x="777240" y="221526"/>
                </a:lnTo>
                <a:lnTo>
                  <a:pt x="777240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cap="small" spc="-70" dirty="0"/>
              <a:t>Dept.</a:t>
            </a:r>
            <a:r>
              <a:rPr cap="small" spc="-80" dirty="0"/>
              <a:t> </a:t>
            </a:r>
            <a:r>
              <a:rPr cap="small" spc="-30" dirty="0"/>
              <a:t>of</a:t>
            </a:r>
            <a:r>
              <a:rPr cap="small" spc="-10" dirty="0"/>
              <a:t> </a:t>
            </a:r>
            <a:r>
              <a:rPr cap="small" spc="-100" dirty="0"/>
              <a:t>Computer</a:t>
            </a:r>
            <a:r>
              <a:rPr cap="small" spc="45" dirty="0"/>
              <a:t> </a:t>
            </a:r>
            <a:r>
              <a:rPr cap="small" spc="-85" dirty="0"/>
              <a:t>Science</a:t>
            </a:r>
            <a:r>
              <a:rPr cap="small" spc="20" dirty="0"/>
              <a:t> </a:t>
            </a:r>
            <a:r>
              <a:rPr cap="small" spc="-95" dirty="0"/>
              <a:t>and</a:t>
            </a:r>
            <a:r>
              <a:rPr cap="small" spc="20" dirty="0"/>
              <a:t> </a:t>
            </a:r>
            <a:r>
              <a:rPr cap="small" spc="-100" dirty="0"/>
              <a:t>Engineering</a:t>
            </a:r>
            <a:r>
              <a:rPr cap="small" spc="-25" dirty="0"/>
              <a:t> </a:t>
            </a:r>
            <a:r>
              <a:rPr cap="small" spc="-50" dirty="0"/>
              <a:t>(Data</a:t>
            </a:r>
            <a:r>
              <a:rPr cap="small" spc="75" dirty="0"/>
              <a:t> </a:t>
            </a:r>
            <a:r>
              <a:rPr cap="small" spc="-95" dirty="0"/>
              <a:t>Science)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cap="small" spc="-95" dirty="0"/>
              <a:t>Srinivasa</a:t>
            </a:r>
            <a:r>
              <a:rPr cap="small" spc="35" dirty="0"/>
              <a:t> </a:t>
            </a:r>
            <a:r>
              <a:rPr cap="small" spc="-110" dirty="0"/>
              <a:t>Ramanujan</a:t>
            </a:r>
            <a:r>
              <a:rPr cap="small" spc="40" dirty="0"/>
              <a:t> </a:t>
            </a:r>
            <a:r>
              <a:rPr cap="small" spc="-100" dirty="0"/>
              <a:t>Institute</a:t>
            </a:r>
            <a:r>
              <a:rPr cap="small" spc="50" dirty="0"/>
              <a:t> </a:t>
            </a:r>
            <a:r>
              <a:rPr cap="small" dirty="0"/>
              <a:t>of</a:t>
            </a:r>
            <a:r>
              <a:rPr cap="small" spc="70" dirty="0"/>
              <a:t> </a:t>
            </a:r>
            <a:r>
              <a:rPr cap="small" spc="-145" dirty="0"/>
              <a:t>Technology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39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7240" y="6642822"/>
            <a:ext cx="5654040" cy="215265"/>
          </a:xfrm>
          <a:custGeom>
            <a:avLst/>
            <a:gdLst/>
            <a:ahLst/>
            <a:cxnLst/>
            <a:rect l="l" t="t" r="r" b="b"/>
            <a:pathLst>
              <a:path w="5654040" h="215265">
                <a:moveTo>
                  <a:pt x="5654040" y="0"/>
                </a:moveTo>
                <a:lnTo>
                  <a:pt x="0" y="0"/>
                </a:lnTo>
                <a:lnTo>
                  <a:pt x="0" y="215176"/>
                </a:lnTo>
                <a:lnTo>
                  <a:pt x="5654040" y="215176"/>
                </a:lnTo>
                <a:lnTo>
                  <a:pt x="565404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279" y="6641869"/>
            <a:ext cx="5323205" cy="216535"/>
          </a:xfrm>
          <a:custGeom>
            <a:avLst/>
            <a:gdLst/>
            <a:ahLst/>
            <a:cxnLst/>
            <a:rect l="l" t="t" r="r" b="b"/>
            <a:pathLst>
              <a:path w="5323205" h="216534">
                <a:moveTo>
                  <a:pt x="5322951" y="0"/>
                </a:moveTo>
                <a:lnTo>
                  <a:pt x="0" y="0"/>
                </a:lnTo>
                <a:lnTo>
                  <a:pt x="0" y="216128"/>
                </a:lnTo>
                <a:lnTo>
                  <a:pt x="5322951" y="216128"/>
                </a:lnTo>
                <a:lnTo>
                  <a:pt x="5322951" y="0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754231" y="6641868"/>
            <a:ext cx="438150" cy="216535"/>
          </a:xfrm>
          <a:custGeom>
            <a:avLst/>
            <a:gdLst/>
            <a:ahLst/>
            <a:cxnLst/>
            <a:rect l="l" t="t" r="r" b="b"/>
            <a:pathLst>
              <a:path w="438150" h="216534">
                <a:moveTo>
                  <a:pt x="437807" y="0"/>
                </a:moveTo>
                <a:lnTo>
                  <a:pt x="0" y="0"/>
                </a:lnTo>
                <a:lnTo>
                  <a:pt x="0" y="216128"/>
                </a:lnTo>
                <a:lnTo>
                  <a:pt x="437807" y="216128"/>
                </a:lnTo>
                <a:lnTo>
                  <a:pt x="43780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06200" y="5956058"/>
            <a:ext cx="685800" cy="681647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822"/>
            <a:ext cx="777240" cy="215265"/>
          </a:xfrm>
          <a:custGeom>
            <a:avLst/>
            <a:gdLst/>
            <a:ahLst/>
            <a:cxnLst/>
            <a:rect l="l" t="t" r="r" b="b"/>
            <a:pathLst>
              <a:path w="777240" h="215265">
                <a:moveTo>
                  <a:pt x="777240" y="0"/>
                </a:moveTo>
                <a:lnTo>
                  <a:pt x="0" y="0"/>
                </a:lnTo>
                <a:lnTo>
                  <a:pt x="0" y="215176"/>
                </a:lnTo>
                <a:lnTo>
                  <a:pt x="777240" y="215176"/>
                </a:lnTo>
                <a:lnTo>
                  <a:pt x="777240" y="0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533" y="242443"/>
            <a:ext cx="12136932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9791" y="1100073"/>
            <a:ext cx="11395075" cy="3866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22680" y="6619263"/>
            <a:ext cx="5019675" cy="250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cap="small" spc="-70" dirty="0"/>
              <a:t>Dept.</a:t>
            </a:r>
            <a:r>
              <a:rPr cap="small" spc="-80" dirty="0"/>
              <a:t> </a:t>
            </a:r>
            <a:r>
              <a:rPr cap="small" spc="-30" dirty="0"/>
              <a:t>of</a:t>
            </a:r>
            <a:r>
              <a:rPr cap="small" spc="-10" dirty="0"/>
              <a:t> </a:t>
            </a:r>
            <a:r>
              <a:rPr cap="small" spc="-100" dirty="0"/>
              <a:t>Computer</a:t>
            </a:r>
            <a:r>
              <a:rPr cap="small" spc="45" dirty="0"/>
              <a:t> </a:t>
            </a:r>
            <a:r>
              <a:rPr cap="small" spc="-85" dirty="0"/>
              <a:t>Science</a:t>
            </a:r>
            <a:r>
              <a:rPr cap="small" spc="20" dirty="0"/>
              <a:t> </a:t>
            </a:r>
            <a:r>
              <a:rPr cap="small" spc="-95" dirty="0"/>
              <a:t>and</a:t>
            </a:r>
            <a:r>
              <a:rPr cap="small" spc="20" dirty="0"/>
              <a:t> </a:t>
            </a:r>
            <a:r>
              <a:rPr cap="small" spc="-100" dirty="0"/>
              <a:t>Engineering</a:t>
            </a:r>
            <a:r>
              <a:rPr cap="small" spc="-25" dirty="0"/>
              <a:t> </a:t>
            </a:r>
            <a:r>
              <a:rPr cap="small" spc="-50" dirty="0"/>
              <a:t>(Data</a:t>
            </a:r>
            <a:r>
              <a:rPr cap="small" spc="75" dirty="0"/>
              <a:t> </a:t>
            </a:r>
            <a:r>
              <a:rPr cap="small" spc="-95" dirty="0"/>
              <a:t>Science)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147941" y="6616520"/>
            <a:ext cx="3931284" cy="2523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cap="small" spc="-95" dirty="0"/>
              <a:t>Srinivasa</a:t>
            </a:r>
            <a:r>
              <a:rPr cap="small" spc="35" dirty="0"/>
              <a:t> </a:t>
            </a:r>
            <a:r>
              <a:rPr cap="small" spc="-110" dirty="0"/>
              <a:t>Ramanujan</a:t>
            </a:r>
            <a:r>
              <a:rPr cap="small" spc="40" dirty="0"/>
              <a:t> </a:t>
            </a:r>
            <a:r>
              <a:rPr cap="small" spc="-100" dirty="0"/>
              <a:t>Institute</a:t>
            </a:r>
            <a:r>
              <a:rPr cap="small" spc="50" dirty="0"/>
              <a:t> </a:t>
            </a:r>
            <a:r>
              <a:rPr cap="small" dirty="0"/>
              <a:t>of</a:t>
            </a:r>
            <a:r>
              <a:rPr cap="small" spc="70" dirty="0"/>
              <a:t> </a:t>
            </a:r>
            <a:r>
              <a:rPr cap="small" spc="-145" dirty="0"/>
              <a:t>Technology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34494" y="6618653"/>
            <a:ext cx="287020" cy="250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839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27775" y="1731009"/>
            <a:ext cx="1918335" cy="471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SRI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VAISHNAVI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  <a:spcBef>
                <a:spcPts val="25"/>
              </a:spcBef>
            </a:pPr>
            <a:r>
              <a:rPr sz="1100" dirty="0">
                <a:latin typeface="Times New Roman"/>
                <a:cs typeface="Times New Roman"/>
              </a:rPr>
              <a:t>Roll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No. </a:t>
            </a:r>
            <a:r>
              <a:rPr sz="1100" spc="-10" dirty="0">
                <a:latin typeface="Times New Roman"/>
                <a:cs typeface="Times New Roman"/>
              </a:rPr>
              <a:t>234G5A3214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834" y="2471420"/>
            <a:ext cx="3753485" cy="692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i="1" dirty="0">
                <a:latin typeface="Times New Roman"/>
                <a:cs typeface="Times New Roman"/>
              </a:rPr>
              <a:t>Under</a:t>
            </a:r>
            <a:r>
              <a:rPr sz="1400" i="1" spc="-3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the</a:t>
            </a:r>
            <a:r>
              <a:rPr sz="1400" i="1" spc="-25" dirty="0">
                <a:latin typeface="Times New Roman"/>
                <a:cs typeface="Times New Roman"/>
              </a:rPr>
              <a:t> </a:t>
            </a:r>
            <a:r>
              <a:rPr sz="1400" i="1" spc="-20" dirty="0">
                <a:latin typeface="Times New Roman"/>
                <a:cs typeface="Times New Roman"/>
              </a:rPr>
              <a:t>guidance</a:t>
            </a:r>
            <a:r>
              <a:rPr sz="1400" i="1" spc="-55" dirty="0">
                <a:latin typeface="Times New Roman"/>
                <a:cs typeface="Times New Roman"/>
              </a:rPr>
              <a:t> </a:t>
            </a:r>
            <a:r>
              <a:rPr sz="1400" i="1" spc="-25" dirty="0">
                <a:latin typeface="Times New Roman"/>
                <a:cs typeface="Times New Roman"/>
              </a:rPr>
              <a:t>of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860"/>
              </a:lnSpc>
              <a:spcBef>
                <a:spcPts val="85"/>
              </a:spcBef>
            </a:pPr>
            <a:r>
              <a:rPr sz="1600" dirty="0">
                <a:latin typeface="Times New Roman"/>
                <a:cs typeface="Times New Roman"/>
              </a:rPr>
              <a:t>Mr.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Dr.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G.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Hemanth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Kumar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Yadav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50" baseline="-25252" dirty="0">
                <a:latin typeface="Times New Roman"/>
                <a:cs typeface="Times New Roman"/>
              </a:rPr>
              <a:t>M.</a:t>
            </a:r>
            <a:r>
              <a:rPr sz="1650" spc="-89" baseline="-25252" dirty="0">
                <a:latin typeface="Times New Roman"/>
                <a:cs typeface="Times New Roman"/>
              </a:rPr>
              <a:t> </a:t>
            </a:r>
            <a:r>
              <a:rPr sz="1650" spc="-15" baseline="-25252" dirty="0">
                <a:latin typeface="Times New Roman"/>
                <a:cs typeface="Times New Roman"/>
              </a:rPr>
              <a:t>Tech,</a:t>
            </a:r>
            <a:r>
              <a:rPr sz="1650" spc="-82" baseline="-25252" dirty="0">
                <a:latin typeface="Times New Roman"/>
                <a:cs typeface="Times New Roman"/>
              </a:rPr>
              <a:t> </a:t>
            </a:r>
            <a:r>
              <a:rPr sz="1650" spc="-37" baseline="-25252" dirty="0">
                <a:latin typeface="Times New Roman"/>
                <a:cs typeface="Times New Roman"/>
              </a:rPr>
              <a:t>PhD</a:t>
            </a:r>
            <a:endParaRPr sz="1650" baseline="-25252">
              <a:latin typeface="Times New Roman"/>
              <a:cs typeface="Times New Roman"/>
            </a:endParaRPr>
          </a:p>
          <a:p>
            <a:pPr marL="984250">
              <a:lnSpc>
                <a:spcPts val="1620"/>
              </a:lnSpc>
            </a:pPr>
            <a:r>
              <a:rPr sz="1400" spc="-10" dirty="0">
                <a:latin typeface="Times New Roman"/>
                <a:cs typeface="Times New Roman"/>
              </a:rPr>
              <a:t>Associate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Professor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95140" y="1732533"/>
            <a:ext cx="1938655" cy="439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SATHEESH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REDDY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Times New Roman"/>
                <a:cs typeface="Times New Roman"/>
              </a:rPr>
              <a:t>J</a:t>
            </a:r>
            <a:endParaRPr sz="160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latin typeface="Times New Roman"/>
                <a:cs typeface="Times New Roman"/>
              </a:rPr>
              <a:t>Roll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No. </a:t>
            </a:r>
            <a:r>
              <a:rPr sz="1100" spc="-10" dirty="0">
                <a:latin typeface="Times New Roman"/>
                <a:cs typeface="Times New Roman"/>
              </a:rPr>
              <a:t>234G5A3208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5269" y="1731009"/>
            <a:ext cx="1327785" cy="471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SANDHYA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  <a:p>
            <a:pPr marL="32384">
              <a:lnSpc>
                <a:spcPct val="100000"/>
              </a:lnSpc>
              <a:spcBef>
                <a:spcPts val="25"/>
              </a:spcBef>
            </a:pPr>
            <a:r>
              <a:rPr sz="1100" dirty="0">
                <a:latin typeface="Times New Roman"/>
                <a:cs typeface="Times New Roman"/>
              </a:rPr>
              <a:t>Roll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No. </a:t>
            </a:r>
            <a:r>
              <a:rPr sz="1100" spc="-10" dirty="0">
                <a:latin typeface="Times New Roman"/>
                <a:cs typeface="Times New Roman"/>
              </a:rPr>
              <a:t>224G1A3284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38122" y="1731009"/>
            <a:ext cx="1290320" cy="471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ADARSH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00" dirty="0">
                <a:latin typeface="Times New Roman"/>
                <a:cs typeface="Times New Roman"/>
              </a:rPr>
              <a:t>Roll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No. </a:t>
            </a:r>
            <a:r>
              <a:rPr sz="1100" spc="-10" dirty="0">
                <a:latin typeface="Times New Roman"/>
                <a:cs typeface="Times New Roman"/>
              </a:rPr>
              <a:t>234G5A3201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08507" y="307772"/>
            <a:ext cx="10621645" cy="951230"/>
            <a:chOff x="708507" y="307772"/>
            <a:chExt cx="10621645" cy="95123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507" y="307772"/>
              <a:ext cx="10621188" cy="95102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55002" y="335279"/>
              <a:ext cx="10528300" cy="857885"/>
            </a:xfrm>
            <a:custGeom>
              <a:avLst/>
              <a:gdLst/>
              <a:ahLst/>
              <a:cxnLst/>
              <a:rect l="l" t="t" r="r" b="b"/>
              <a:pathLst>
                <a:path w="10528300" h="857885">
                  <a:moveTo>
                    <a:pt x="10385183" y="0"/>
                  </a:moveTo>
                  <a:lnTo>
                    <a:pt x="142989" y="0"/>
                  </a:lnTo>
                  <a:lnTo>
                    <a:pt x="97790" y="7239"/>
                  </a:lnTo>
                  <a:lnTo>
                    <a:pt x="58546" y="27559"/>
                  </a:lnTo>
                  <a:lnTo>
                    <a:pt x="27597" y="58547"/>
                  </a:lnTo>
                  <a:lnTo>
                    <a:pt x="7289" y="97790"/>
                  </a:lnTo>
                  <a:lnTo>
                    <a:pt x="0" y="143002"/>
                  </a:lnTo>
                  <a:lnTo>
                    <a:pt x="0" y="714883"/>
                  </a:lnTo>
                  <a:lnTo>
                    <a:pt x="7289" y="760095"/>
                  </a:lnTo>
                  <a:lnTo>
                    <a:pt x="27597" y="799338"/>
                  </a:lnTo>
                  <a:lnTo>
                    <a:pt x="58546" y="830326"/>
                  </a:lnTo>
                  <a:lnTo>
                    <a:pt x="97790" y="850519"/>
                  </a:lnTo>
                  <a:lnTo>
                    <a:pt x="142989" y="857885"/>
                  </a:lnTo>
                  <a:lnTo>
                    <a:pt x="10385183" y="857885"/>
                  </a:lnTo>
                  <a:lnTo>
                    <a:pt x="10430395" y="850519"/>
                  </a:lnTo>
                  <a:lnTo>
                    <a:pt x="10469638" y="830326"/>
                  </a:lnTo>
                  <a:lnTo>
                    <a:pt x="10500626" y="799338"/>
                  </a:lnTo>
                  <a:lnTo>
                    <a:pt x="10520946" y="760095"/>
                  </a:lnTo>
                  <a:lnTo>
                    <a:pt x="10528185" y="714883"/>
                  </a:lnTo>
                  <a:lnTo>
                    <a:pt x="10528185" y="143002"/>
                  </a:lnTo>
                  <a:lnTo>
                    <a:pt x="10517263" y="88265"/>
                  </a:lnTo>
                  <a:lnTo>
                    <a:pt x="10486275" y="41910"/>
                  </a:lnTo>
                  <a:lnTo>
                    <a:pt x="10439920" y="10922"/>
                  </a:lnTo>
                  <a:lnTo>
                    <a:pt x="10385183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94715" y="575563"/>
            <a:ext cx="103816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Real-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22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22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Sign</a:t>
            </a:r>
            <a:r>
              <a:rPr sz="22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Recognition</a:t>
            </a:r>
            <a:r>
              <a:rPr sz="22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2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Open-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Rejection</a:t>
            </a:r>
            <a:r>
              <a:rPr sz="22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Temporal</a:t>
            </a:r>
            <a:r>
              <a:rPr sz="22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Consensus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87541" y="1273302"/>
            <a:ext cx="212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25" dirty="0">
                <a:latin typeface="Times New Roman"/>
                <a:cs typeface="Times New Roman"/>
              </a:rPr>
              <a:t>by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9052" y="3370198"/>
            <a:ext cx="1843658" cy="166307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41223" y="6597192"/>
            <a:ext cx="527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03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22680" y="5037277"/>
            <a:ext cx="9956165" cy="1828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ts val="2510"/>
              </a:lnSpc>
              <a:spcBef>
                <a:spcPts val="105"/>
              </a:spcBef>
            </a:pPr>
            <a:r>
              <a:rPr sz="2300" dirty="0">
                <a:latin typeface="Times New Roman"/>
                <a:cs typeface="Times New Roman"/>
              </a:rPr>
              <a:t>Department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Computer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Science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Engineering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(Data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Science)</a:t>
            </a:r>
            <a:endParaRPr sz="2300">
              <a:latin typeface="Times New Roman"/>
              <a:cs typeface="Times New Roman"/>
            </a:endParaRPr>
          </a:p>
          <a:p>
            <a:pPr marR="2540" algn="ctr">
              <a:lnSpc>
                <a:spcPts val="3960"/>
              </a:lnSpc>
            </a:pPr>
            <a:r>
              <a:rPr sz="3550" dirty="0">
                <a:solidFill>
                  <a:srgbClr val="FF0000"/>
                </a:solidFill>
                <a:latin typeface="Times New Roman"/>
                <a:cs typeface="Times New Roman"/>
              </a:rPr>
              <a:t>Srinivasa</a:t>
            </a:r>
            <a:r>
              <a:rPr sz="3550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550" dirty="0">
                <a:solidFill>
                  <a:srgbClr val="FF0000"/>
                </a:solidFill>
                <a:latin typeface="Times New Roman"/>
                <a:cs typeface="Times New Roman"/>
              </a:rPr>
              <a:t>Ramanujan</a:t>
            </a:r>
            <a:r>
              <a:rPr sz="355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550" dirty="0">
                <a:solidFill>
                  <a:srgbClr val="FF0000"/>
                </a:solidFill>
                <a:latin typeface="Times New Roman"/>
                <a:cs typeface="Times New Roman"/>
              </a:rPr>
              <a:t>Institute</a:t>
            </a:r>
            <a:r>
              <a:rPr sz="3550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55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55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550" spc="-10" dirty="0">
                <a:solidFill>
                  <a:srgbClr val="FF0000"/>
                </a:solidFill>
                <a:latin typeface="Times New Roman"/>
                <a:cs typeface="Times New Roman"/>
              </a:rPr>
              <a:t>Technology</a:t>
            </a:r>
            <a:endParaRPr sz="3550">
              <a:latin typeface="Times New Roman"/>
              <a:cs typeface="Times New Roman"/>
            </a:endParaRPr>
          </a:p>
          <a:p>
            <a:pPr algn="ctr">
              <a:lnSpc>
                <a:spcPts val="1280"/>
              </a:lnSpc>
            </a:pPr>
            <a:r>
              <a:rPr sz="1150" b="1" spc="-20" dirty="0">
                <a:latin typeface="Times New Roman"/>
                <a:cs typeface="Times New Roman"/>
              </a:rPr>
              <a:t>(Affiliated</a:t>
            </a:r>
            <a:r>
              <a:rPr sz="1150" b="1" spc="-3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to</a:t>
            </a:r>
            <a:r>
              <a:rPr sz="1150" b="1" spc="-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JNTUA</a:t>
            </a:r>
            <a:r>
              <a:rPr sz="1150" b="1" spc="-4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&amp;</a:t>
            </a:r>
            <a:r>
              <a:rPr sz="1150" b="1" spc="-1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Approved</a:t>
            </a:r>
            <a:r>
              <a:rPr sz="1150" b="1" spc="-4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by</a:t>
            </a:r>
            <a:r>
              <a:rPr sz="1150" b="1" spc="-3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AICTE)</a:t>
            </a:r>
            <a:r>
              <a:rPr sz="1150" b="1" spc="-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(Accredited</a:t>
            </a:r>
            <a:r>
              <a:rPr sz="1150" b="1" spc="-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by</a:t>
            </a:r>
            <a:r>
              <a:rPr sz="1150" b="1" spc="-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NAAC</a:t>
            </a:r>
            <a:r>
              <a:rPr sz="1150" b="1" spc="-4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with</a:t>
            </a:r>
            <a:r>
              <a:rPr sz="1150" b="1" spc="-3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‘A’</a:t>
            </a:r>
            <a:r>
              <a:rPr sz="1150" b="1" spc="-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Grade</a:t>
            </a:r>
            <a:r>
              <a:rPr sz="1150" b="1" spc="-1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&amp;</a:t>
            </a:r>
            <a:r>
              <a:rPr sz="1150" b="1" spc="-1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Accredited</a:t>
            </a:r>
            <a:r>
              <a:rPr sz="1150" b="1" spc="-3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by</a:t>
            </a:r>
            <a:r>
              <a:rPr sz="1150" b="1" spc="-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NBA</a:t>
            </a:r>
            <a:r>
              <a:rPr sz="1150" b="1" spc="-4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(EEE,</a:t>
            </a:r>
            <a:r>
              <a:rPr sz="1150" b="1" spc="-4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ECE</a:t>
            </a:r>
            <a:r>
              <a:rPr sz="1150" b="1" spc="-3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&amp;</a:t>
            </a:r>
            <a:r>
              <a:rPr sz="1150" b="1" spc="-10" dirty="0">
                <a:latin typeface="Times New Roman"/>
                <a:cs typeface="Times New Roman"/>
              </a:rPr>
              <a:t> </a:t>
            </a:r>
            <a:r>
              <a:rPr sz="1150" b="1" spc="-20" dirty="0">
                <a:latin typeface="Times New Roman"/>
                <a:cs typeface="Times New Roman"/>
              </a:rPr>
              <a:t>CSE)</a:t>
            </a:r>
            <a:endParaRPr sz="1150">
              <a:latin typeface="Times New Roman"/>
              <a:cs typeface="Times New Roman"/>
            </a:endParaRPr>
          </a:p>
          <a:p>
            <a:pPr algn="ctr">
              <a:lnSpc>
                <a:spcPts val="1450"/>
              </a:lnSpc>
            </a:pPr>
            <a:r>
              <a:rPr sz="1250" b="1" dirty="0">
                <a:latin typeface="Times New Roman"/>
                <a:cs typeface="Times New Roman"/>
              </a:rPr>
              <a:t>Rotarypuram</a:t>
            </a:r>
            <a:r>
              <a:rPr sz="1250" b="1" spc="-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Village,</a:t>
            </a:r>
            <a:r>
              <a:rPr sz="1250" b="1" spc="-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B</a:t>
            </a:r>
            <a:r>
              <a:rPr sz="1250" b="1" spc="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K Samudram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Mandal,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Ananthapuramu</a:t>
            </a:r>
            <a:r>
              <a:rPr sz="1250" b="1" spc="3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–</a:t>
            </a:r>
            <a:r>
              <a:rPr sz="1250" b="1" spc="-1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515701.</a:t>
            </a:r>
            <a:endParaRPr sz="12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1350" b="1" dirty="0">
                <a:solidFill>
                  <a:srgbClr val="1E4E78"/>
                </a:solidFill>
                <a:latin typeface="Times New Roman"/>
                <a:cs typeface="Times New Roman"/>
              </a:rPr>
              <a:t>2025</a:t>
            </a:r>
            <a:r>
              <a:rPr sz="1350" b="1" spc="-15" dirty="0">
                <a:solidFill>
                  <a:srgbClr val="1E4E78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1E4E78"/>
                </a:solidFill>
                <a:latin typeface="Times New Roman"/>
                <a:cs typeface="Times New Roman"/>
              </a:rPr>
              <a:t>-</a:t>
            </a:r>
            <a:r>
              <a:rPr sz="1350" b="1" spc="20" dirty="0">
                <a:solidFill>
                  <a:srgbClr val="1E4E78"/>
                </a:solidFill>
                <a:latin typeface="Times New Roman"/>
                <a:cs typeface="Times New Roman"/>
              </a:rPr>
              <a:t> </a:t>
            </a:r>
            <a:r>
              <a:rPr sz="1350" b="1" spc="-20" dirty="0">
                <a:solidFill>
                  <a:srgbClr val="1E4E78"/>
                </a:solidFill>
                <a:latin typeface="Times New Roman"/>
                <a:cs typeface="Times New Roman"/>
              </a:rPr>
              <a:t>2026</a:t>
            </a: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50"/>
              </a:spcBef>
              <a:tabLst>
                <a:tab pos="6024880" algn="l"/>
              </a:tabLst>
            </a:pPr>
            <a:r>
              <a:rPr sz="1600" cap="small" spc="-70" dirty="0">
                <a:solidFill>
                  <a:srgbClr val="FFFFFF"/>
                </a:solidFill>
                <a:latin typeface="Times New Roman"/>
                <a:cs typeface="Times New Roman"/>
              </a:rPr>
              <a:t>Dept.</a:t>
            </a:r>
            <a:r>
              <a:rPr sz="1600" cap="small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3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16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Science</a:t>
            </a:r>
            <a:r>
              <a:rPr sz="1600" cap="small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9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600" cap="small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r>
              <a:rPr sz="16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50" dirty="0">
                <a:solidFill>
                  <a:srgbClr val="FFFFFF"/>
                </a:solidFill>
                <a:latin typeface="Times New Roman"/>
                <a:cs typeface="Times New Roman"/>
              </a:rPr>
              <a:t>(Data</a:t>
            </a:r>
            <a:r>
              <a:rPr sz="1600" cap="small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" dirty="0">
                <a:solidFill>
                  <a:srgbClr val="FFFFFF"/>
                </a:solidFill>
                <a:latin typeface="Times New Roman"/>
                <a:cs typeface="Times New Roman"/>
              </a:rPr>
              <a:t>Science)</a:t>
            </a:r>
            <a:r>
              <a:rPr sz="1600" cap="small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600" cap="small" spc="-95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6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600" cap="small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00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600" cap="small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cap="small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cap="small" spc="-13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8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2000" y="0"/>
                </a:moveTo>
                <a:lnTo>
                  <a:pt x="0" y="0"/>
                </a:lnTo>
                <a:lnTo>
                  <a:pt x="0" y="232752"/>
                </a:lnTo>
                <a:lnTo>
                  <a:pt x="12192000" y="23275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57145" y="-33401"/>
            <a:ext cx="69056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Real-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500" b="1" i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1500" b="1" i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Sign</a:t>
            </a:r>
            <a:r>
              <a:rPr sz="1500" b="1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Recognition</a:t>
            </a:r>
            <a:r>
              <a:rPr sz="1500" b="1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with </a:t>
            </a: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Open-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1500" b="1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Rejection</a:t>
            </a: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500" b="1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Temporal</a:t>
            </a:r>
            <a:r>
              <a:rPr sz="1500" b="1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Consensus.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1" y="216268"/>
            <a:ext cx="12192000" cy="803910"/>
            <a:chOff x="-1" y="216268"/>
            <a:chExt cx="12192000" cy="8039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68"/>
              <a:ext cx="12191999" cy="8037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-1" y="232778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2000" y="0"/>
                  </a:moveTo>
                  <a:lnTo>
                    <a:pt x="0" y="0"/>
                  </a:lnTo>
                  <a:lnTo>
                    <a:pt x="0" y="714895"/>
                  </a:lnTo>
                  <a:lnTo>
                    <a:pt x="12192000" y="71489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4790" y="140970"/>
            <a:ext cx="20078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1223" y="6619263"/>
            <a:ext cx="52768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03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cap="small" spc="-70" dirty="0"/>
              <a:t>Dept.</a:t>
            </a:r>
            <a:r>
              <a:rPr cap="small" spc="-80" dirty="0"/>
              <a:t> </a:t>
            </a:r>
            <a:r>
              <a:rPr cap="small" spc="-30" dirty="0"/>
              <a:t>of</a:t>
            </a:r>
            <a:r>
              <a:rPr cap="small" spc="-10" dirty="0"/>
              <a:t> </a:t>
            </a:r>
            <a:r>
              <a:rPr cap="small" spc="-100" dirty="0"/>
              <a:t>Computer</a:t>
            </a:r>
            <a:r>
              <a:rPr cap="small" spc="45" dirty="0"/>
              <a:t> </a:t>
            </a:r>
            <a:r>
              <a:rPr cap="small" spc="-85" dirty="0"/>
              <a:t>Science</a:t>
            </a:r>
            <a:r>
              <a:rPr cap="small" spc="20" dirty="0"/>
              <a:t> </a:t>
            </a:r>
            <a:r>
              <a:rPr cap="small" spc="-95" dirty="0"/>
              <a:t>and</a:t>
            </a:r>
            <a:r>
              <a:rPr cap="small" spc="20" dirty="0"/>
              <a:t> </a:t>
            </a:r>
            <a:r>
              <a:rPr cap="small" spc="-100" dirty="0"/>
              <a:t>Engineering</a:t>
            </a:r>
            <a:r>
              <a:rPr cap="small" spc="-25" dirty="0"/>
              <a:t> </a:t>
            </a:r>
            <a:r>
              <a:rPr cap="small" spc="-50" dirty="0"/>
              <a:t>(Data</a:t>
            </a:r>
            <a:r>
              <a:rPr cap="small" spc="75" dirty="0"/>
              <a:t> </a:t>
            </a:r>
            <a:r>
              <a:rPr cap="small" spc="-95" dirty="0"/>
              <a:t>Science)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cap="small" spc="-95" dirty="0"/>
              <a:t>Srinivasa</a:t>
            </a:r>
            <a:r>
              <a:rPr cap="small" spc="35" dirty="0"/>
              <a:t> </a:t>
            </a:r>
            <a:r>
              <a:rPr cap="small" spc="-110" dirty="0"/>
              <a:t>Ramanujan</a:t>
            </a:r>
            <a:r>
              <a:rPr cap="small" spc="40" dirty="0"/>
              <a:t> </a:t>
            </a:r>
            <a:r>
              <a:rPr cap="small" spc="-100" dirty="0"/>
              <a:t>Institute</a:t>
            </a:r>
            <a:r>
              <a:rPr cap="small" spc="50" dirty="0"/>
              <a:t> </a:t>
            </a:r>
            <a:r>
              <a:rPr cap="small" dirty="0"/>
              <a:t>of</a:t>
            </a:r>
            <a:r>
              <a:rPr cap="small" spc="70" dirty="0"/>
              <a:t> </a:t>
            </a:r>
            <a:r>
              <a:rPr cap="small" spc="-145" dirty="0"/>
              <a:t>Technology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8" name="object 8"/>
          <p:cNvSpPr txBox="1"/>
          <p:nvPr/>
        </p:nvSpPr>
        <p:spPr>
          <a:xfrm>
            <a:off x="325323" y="1096213"/>
            <a:ext cx="2858770" cy="5070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1005" indent="-408305">
              <a:lnSpc>
                <a:spcPct val="100000"/>
              </a:lnSpc>
              <a:spcBef>
                <a:spcPts val="9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Abstract</a:t>
            </a:r>
            <a:endParaRPr sz="280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270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Introduction</a:t>
            </a:r>
            <a:endParaRPr sz="280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2700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Literature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survey</a:t>
            </a:r>
            <a:endParaRPr sz="280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2700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Proposed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Work</a:t>
            </a:r>
            <a:endParaRPr sz="280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2700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References</a:t>
            </a:r>
            <a:endParaRPr sz="280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270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GitHub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Link</a:t>
            </a:r>
            <a:endParaRPr sz="280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2700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Queries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8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2000" y="0"/>
                </a:moveTo>
                <a:lnTo>
                  <a:pt x="0" y="0"/>
                </a:lnTo>
                <a:lnTo>
                  <a:pt x="0" y="232752"/>
                </a:lnTo>
                <a:lnTo>
                  <a:pt x="12192000" y="23275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98294" y="-7493"/>
            <a:ext cx="69056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Real-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500" b="1" i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1500" b="1" i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Sign</a:t>
            </a:r>
            <a:r>
              <a:rPr sz="1500" b="1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Recognition</a:t>
            </a:r>
            <a:r>
              <a:rPr sz="1500" b="1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with </a:t>
            </a: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Open-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1500" b="1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Rejection</a:t>
            </a: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500" b="1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Temporal</a:t>
            </a:r>
            <a:r>
              <a:rPr sz="1500" b="1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Consensus.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1" y="216268"/>
            <a:ext cx="12192000" cy="803910"/>
            <a:chOff x="-1" y="216268"/>
            <a:chExt cx="12192000" cy="8039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68"/>
              <a:ext cx="12191999" cy="8037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-1" y="232778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2000" y="0"/>
                  </a:moveTo>
                  <a:lnTo>
                    <a:pt x="0" y="0"/>
                  </a:lnTo>
                  <a:lnTo>
                    <a:pt x="0" y="714895"/>
                  </a:lnTo>
                  <a:lnTo>
                    <a:pt x="12192000" y="71489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8727" y="231724"/>
            <a:ext cx="191071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Abstract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1223" y="6619263"/>
            <a:ext cx="52768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03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122680" y="6619263"/>
            <a:ext cx="527812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cap="small" spc="-70" dirty="0"/>
              <a:t>Dept.</a:t>
            </a:r>
            <a:r>
              <a:rPr cap="small" spc="-80" dirty="0"/>
              <a:t> </a:t>
            </a:r>
            <a:r>
              <a:rPr cap="small" spc="-30" dirty="0"/>
              <a:t>of</a:t>
            </a:r>
            <a:r>
              <a:rPr cap="small" spc="-10" dirty="0"/>
              <a:t> </a:t>
            </a:r>
            <a:r>
              <a:rPr cap="small" spc="-100" dirty="0"/>
              <a:t>Computer</a:t>
            </a:r>
            <a:r>
              <a:rPr cap="small" spc="45" dirty="0"/>
              <a:t> </a:t>
            </a:r>
            <a:r>
              <a:rPr cap="small" spc="-85" dirty="0"/>
              <a:t>Science</a:t>
            </a:r>
            <a:r>
              <a:rPr cap="small" spc="20" dirty="0"/>
              <a:t> </a:t>
            </a:r>
            <a:r>
              <a:rPr cap="small" spc="-95" dirty="0"/>
              <a:t>and</a:t>
            </a:r>
            <a:r>
              <a:rPr cap="small" spc="20" dirty="0"/>
              <a:t> </a:t>
            </a:r>
            <a:r>
              <a:rPr cap="small" spc="-100" dirty="0"/>
              <a:t>Engineering</a:t>
            </a:r>
            <a:r>
              <a:rPr cap="small" spc="-25" dirty="0"/>
              <a:t> </a:t>
            </a:r>
            <a:r>
              <a:rPr cap="small" spc="-50" dirty="0"/>
              <a:t>(Data</a:t>
            </a:r>
            <a:r>
              <a:rPr cap="small" spc="75" dirty="0"/>
              <a:t> </a:t>
            </a:r>
            <a:r>
              <a:rPr cap="small" spc="-95" dirty="0"/>
              <a:t>Science)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7162800" y="6616520"/>
            <a:ext cx="43582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cap="small" spc="-95" dirty="0"/>
              <a:t>Srinivasa</a:t>
            </a:r>
            <a:r>
              <a:rPr cap="small" spc="35" dirty="0"/>
              <a:t> </a:t>
            </a:r>
            <a:r>
              <a:rPr cap="small" spc="-110" dirty="0"/>
              <a:t>Ramanujan</a:t>
            </a:r>
            <a:r>
              <a:rPr cap="small" spc="40" dirty="0"/>
              <a:t> </a:t>
            </a:r>
            <a:r>
              <a:rPr cap="small" spc="-100" dirty="0"/>
              <a:t>Institute</a:t>
            </a:r>
            <a:r>
              <a:rPr cap="small" spc="50" dirty="0"/>
              <a:t> </a:t>
            </a:r>
            <a:r>
              <a:rPr cap="small" dirty="0"/>
              <a:t>of</a:t>
            </a:r>
            <a:r>
              <a:rPr cap="small" spc="70" dirty="0"/>
              <a:t> </a:t>
            </a:r>
            <a:r>
              <a:rPr cap="small" spc="-145" dirty="0"/>
              <a:t>Technology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859894" y="6618653"/>
            <a:ext cx="127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lang="en-IN" sz="1600" b="1" spc="-50" dirty="0">
                <a:solidFill>
                  <a:srgbClr val="001F5F"/>
                </a:solidFill>
                <a:latin typeface="Times New Roman"/>
                <a:cs typeface="Times New Roman"/>
              </a:rPr>
              <a:t>3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BE20A5F-69B2-7444-3CF4-506B1C63A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243" y="3155270"/>
            <a:ext cx="117126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EB4912C7-EEDE-C6FA-B693-BC937FFEA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106" y="1186587"/>
            <a:ext cx="11273861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project is a system that can find and understand traffic signs in real time using video from a moving car.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 task is challenging because traffic signs can be: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Small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Hidden behind objects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Similar in appearance to other objects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system is designed to be fast, using: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 simple detector to locate traffic signs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 detailed classifier to interpret their meaning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avoid confusion with objects that only look like signs, the system includes a special feature that rejects fake signs by checking their shape and color.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system uses temporal consensus, which means it tracks signs across multiple video frames to: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Make predictions more stable and accurate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Handle cases where signs are blurry or temporarily out of sight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project is designed to run efficiently on small computers, such as those typically found in cars.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Testing on real video data has shown the system to be both fast and accurate.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 work provides a solid foundation for future projects in: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Driver assistance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Smart transportation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8"/>
            <a:ext cx="12192000" cy="217170"/>
          </a:xfrm>
          <a:custGeom>
            <a:avLst/>
            <a:gdLst/>
            <a:ahLst/>
            <a:cxnLst/>
            <a:rect l="l" t="t" r="r" b="b"/>
            <a:pathLst>
              <a:path w="12192000" h="217170">
                <a:moveTo>
                  <a:pt x="0" y="217119"/>
                </a:moveTo>
                <a:lnTo>
                  <a:pt x="12192000" y="217119"/>
                </a:lnTo>
                <a:lnTo>
                  <a:pt x="12192000" y="0"/>
                </a:lnTo>
                <a:lnTo>
                  <a:pt x="0" y="0"/>
                </a:lnTo>
                <a:lnTo>
                  <a:pt x="0" y="21711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71650" y="-40767"/>
            <a:ext cx="689673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Real-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500" b="1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1500" b="1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Sign</a:t>
            </a:r>
            <a:r>
              <a:rPr sz="1500" b="1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Recognition</a:t>
            </a:r>
            <a:r>
              <a:rPr sz="1500" b="1" i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Open-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1500" b="1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Rejection</a:t>
            </a:r>
            <a:r>
              <a:rPr sz="1500" b="1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500" b="1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Temporal</a:t>
            </a:r>
            <a:r>
              <a:rPr sz="1500" b="1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Consensus.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57" y="217157"/>
            <a:ext cx="12192000" cy="814069"/>
            <a:chOff x="-57" y="217157"/>
            <a:chExt cx="12192000" cy="81406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51561"/>
              <a:ext cx="12191942" cy="77943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-57" y="217157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2000" y="0"/>
                  </a:moveTo>
                  <a:lnTo>
                    <a:pt x="0" y="0"/>
                  </a:lnTo>
                  <a:lnTo>
                    <a:pt x="0" y="714895"/>
                  </a:lnTo>
                  <a:lnTo>
                    <a:pt x="12192000" y="71489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1223" y="6619263"/>
            <a:ext cx="52768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03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122680" y="6619263"/>
            <a:ext cx="543052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cap="small" spc="-70" dirty="0"/>
              <a:t>Dept.</a:t>
            </a:r>
            <a:r>
              <a:rPr cap="small" spc="-80" dirty="0"/>
              <a:t> </a:t>
            </a:r>
            <a:r>
              <a:rPr cap="small" spc="-30" dirty="0"/>
              <a:t>of</a:t>
            </a:r>
            <a:r>
              <a:rPr cap="small" spc="-10" dirty="0"/>
              <a:t> </a:t>
            </a:r>
            <a:r>
              <a:rPr cap="small" spc="-100" dirty="0"/>
              <a:t>Computer</a:t>
            </a:r>
            <a:r>
              <a:rPr cap="small" spc="45" dirty="0"/>
              <a:t> </a:t>
            </a:r>
            <a:r>
              <a:rPr cap="small" spc="-85" dirty="0"/>
              <a:t>Science</a:t>
            </a:r>
            <a:r>
              <a:rPr cap="small" spc="20" dirty="0"/>
              <a:t> </a:t>
            </a:r>
            <a:r>
              <a:rPr cap="small" spc="-95" dirty="0"/>
              <a:t>and</a:t>
            </a:r>
            <a:r>
              <a:rPr cap="small" spc="20" dirty="0"/>
              <a:t> </a:t>
            </a:r>
            <a:r>
              <a:rPr cap="small" spc="-100" dirty="0"/>
              <a:t>Engineering</a:t>
            </a:r>
            <a:r>
              <a:rPr cap="small" spc="-25" dirty="0"/>
              <a:t> </a:t>
            </a:r>
            <a:r>
              <a:rPr cap="small" spc="-50" dirty="0"/>
              <a:t>(Data</a:t>
            </a:r>
            <a:r>
              <a:rPr cap="small" spc="75" dirty="0"/>
              <a:t> </a:t>
            </a:r>
            <a:r>
              <a:rPr cap="small" spc="-95" dirty="0"/>
              <a:t>Science)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7086600" y="6627167"/>
            <a:ext cx="4053459" cy="230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cap="small" spc="-95" dirty="0"/>
              <a:t>Srinivasa</a:t>
            </a:r>
            <a:r>
              <a:rPr cap="small" spc="35" dirty="0"/>
              <a:t> </a:t>
            </a:r>
            <a:r>
              <a:rPr cap="small" spc="-110" dirty="0"/>
              <a:t>Ramanujan</a:t>
            </a:r>
            <a:r>
              <a:rPr cap="small" spc="40" dirty="0"/>
              <a:t> </a:t>
            </a:r>
            <a:r>
              <a:rPr cap="small" spc="-100" dirty="0"/>
              <a:t>Institute</a:t>
            </a:r>
            <a:r>
              <a:rPr cap="small" spc="50" dirty="0"/>
              <a:t> </a:t>
            </a:r>
            <a:r>
              <a:rPr cap="small" dirty="0"/>
              <a:t>of</a:t>
            </a:r>
            <a:r>
              <a:rPr cap="small" spc="70" dirty="0"/>
              <a:t> </a:t>
            </a:r>
            <a:r>
              <a:rPr cap="small" spc="-145" dirty="0"/>
              <a:t>Technology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8" name="object 8"/>
          <p:cNvSpPr txBox="1"/>
          <p:nvPr/>
        </p:nvSpPr>
        <p:spPr>
          <a:xfrm>
            <a:off x="375920" y="1430858"/>
            <a:ext cx="11149330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64" indent="-120650">
              <a:lnSpc>
                <a:spcPct val="100000"/>
              </a:lnSpc>
              <a:spcBef>
                <a:spcPts val="100"/>
              </a:spcBef>
              <a:buSzPct val="94444"/>
              <a:buFont typeface="Calibri"/>
              <a:buChar char="•"/>
              <a:tabLst>
                <a:tab pos="126364" algn="l"/>
              </a:tabLst>
            </a:pPr>
            <a:r>
              <a:rPr sz="1800" b="1" dirty="0">
                <a:solidFill>
                  <a:srgbClr val="1B1C1D"/>
                </a:solidFill>
                <a:latin typeface="Calibri"/>
                <a:cs typeface="Calibri"/>
              </a:rPr>
              <a:t>The</a:t>
            </a:r>
            <a:r>
              <a:rPr sz="1800" b="1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B1C1D"/>
                </a:solidFill>
                <a:latin typeface="Calibri"/>
                <a:cs typeface="Calibri"/>
              </a:rPr>
              <a:t>Problem</a:t>
            </a:r>
            <a:endParaRPr sz="1800" dirty="0">
              <a:latin typeface="Calibri"/>
              <a:cs typeface="Calibri"/>
            </a:endParaRPr>
          </a:p>
          <a:p>
            <a:pPr marL="469265" marR="18923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Our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project</a:t>
            </a:r>
            <a:r>
              <a:rPr sz="18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tackles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big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challenge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for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self-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driving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cars: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recognizing</a:t>
            </a:r>
            <a:r>
              <a:rPr sz="1800" spc="-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traffic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signs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in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real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time.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This</a:t>
            </a:r>
            <a:r>
              <a:rPr sz="18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is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hard</a:t>
            </a:r>
            <a:r>
              <a:rPr sz="18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because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signs</a:t>
            </a:r>
            <a:r>
              <a:rPr sz="18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can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be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tiny,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hidden,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or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look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like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other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objects,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our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system</a:t>
            </a:r>
            <a:r>
              <a:rPr sz="1800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has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to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be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super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fast</a:t>
            </a:r>
            <a:r>
              <a:rPr sz="18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to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keep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up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with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car's speed.</a:t>
            </a:r>
            <a:endParaRPr sz="1800" dirty="0">
              <a:latin typeface="Calibri"/>
              <a:cs typeface="Calibri"/>
            </a:endParaRPr>
          </a:p>
          <a:p>
            <a:pPr marL="126364" indent="-120650">
              <a:lnSpc>
                <a:spcPct val="100000"/>
              </a:lnSpc>
              <a:buSzPct val="94444"/>
              <a:buFont typeface="Calibri"/>
              <a:buChar char="•"/>
              <a:tabLst>
                <a:tab pos="126364" algn="l"/>
              </a:tabLst>
            </a:pPr>
            <a:r>
              <a:rPr sz="1800" b="1" dirty="0">
                <a:solidFill>
                  <a:srgbClr val="1B1C1D"/>
                </a:solidFill>
                <a:latin typeface="Calibri"/>
                <a:cs typeface="Calibri"/>
              </a:rPr>
              <a:t>The</a:t>
            </a:r>
            <a:r>
              <a:rPr sz="1800" b="1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B1C1D"/>
                </a:solidFill>
                <a:latin typeface="Calibri"/>
                <a:cs typeface="Calibri"/>
              </a:rPr>
              <a:t>Solution</a:t>
            </a:r>
            <a:endParaRPr sz="1800" dirty="0">
              <a:latin typeface="Calibri"/>
              <a:cs typeface="Calibri"/>
            </a:endParaRPr>
          </a:p>
          <a:p>
            <a:pPr marL="469265" marR="33655" algn="just">
              <a:lnSpc>
                <a:spcPct val="100000"/>
              </a:lnSpc>
            </a:pP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To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solve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this,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we're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building</a:t>
            </a:r>
            <a:r>
              <a:rPr sz="1800" spc="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special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system</a:t>
            </a:r>
            <a:r>
              <a:rPr sz="1800" spc="-4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that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has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two</a:t>
            </a:r>
            <a:r>
              <a:rPr sz="1800" spc="-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main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parts.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One</a:t>
            </a:r>
            <a:r>
              <a:rPr sz="1800" spc="-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part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is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B1C1D"/>
                </a:solidFill>
                <a:latin typeface="Calibri"/>
                <a:cs typeface="Calibri"/>
              </a:rPr>
              <a:t>simple,</a:t>
            </a:r>
            <a:r>
              <a:rPr sz="1800" b="1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B1C1D"/>
                </a:solidFill>
                <a:latin typeface="Calibri"/>
                <a:cs typeface="Calibri"/>
              </a:rPr>
              <a:t>fast</a:t>
            </a:r>
            <a:r>
              <a:rPr sz="1800" b="1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B1C1D"/>
                </a:solidFill>
                <a:latin typeface="Calibri"/>
                <a:cs typeface="Calibri"/>
              </a:rPr>
              <a:t>detector</a:t>
            </a:r>
            <a:r>
              <a:rPr sz="1800" b="1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that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finds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all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the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possible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signs</a:t>
            </a:r>
            <a:r>
              <a:rPr sz="1800" spc="-4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in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video.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second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part</a:t>
            </a:r>
            <a:r>
              <a:rPr sz="18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is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B1C1D"/>
                </a:solidFill>
                <a:latin typeface="Calibri"/>
                <a:cs typeface="Calibri"/>
              </a:rPr>
              <a:t>smarter</a:t>
            </a:r>
            <a:r>
              <a:rPr sz="1800" b="1" spc="-4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B1C1D"/>
                </a:solidFill>
                <a:latin typeface="Calibri"/>
                <a:cs typeface="Calibri"/>
              </a:rPr>
              <a:t>classifier</a:t>
            </a:r>
            <a:r>
              <a:rPr sz="1800" b="1" spc="-4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that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looks</a:t>
            </a:r>
            <a:r>
              <a:rPr sz="18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at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what's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been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found</a:t>
            </a:r>
            <a:r>
              <a:rPr sz="18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and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figures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out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exactly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what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kind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of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traffic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sign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it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is.</a:t>
            </a:r>
            <a:endParaRPr sz="1800" dirty="0">
              <a:latin typeface="Calibri"/>
              <a:cs typeface="Calibri"/>
            </a:endParaRPr>
          </a:p>
          <a:p>
            <a:pPr marL="126364" indent="-120650" algn="just">
              <a:lnSpc>
                <a:spcPct val="100000"/>
              </a:lnSpc>
              <a:buSzPct val="94444"/>
              <a:buFont typeface="Calibri"/>
              <a:buChar char="•"/>
              <a:tabLst>
                <a:tab pos="126364" algn="l"/>
              </a:tabLst>
            </a:pPr>
            <a:r>
              <a:rPr sz="1800" b="1" dirty="0">
                <a:solidFill>
                  <a:srgbClr val="1B1C1D"/>
                </a:solidFill>
                <a:latin typeface="Calibri"/>
                <a:cs typeface="Calibri"/>
              </a:rPr>
              <a:t>Our</a:t>
            </a:r>
            <a:r>
              <a:rPr sz="1800" b="1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B1C1D"/>
                </a:solidFill>
                <a:latin typeface="Calibri"/>
                <a:cs typeface="Calibri"/>
              </a:rPr>
              <a:t>Unique</a:t>
            </a:r>
            <a:r>
              <a:rPr sz="1800" b="1" spc="-4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B1C1D"/>
                </a:solidFill>
                <a:latin typeface="Calibri"/>
                <a:cs typeface="Calibri"/>
              </a:rPr>
              <a:t>Approach</a:t>
            </a:r>
            <a:endParaRPr sz="1800" dirty="0">
              <a:latin typeface="Calibri"/>
              <a:cs typeface="Calibri"/>
            </a:endParaRPr>
          </a:p>
          <a:p>
            <a:pPr marL="469265" marR="371475" algn="just">
              <a:lnSpc>
                <a:spcPct val="100000"/>
              </a:lnSpc>
            </a:pP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Our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system</a:t>
            </a:r>
            <a:r>
              <a:rPr sz="1800" spc="-4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has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two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key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features.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First,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it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can</a:t>
            </a:r>
            <a:r>
              <a:rPr sz="1800" spc="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B1C1D"/>
                </a:solidFill>
                <a:latin typeface="Calibri"/>
                <a:cs typeface="Calibri"/>
              </a:rPr>
              <a:t>reject</a:t>
            </a:r>
            <a:r>
              <a:rPr sz="1800" b="1" spc="-4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B1C1D"/>
                </a:solidFill>
                <a:latin typeface="Calibri"/>
                <a:cs typeface="Calibri"/>
              </a:rPr>
              <a:t>fake</a:t>
            </a:r>
            <a:r>
              <a:rPr sz="1800" b="1" spc="-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B1C1D"/>
                </a:solidFill>
                <a:latin typeface="Calibri"/>
                <a:cs typeface="Calibri"/>
              </a:rPr>
              <a:t>signs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—things</a:t>
            </a:r>
            <a:r>
              <a:rPr sz="1800" spc="-5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that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look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like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traffic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signs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but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aren't—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by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checking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their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shape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color.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Second,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it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uses</a:t>
            </a:r>
            <a:r>
              <a:rPr sz="1800" spc="-4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B1C1D"/>
                </a:solidFill>
                <a:latin typeface="Calibri"/>
                <a:cs typeface="Calibri"/>
              </a:rPr>
              <a:t>temporal</a:t>
            </a:r>
            <a:r>
              <a:rPr sz="1800" b="1" spc="-5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B1C1D"/>
                </a:solidFill>
                <a:latin typeface="Calibri"/>
                <a:cs typeface="Calibri"/>
              </a:rPr>
              <a:t>consensus</a:t>
            </a:r>
            <a:r>
              <a:rPr sz="1800" b="1" spc="-6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module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that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tracks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sign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across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multiple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video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frames.</a:t>
            </a:r>
            <a:r>
              <a:rPr sz="18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This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makes</a:t>
            </a:r>
            <a:r>
              <a:rPr sz="18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our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predictions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more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reliable,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especially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if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sign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is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blurry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or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briefly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hidden.</a:t>
            </a:r>
            <a:endParaRPr sz="1800" dirty="0">
              <a:latin typeface="Calibri"/>
              <a:cs typeface="Calibri"/>
            </a:endParaRPr>
          </a:p>
          <a:p>
            <a:pPr marL="126364" indent="-120650" algn="just">
              <a:lnSpc>
                <a:spcPct val="100000"/>
              </a:lnSpc>
              <a:spcBef>
                <a:spcPts val="5"/>
              </a:spcBef>
              <a:buSzPct val="94444"/>
              <a:buFont typeface="Calibri"/>
              <a:buChar char="•"/>
              <a:tabLst>
                <a:tab pos="126364" algn="l"/>
              </a:tabLst>
            </a:pPr>
            <a:r>
              <a:rPr sz="1800" b="1" dirty="0">
                <a:solidFill>
                  <a:srgbClr val="1B1C1D"/>
                </a:solidFill>
                <a:latin typeface="Calibri"/>
                <a:cs typeface="Calibri"/>
              </a:rPr>
              <a:t>The</a:t>
            </a:r>
            <a:r>
              <a:rPr sz="1800" b="1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1B1C1D"/>
                </a:solidFill>
                <a:latin typeface="Calibri"/>
                <a:cs typeface="Calibri"/>
              </a:rPr>
              <a:t>Goal</a:t>
            </a:r>
            <a:endParaRPr sz="1800" dirty="0">
              <a:latin typeface="Calibri"/>
              <a:cs typeface="Calibri"/>
            </a:endParaRPr>
          </a:p>
          <a:p>
            <a:pPr marL="469265" marR="5080" algn="just">
              <a:lnSpc>
                <a:spcPct val="100000"/>
              </a:lnSpc>
            </a:pP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main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goal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of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our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project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is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to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create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high-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performing</a:t>
            </a:r>
            <a:r>
              <a:rPr sz="1800" spc="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system</a:t>
            </a:r>
            <a:r>
              <a:rPr sz="1800" spc="-4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that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runs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quickly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on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small</a:t>
            </a:r>
            <a:r>
              <a:rPr sz="18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computer.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We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want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to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show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that</a:t>
            </a:r>
            <a:r>
              <a:rPr sz="18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our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approach</a:t>
            </a:r>
            <a:r>
              <a:rPr sz="1800" spc="-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is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solid</a:t>
            </a:r>
            <a:r>
              <a:rPr sz="1800" spc="-1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foundation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for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building</a:t>
            </a:r>
            <a:r>
              <a:rPr sz="1800" spc="-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practical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safe</a:t>
            </a:r>
            <a:r>
              <a:rPr sz="1800" spc="-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driver</a:t>
            </a:r>
            <a:r>
              <a:rPr sz="1800" spc="-2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1C1D"/>
                </a:solidFill>
                <a:latin typeface="Calibri"/>
                <a:cs typeface="Calibri"/>
              </a:rPr>
              <a:t>assistance</a:t>
            </a:r>
            <a:r>
              <a:rPr sz="18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B1C1D"/>
                </a:solidFill>
                <a:latin typeface="Calibri"/>
                <a:cs typeface="Calibri"/>
              </a:rPr>
              <a:t>systems.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8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2000" y="0"/>
                </a:moveTo>
                <a:lnTo>
                  <a:pt x="0" y="0"/>
                </a:lnTo>
                <a:lnTo>
                  <a:pt x="0" y="232752"/>
                </a:lnTo>
                <a:lnTo>
                  <a:pt x="12192000" y="232752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4345" y="-21513"/>
            <a:ext cx="6896734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i="1" spc="-10" dirty="0">
                <a:latin typeface="Times New Roman"/>
                <a:cs typeface="Times New Roman"/>
              </a:rPr>
              <a:t>Real-</a:t>
            </a:r>
            <a:r>
              <a:rPr sz="1500" b="1" i="1" dirty="0">
                <a:latin typeface="Times New Roman"/>
                <a:cs typeface="Times New Roman"/>
              </a:rPr>
              <a:t>Time</a:t>
            </a:r>
            <a:r>
              <a:rPr sz="1500" b="1" i="1" spc="-35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Traffic</a:t>
            </a:r>
            <a:r>
              <a:rPr sz="1500" b="1" i="1" spc="-45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Sign</a:t>
            </a:r>
            <a:r>
              <a:rPr sz="1500" b="1" i="1" spc="-25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Recognition</a:t>
            </a:r>
            <a:r>
              <a:rPr sz="1500" b="1" i="1" spc="-50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with</a:t>
            </a:r>
            <a:r>
              <a:rPr sz="1500" b="1" i="1" spc="-15" dirty="0">
                <a:latin typeface="Times New Roman"/>
                <a:cs typeface="Times New Roman"/>
              </a:rPr>
              <a:t> </a:t>
            </a:r>
            <a:r>
              <a:rPr sz="1500" b="1" i="1" spc="-10" dirty="0">
                <a:latin typeface="Times New Roman"/>
                <a:cs typeface="Times New Roman"/>
              </a:rPr>
              <a:t>Open-</a:t>
            </a:r>
            <a:r>
              <a:rPr sz="1500" b="1" i="1" dirty="0">
                <a:latin typeface="Times New Roman"/>
                <a:cs typeface="Times New Roman"/>
              </a:rPr>
              <a:t>Set</a:t>
            </a:r>
            <a:r>
              <a:rPr sz="1500" b="1" i="1" spc="-25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Rejection</a:t>
            </a:r>
            <a:r>
              <a:rPr sz="1500" b="1" i="1" spc="-25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and</a:t>
            </a:r>
            <a:r>
              <a:rPr sz="1500" b="1" i="1" spc="-25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Temporal</a:t>
            </a:r>
            <a:r>
              <a:rPr sz="1500" b="1" i="1" spc="-35" dirty="0">
                <a:latin typeface="Times New Roman"/>
                <a:cs typeface="Times New Roman"/>
              </a:rPr>
              <a:t> </a:t>
            </a:r>
            <a:r>
              <a:rPr sz="1500" b="1" i="1" spc="-10" dirty="0">
                <a:latin typeface="Times New Roman"/>
                <a:cs typeface="Times New Roman"/>
              </a:rPr>
              <a:t>Consensus.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1" y="216268"/>
            <a:ext cx="12192000" cy="803910"/>
            <a:chOff x="-1" y="216268"/>
            <a:chExt cx="12192000" cy="8039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68"/>
              <a:ext cx="12191999" cy="8037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-1" y="232778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2000" y="0"/>
                  </a:moveTo>
                  <a:lnTo>
                    <a:pt x="0" y="0"/>
                  </a:lnTo>
                  <a:lnTo>
                    <a:pt x="0" y="714895"/>
                  </a:lnTo>
                  <a:lnTo>
                    <a:pt x="12192000" y="71489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433" y="97003"/>
            <a:ext cx="39395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Times New Roman"/>
                <a:cs typeface="Times New Roman"/>
              </a:rPr>
              <a:t>Literature</a:t>
            </a:r>
            <a:r>
              <a:rPr sz="44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Times New Roman"/>
                <a:cs typeface="Times New Roman"/>
              </a:rPr>
              <a:t>Survey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223" y="6619263"/>
            <a:ext cx="52768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03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122680" y="6619263"/>
            <a:ext cx="543052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cap="small" spc="-70" dirty="0"/>
              <a:t>Dept.</a:t>
            </a:r>
            <a:r>
              <a:rPr cap="small" spc="-80" dirty="0"/>
              <a:t> </a:t>
            </a:r>
            <a:r>
              <a:rPr cap="small" spc="-30" dirty="0"/>
              <a:t>of</a:t>
            </a:r>
            <a:r>
              <a:rPr cap="small" spc="-10" dirty="0"/>
              <a:t> </a:t>
            </a:r>
            <a:r>
              <a:rPr cap="small" spc="-100" dirty="0"/>
              <a:t>Computer</a:t>
            </a:r>
            <a:r>
              <a:rPr cap="small" spc="45" dirty="0"/>
              <a:t> </a:t>
            </a:r>
            <a:r>
              <a:rPr cap="small" spc="-85" dirty="0"/>
              <a:t>Science</a:t>
            </a:r>
            <a:r>
              <a:rPr cap="small" spc="20" dirty="0"/>
              <a:t> </a:t>
            </a:r>
            <a:r>
              <a:rPr cap="small" spc="-95" dirty="0"/>
              <a:t>and</a:t>
            </a:r>
            <a:r>
              <a:rPr cap="small" spc="20" dirty="0"/>
              <a:t> </a:t>
            </a:r>
            <a:r>
              <a:rPr cap="small" spc="-100" dirty="0"/>
              <a:t>Engineering</a:t>
            </a:r>
            <a:r>
              <a:rPr cap="small" spc="-25" dirty="0"/>
              <a:t> </a:t>
            </a:r>
            <a:r>
              <a:rPr cap="small" spc="-50" dirty="0"/>
              <a:t>(Data</a:t>
            </a:r>
            <a:r>
              <a:rPr cap="small" spc="75" dirty="0"/>
              <a:t> </a:t>
            </a:r>
            <a:r>
              <a:rPr cap="small" spc="-95" dirty="0"/>
              <a:t>Science)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7147940" y="6616521"/>
            <a:ext cx="42058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cap="small" spc="-95" dirty="0"/>
              <a:t>Srinivasa</a:t>
            </a:r>
            <a:r>
              <a:rPr cap="small" spc="35" dirty="0"/>
              <a:t> </a:t>
            </a:r>
            <a:r>
              <a:rPr cap="small" spc="-110" dirty="0"/>
              <a:t>Ramanujan</a:t>
            </a:r>
            <a:r>
              <a:rPr cap="small" spc="40" dirty="0"/>
              <a:t> </a:t>
            </a:r>
            <a:r>
              <a:rPr cap="small" spc="-100" dirty="0"/>
              <a:t>Institute</a:t>
            </a:r>
            <a:r>
              <a:rPr cap="small" spc="50" dirty="0"/>
              <a:t> </a:t>
            </a:r>
            <a:r>
              <a:rPr cap="small" dirty="0"/>
              <a:t>of</a:t>
            </a:r>
            <a:r>
              <a:rPr cap="small" spc="70" dirty="0"/>
              <a:t> </a:t>
            </a:r>
            <a:r>
              <a:rPr cap="small" spc="-145" dirty="0"/>
              <a:t>Technology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376534"/>
              </p:ext>
            </p:extLst>
          </p:nvPr>
        </p:nvGraphicFramePr>
        <p:xfrm>
          <a:off x="-2" y="801853"/>
          <a:ext cx="12192002" cy="5847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1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8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2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78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8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622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6345">
                <a:tc>
                  <a:txBody>
                    <a:bodyPr/>
                    <a:lstStyle/>
                    <a:p>
                      <a:pPr marL="5651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3"/>
                    </a:solidFill>
                  </a:tcPr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3"/>
                    </a:solidFill>
                  </a:tcPr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3"/>
                    </a:solidFill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0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r>
                        <a:rPr sz="10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05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3"/>
                    </a:solidFill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Methodology</a:t>
                      </a:r>
                      <a:r>
                        <a:rPr sz="1050" b="1" spc="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Adapted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3"/>
                    </a:solidFill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r>
                        <a:rPr sz="105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Findings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3"/>
                    </a:solidFill>
                  </a:tcPr>
                </a:tc>
                <a:tc>
                  <a:txBody>
                    <a:bodyPr/>
                    <a:lstStyle/>
                    <a:p>
                      <a:pPr marL="8636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Gaps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9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spc="-25" dirty="0">
                          <a:latin typeface="Calibri"/>
                          <a:cs typeface="Calibri"/>
                        </a:rPr>
                        <a:t>1.</a:t>
                      </a:r>
                      <a:endParaRPr lang="en-IN" sz="1050" spc="-25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25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25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25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25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25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25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25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25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en-IN" sz="1050" spc="-25" dirty="0">
                          <a:latin typeface="Calibri"/>
                          <a:cs typeface="Calibri"/>
                        </a:rPr>
                        <a:t>2.</a:t>
                      </a:r>
                      <a:endParaRPr sz="1050" spc="-25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D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3390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Towards Real-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Time Traffic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Sign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Detection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Classification</a:t>
                      </a: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090" marR="3390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090" marR="3390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090" marR="3390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090" marR="3390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090" marR="3390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090" marR="3390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090" marR="3390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050" dirty="0">
                          <a:latin typeface="+mn-lt"/>
                          <a:cs typeface="Calibri"/>
                        </a:rPr>
                        <a:t>A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Real-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Time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Traffic</a:t>
                      </a:r>
                      <a:r>
                        <a:rPr lang="en-US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Sign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Recognition</a:t>
                      </a:r>
                      <a:endParaRPr lang="en-US" sz="1050" dirty="0">
                        <a:latin typeface="+mn-lt"/>
                        <a:cs typeface="Calibri"/>
                      </a:endParaRPr>
                    </a:p>
                    <a:p>
                      <a:pPr marR="34925" algn="ctr">
                        <a:lnSpc>
                          <a:spcPct val="100000"/>
                        </a:lnSpc>
                      </a:pPr>
                      <a:r>
                        <a:rPr lang="en-US" sz="1050" dirty="0">
                          <a:latin typeface="+mn-lt"/>
                          <a:cs typeface="Calibri"/>
                        </a:rPr>
                        <a:t>Method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Using</a:t>
                      </a:r>
                      <a:r>
                        <a:rPr lang="en-US" sz="1050" spc="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a</a:t>
                      </a:r>
                      <a:r>
                        <a:rPr lang="en-US" sz="105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New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Attention-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Based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Deep</a:t>
                      </a:r>
                      <a:r>
                        <a:rPr lang="en-US" sz="1050" spc="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Convolutional</a:t>
                      </a:r>
                      <a:r>
                        <a:rPr lang="en-US" sz="1050" spc="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Neural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 Network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for</a:t>
                      </a:r>
                      <a:r>
                        <a:rPr lang="en-US" sz="105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Smart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 Vehicles</a:t>
                      </a:r>
                      <a:endParaRPr lang="en-US" sz="1050" dirty="0">
                        <a:latin typeface="+mn-lt"/>
                        <a:cs typeface="Calibri"/>
                      </a:endParaRPr>
                    </a:p>
                    <a:p>
                      <a:pPr marL="85090" marR="3390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090" marR="33909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D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59118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Yi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Yang,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Hengliang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Luo, </a:t>
                      </a:r>
                      <a:r>
                        <a:rPr sz="1050" dirty="0" err="1">
                          <a:latin typeface="Calibri"/>
                          <a:cs typeface="Calibri"/>
                        </a:rPr>
                        <a:t>Fuchao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Wu</a:t>
                      </a:r>
                      <a:endParaRPr lang="en-IN" sz="1050" spc="-25" dirty="0">
                        <a:latin typeface="Calibri"/>
                        <a:cs typeface="Calibri"/>
                      </a:endParaRPr>
                    </a:p>
                    <a:p>
                      <a:pPr marL="85090" marR="59118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25" dirty="0">
                        <a:latin typeface="Calibri"/>
                        <a:cs typeface="Calibri"/>
                      </a:endParaRPr>
                    </a:p>
                    <a:p>
                      <a:pPr marL="85090" marR="59118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25" dirty="0">
                        <a:latin typeface="Calibri"/>
                        <a:cs typeface="Calibri"/>
                      </a:endParaRPr>
                    </a:p>
                    <a:p>
                      <a:pPr marL="85090" marR="59118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25" dirty="0">
                        <a:latin typeface="Calibri"/>
                        <a:cs typeface="Calibri"/>
                      </a:endParaRPr>
                    </a:p>
                    <a:p>
                      <a:pPr marL="85090" marR="59118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25" dirty="0">
                        <a:latin typeface="Calibri"/>
                        <a:cs typeface="Calibri"/>
                      </a:endParaRPr>
                    </a:p>
                    <a:p>
                      <a:pPr marL="85090" marR="59118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25" dirty="0">
                        <a:latin typeface="Calibri"/>
                        <a:cs typeface="Calibri"/>
                      </a:endParaRPr>
                    </a:p>
                    <a:p>
                      <a:pPr marL="85090" marR="59118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25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fi-FI" sz="1050" dirty="0">
                          <a:latin typeface="+mn-lt"/>
                          <a:cs typeface="Calibri"/>
                        </a:rPr>
                        <a:t>Hana,</a:t>
                      </a:r>
                      <a:r>
                        <a:rPr lang="fi-FI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fi-FI" sz="1050" dirty="0">
                          <a:latin typeface="+mn-lt"/>
                          <a:cs typeface="Calibri"/>
                        </a:rPr>
                        <a:t>B. F., Amani,</a:t>
                      </a:r>
                      <a:r>
                        <a:rPr lang="fi-FI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fi-FI" sz="1050" spc="-25" dirty="0">
                          <a:latin typeface="+mn-lt"/>
                          <a:cs typeface="Calibri"/>
                        </a:rPr>
                        <a:t>C.,</a:t>
                      </a:r>
                      <a:endParaRPr lang="fi-FI" sz="1050" dirty="0">
                        <a:latin typeface="+mn-lt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i-FI" sz="1050" dirty="0">
                          <a:latin typeface="+mn-lt"/>
                          <a:cs typeface="Calibri"/>
                        </a:rPr>
                        <a:t>Jamel,</a:t>
                      </a:r>
                      <a:r>
                        <a:rPr lang="fi-FI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fi-FI" sz="1050" dirty="0">
                          <a:latin typeface="+mn-lt"/>
                          <a:cs typeface="Calibri"/>
                        </a:rPr>
                        <a:t>B.</a:t>
                      </a:r>
                      <a:r>
                        <a:rPr lang="fi-FI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fi-FI" sz="1050" dirty="0">
                          <a:latin typeface="+mn-lt"/>
                          <a:cs typeface="Calibri"/>
                        </a:rPr>
                        <a:t>H.,</a:t>
                      </a:r>
                      <a:r>
                        <a:rPr lang="fi-FI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fi-FI" sz="1050" dirty="0">
                          <a:latin typeface="+mn-lt"/>
                          <a:cs typeface="Calibri"/>
                        </a:rPr>
                        <a:t>Chokri,</a:t>
                      </a:r>
                      <a:r>
                        <a:rPr lang="fi-FI" sz="1050" spc="-25" dirty="0">
                          <a:latin typeface="+mn-lt"/>
                          <a:cs typeface="Calibri"/>
                        </a:rPr>
                        <a:t> S.</a:t>
                      </a:r>
                      <a:endParaRPr lang="fi-FI" sz="1050" dirty="0">
                        <a:latin typeface="+mn-lt"/>
                        <a:cs typeface="Calibri"/>
                      </a:endParaRPr>
                    </a:p>
                    <a:p>
                      <a:pPr marL="85090" marR="59118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D"/>
                    </a:solidFill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ResearchGate</a:t>
                      </a:r>
                      <a:r>
                        <a:rPr sz="105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Journal</a:t>
                      </a: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7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7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7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7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7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7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7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7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725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6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>
                          <a:latin typeface="+mn-lt"/>
                          <a:cs typeface="Calibri"/>
                        </a:rPr>
                        <a:t>MDPI</a:t>
                      </a:r>
                      <a:r>
                        <a:rPr lang="en-IN" sz="105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IN" sz="1050" dirty="0">
                          <a:latin typeface="+mn-lt"/>
                          <a:cs typeface="Calibri"/>
                        </a:rPr>
                        <a:t>&amp;</a:t>
                      </a:r>
                      <a:r>
                        <a:rPr lang="en-IN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IN" sz="1050" spc="-20" dirty="0">
                          <a:latin typeface="+mn-lt"/>
                          <a:cs typeface="Calibri"/>
                        </a:rPr>
                        <a:t>2023</a:t>
                      </a:r>
                      <a:endParaRPr lang="en-IN" sz="1050" dirty="0">
                        <a:latin typeface="+mn-lt"/>
                        <a:cs typeface="Calibri"/>
                      </a:endParaRPr>
                    </a:p>
                    <a:p>
                      <a:pPr marL="857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4845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fast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detection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module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on a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color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probability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model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 color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HOG.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also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uses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Convolutional</a:t>
                      </a:r>
                      <a:r>
                        <a:rPr sz="105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Neural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Network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(CNN)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classify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detected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signs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into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subclasses.</a:t>
                      </a: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725" marR="4845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725" marR="4845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050" dirty="0">
                          <a:latin typeface="+mn-lt"/>
                          <a:cs typeface="Calibri"/>
                        </a:rPr>
                        <a:t>Combines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lang="en-US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Haar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cascade</a:t>
                      </a:r>
                      <a:endParaRPr lang="en-US" sz="1050" dirty="0">
                        <a:latin typeface="+mn-lt"/>
                        <a:cs typeface="Calibri"/>
                      </a:endParaRPr>
                    </a:p>
                    <a:p>
                      <a:pPr marR="22225" algn="ctr">
                        <a:lnSpc>
                          <a:spcPct val="100000"/>
                        </a:lnSpc>
                      </a:pPr>
                      <a:r>
                        <a:rPr lang="en-US" sz="1050" dirty="0">
                          <a:latin typeface="+mn-lt"/>
                          <a:cs typeface="Calibri"/>
                        </a:rPr>
                        <a:t>technique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with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a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deep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CNN</a:t>
                      </a:r>
                      <a:r>
                        <a:rPr lang="en-US" sz="105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model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classifier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to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recognize</a:t>
                      </a:r>
                      <a:r>
                        <a:rPr lang="en-US" sz="105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43</a:t>
                      </a:r>
                      <a:r>
                        <a:rPr lang="en-US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types</a:t>
                      </a:r>
                      <a:r>
                        <a:rPr lang="en-US" sz="105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of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signs.</a:t>
                      </a:r>
                      <a:endParaRPr lang="en-US" sz="1050" dirty="0">
                        <a:latin typeface="+mn-lt"/>
                        <a:cs typeface="Calibri"/>
                      </a:endParaRPr>
                    </a:p>
                    <a:p>
                      <a:pPr marL="85725" marR="4845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9685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Achieved</a:t>
                      </a:r>
                      <a:r>
                        <a:rPr sz="10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comparable</a:t>
                      </a:r>
                      <a:r>
                        <a:rPr sz="105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state-of-the-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art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methods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significantly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improved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computational</a:t>
                      </a:r>
                      <a:r>
                        <a:rPr sz="105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efficiency.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 detection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module</a:t>
                      </a:r>
                      <a:r>
                        <a:rPr sz="105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times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faster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existing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best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detection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module.</a:t>
                      </a: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725" marR="19685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5725" marR="19685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ts val="1200"/>
                        </a:lnSpc>
                      </a:pPr>
                      <a:endParaRPr lang="en-US" sz="1050" dirty="0">
                        <a:latin typeface="+mn-lt"/>
                        <a:cs typeface="Calibri"/>
                      </a:endParaRPr>
                    </a:p>
                    <a:p>
                      <a:pPr marL="635" algn="ctr">
                        <a:lnSpc>
                          <a:spcPts val="1200"/>
                        </a:lnSpc>
                      </a:pPr>
                      <a:r>
                        <a:rPr lang="en-US" sz="1050" dirty="0">
                          <a:latin typeface="+mn-lt"/>
                          <a:cs typeface="Calibri"/>
                        </a:rPr>
                        <a:t>Achieved</a:t>
                      </a:r>
                      <a:r>
                        <a:rPr lang="en-US" sz="105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high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accuracy</a:t>
                      </a:r>
                      <a:r>
                        <a:rPr lang="en-US" sz="105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(99.91%)</a:t>
                      </a:r>
                      <a:r>
                        <a:rPr lang="en-US" sz="1050" spc="-6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and</a:t>
                      </a:r>
                      <a:endParaRPr lang="en-US" sz="1050" dirty="0">
                        <a:latin typeface="+mn-lt"/>
                        <a:cs typeface="Calibri"/>
                      </a:endParaRPr>
                    </a:p>
                    <a:p>
                      <a:pPr marL="635" marR="165100" algn="ctr">
                        <a:lnSpc>
                          <a:spcPct val="100000"/>
                        </a:lnSpc>
                      </a:pPr>
                      <a:r>
                        <a:rPr lang="en-US" sz="1050" spc="-10" dirty="0">
                          <a:latin typeface="+mn-lt"/>
                          <a:cs typeface="Calibri"/>
                        </a:rPr>
                        <a:t>F1-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measure</a:t>
                      </a:r>
                      <a:r>
                        <a:rPr lang="en-US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rates</a:t>
                      </a:r>
                      <a:r>
                        <a:rPr lang="en-US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(99%).</a:t>
                      </a:r>
                      <a:r>
                        <a:rPr lang="en-US" sz="1050" spc="-5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The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system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was</a:t>
                      </a:r>
                      <a:r>
                        <a:rPr lang="en-US" sz="105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validated</a:t>
                      </a:r>
                      <a:r>
                        <a:rPr lang="en-US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on</a:t>
                      </a:r>
                      <a:r>
                        <a:rPr lang="en-US" sz="1050" spc="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a</a:t>
                      </a:r>
                      <a:r>
                        <a:rPr lang="en-US" sz="105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Raspberry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Pi</a:t>
                      </a:r>
                      <a:r>
                        <a:rPr lang="en-US" sz="1050" spc="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50" dirty="0">
                          <a:latin typeface="+mn-lt"/>
                          <a:cs typeface="Calibri"/>
                        </a:rPr>
                        <a:t>4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 board,</a:t>
                      </a:r>
                      <a:r>
                        <a:rPr lang="en-US" sz="105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demonstrating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its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viability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for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embedded</a:t>
                      </a:r>
                      <a:r>
                        <a:rPr lang="en-US" sz="1050" spc="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systems.</a:t>
                      </a:r>
                      <a:endParaRPr lang="en-US" sz="1050" dirty="0">
                        <a:latin typeface="+mn-lt"/>
                        <a:cs typeface="Calibri"/>
                      </a:endParaRPr>
                    </a:p>
                    <a:p>
                      <a:pPr marL="85725" marR="19685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D"/>
                    </a:solidFill>
                  </a:tcPr>
                </a:tc>
                <a:tc>
                  <a:txBody>
                    <a:bodyPr/>
                    <a:lstStyle/>
                    <a:p>
                      <a:pPr marL="86360" marR="39687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paper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focuses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closed-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10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problem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(known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traffic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signs).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Your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project,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however,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is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addressing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open-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set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problem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handle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unknown</a:t>
                      </a:r>
                      <a:r>
                        <a:rPr sz="105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signs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distractors.</a:t>
                      </a: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6360" marR="39687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86360" marR="39687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1270" algn="ctr">
                        <a:lnSpc>
                          <a:spcPts val="1200"/>
                        </a:lnSpc>
                      </a:pPr>
                      <a:r>
                        <a:rPr lang="en-US" sz="1050" dirty="0">
                          <a:latin typeface="+mn-lt"/>
                          <a:cs typeface="Calibri"/>
                        </a:rPr>
                        <a:t>While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this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paper</a:t>
                      </a:r>
                      <a:r>
                        <a:rPr lang="en-US" sz="105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mentions</a:t>
                      </a:r>
                      <a:r>
                        <a:rPr lang="en-US" sz="105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50" dirty="0">
                          <a:latin typeface="+mn-lt"/>
                          <a:cs typeface="Calibri"/>
                        </a:rPr>
                        <a:t>a</a:t>
                      </a:r>
                      <a:endParaRPr lang="en-US" sz="1050" dirty="0">
                        <a:latin typeface="+mn-lt"/>
                        <a:cs typeface="Calibri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sz="1050" dirty="0">
                          <a:latin typeface="+mn-lt"/>
                          <a:cs typeface="Calibri"/>
                        </a:rPr>
                        <a:t>system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for</a:t>
                      </a:r>
                      <a:r>
                        <a:rPr lang="en-US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smart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vehicles,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it</a:t>
                      </a:r>
                      <a:r>
                        <a:rPr lang="en-US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does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not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specifically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address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the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problem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of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open-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set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rejection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or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the use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of temporal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consensus 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to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handle</a:t>
                      </a:r>
                      <a:r>
                        <a:rPr lang="en-US" sz="105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unknown</a:t>
                      </a:r>
                      <a:r>
                        <a:rPr lang="en-US" sz="105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objects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or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improve</a:t>
                      </a:r>
                      <a:r>
                        <a:rPr lang="en-US" sz="105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stability</a:t>
                      </a:r>
                      <a:r>
                        <a:rPr lang="en-US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in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a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video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stream.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8127"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lang="en-IN" sz="1050" spc="-50" dirty="0">
                          <a:latin typeface="Calibri"/>
                          <a:cs typeface="Calibri"/>
                        </a:rPr>
                        <a:t>.</a:t>
                      </a:r>
                    </a:p>
                    <a:p>
                      <a:pPr marR="2159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IN" sz="1050" spc="-50" dirty="0">
                        <a:latin typeface="Calibri"/>
                        <a:cs typeface="Calibri"/>
                      </a:endParaRPr>
                    </a:p>
                    <a:p>
                      <a:pPr marR="2159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IN" sz="1050" spc="-50" dirty="0">
                        <a:latin typeface="Calibri"/>
                        <a:cs typeface="Calibri"/>
                      </a:endParaRPr>
                    </a:p>
                    <a:p>
                      <a:pPr marR="2159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IN" sz="1050" spc="-50" dirty="0">
                        <a:latin typeface="Calibri"/>
                        <a:cs typeface="Calibri"/>
                      </a:endParaRPr>
                    </a:p>
                    <a:p>
                      <a:pPr marR="2159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IN" sz="1050" spc="-50" dirty="0">
                        <a:latin typeface="Calibri"/>
                        <a:cs typeface="Calibri"/>
                      </a:endParaRPr>
                    </a:p>
                    <a:p>
                      <a:pPr marR="2159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IN" sz="1050" spc="-50" dirty="0">
                        <a:latin typeface="Calibri"/>
                        <a:cs typeface="Calibri"/>
                      </a:endParaRPr>
                    </a:p>
                    <a:p>
                      <a:pPr marR="2159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IN" sz="1050" spc="-50" dirty="0">
                        <a:latin typeface="Calibri"/>
                        <a:cs typeface="Calibri"/>
                      </a:endParaRPr>
                    </a:p>
                    <a:p>
                      <a:pPr marR="2159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lang="en-IN" sz="1050" spc="-50" dirty="0">
                        <a:latin typeface="Calibri"/>
                        <a:cs typeface="Calibri"/>
                      </a:endParaRPr>
                    </a:p>
                    <a:p>
                      <a:pPr marR="2159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lang="en-IN" sz="1050" spc="-50" dirty="0">
                          <a:latin typeface="Calibri"/>
                          <a:cs typeface="Calibri"/>
                        </a:rPr>
                        <a:t>4.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D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44513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Temporal-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Guided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Label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Assignment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Video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Object Detection</a:t>
                      </a: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90805" marR="44513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90805" marR="44513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90805" marR="44513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90805" marR="44513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90805" marR="44513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050" dirty="0">
                          <a:latin typeface="+mn-lt"/>
                          <a:cs typeface="Calibri"/>
                        </a:rPr>
                        <a:t>Video</a:t>
                      </a:r>
                      <a:r>
                        <a:rPr lang="en-US" sz="105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Object</a:t>
                      </a:r>
                      <a:r>
                        <a:rPr lang="en-US" sz="105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Detection</a:t>
                      </a:r>
                      <a:r>
                        <a:rPr lang="en-US" sz="105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via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Object-</a:t>
                      </a:r>
                      <a:endParaRPr lang="en-US" sz="1050" dirty="0">
                        <a:latin typeface="+mn-lt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50" dirty="0">
                          <a:latin typeface="+mn-lt"/>
                          <a:cs typeface="Calibri"/>
                        </a:rPr>
                        <a:t>level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Temporal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Aggregation</a:t>
                      </a:r>
                      <a:endParaRPr lang="en-US" sz="1050" dirty="0">
                        <a:latin typeface="+mn-lt"/>
                        <a:cs typeface="Calibri"/>
                      </a:endParaRPr>
                    </a:p>
                    <a:p>
                      <a:pPr marL="90805" marR="44513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D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8415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Jiahui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Guo,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Guohao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Li,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Shuo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Chen,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Guofa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Li,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Yuxin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Chen</a:t>
                      </a:r>
                      <a:endParaRPr lang="en-IN" sz="1050" spc="-20" dirty="0">
                        <a:latin typeface="Calibri"/>
                        <a:cs typeface="Calibri"/>
                      </a:endParaRPr>
                    </a:p>
                    <a:p>
                      <a:pPr marL="91440" marR="18415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lang="en-IN" sz="1050" spc="-20" dirty="0">
                        <a:latin typeface="Calibri"/>
                        <a:cs typeface="Calibri"/>
                      </a:endParaRPr>
                    </a:p>
                    <a:p>
                      <a:pPr marL="91440" marR="18415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lang="en-IN" sz="1050" spc="-20" dirty="0">
                        <a:latin typeface="Calibri"/>
                        <a:cs typeface="Calibri"/>
                      </a:endParaRPr>
                    </a:p>
                    <a:p>
                      <a:pPr marL="91440" marR="18415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lang="en-IN" sz="1050" spc="-20" dirty="0">
                        <a:latin typeface="Calibri"/>
                        <a:cs typeface="Calibri"/>
                      </a:endParaRPr>
                    </a:p>
                    <a:p>
                      <a:pPr marL="91440" marR="18415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lang="en-IN" sz="1050" spc="-20" dirty="0">
                        <a:latin typeface="Calibri"/>
                        <a:cs typeface="Calibri"/>
                      </a:endParaRPr>
                    </a:p>
                    <a:p>
                      <a:pPr marL="91440" marR="18415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lang="en-IN" sz="1050" spc="-20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IN" sz="1050" dirty="0">
                          <a:latin typeface="+mn-lt"/>
                          <a:cs typeface="Calibri"/>
                        </a:rPr>
                        <a:t>Xingyi</a:t>
                      </a:r>
                      <a:r>
                        <a:rPr lang="en-IN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IN" sz="1050" dirty="0">
                          <a:latin typeface="+mn-lt"/>
                          <a:cs typeface="Calibri"/>
                        </a:rPr>
                        <a:t>Zhou,</a:t>
                      </a:r>
                      <a:r>
                        <a:rPr lang="en-IN" sz="1050" spc="-20" dirty="0">
                          <a:latin typeface="+mn-lt"/>
                          <a:cs typeface="Calibri"/>
                        </a:rPr>
                        <a:t> Deva</a:t>
                      </a:r>
                      <a:endParaRPr lang="en-IN" sz="1050" dirty="0">
                        <a:latin typeface="+mn-lt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050" spc="-10" dirty="0">
                          <a:latin typeface="+mn-lt"/>
                          <a:cs typeface="Calibri"/>
                        </a:rPr>
                        <a:t>Ramanan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00"/>
                        </a:lnSpc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MDPI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2022</a:t>
                      </a:r>
                      <a:endParaRPr lang="en-IN" sz="1050" spc="-20" dirty="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ts val="1200"/>
                        </a:lnSpc>
                      </a:pPr>
                      <a:endParaRPr lang="en-IN" sz="1050" spc="-20" dirty="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ts val="1200"/>
                        </a:lnSpc>
                      </a:pPr>
                      <a:endParaRPr lang="en-IN" sz="1050" spc="-20" dirty="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ts val="1200"/>
                        </a:lnSpc>
                      </a:pPr>
                      <a:endParaRPr lang="en-IN" sz="1050" spc="-20" dirty="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ts val="1200"/>
                        </a:lnSpc>
                      </a:pPr>
                      <a:endParaRPr lang="en-IN" sz="1050" spc="-20" dirty="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ts val="1200"/>
                        </a:lnSpc>
                      </a:pPr>
                      <a:endParaRPr lang="en-IN" sz="1050" spc="-20" dirty="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ts val="1200"/>
                        </a:lnSpc>
                      </a:pPr>
                      <a:endParaRPr lang="en-IN" sz="1050" spc="-20" dirty="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ts val="1200"/>
                        </a:lnSpc>
                      </a:pPr>
                      <a:endParaRPr lang="en-IN" sz="1050" spc="-20" dirty="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ts val="1200"/>
                        </a:lnSpc>
                      </a:pPr>
                      <a:endParaRPr lang="en-IN" sz="1050" spc="-20" dirty="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ts val="1200"/>
                        </a:lnSpc>
                      </a:pPr>
                      <a:endParaRPr lang="en-IN" sz="1050" spc="-20" dirty="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ts val="1200"/>
                        </a:lnSpc>
                      </a:pPr>
                      <a:r>
                        <a:rPr lang="en-IN" sz="1050" dirty="0">
                          <a:latin typeface="+mn-lt"/>
                          <a:cs typeface="Calibri"/>
                        </a:rPr>
                        <a:t>European</a:t>
                      </a:r>
                      <a:r>
                        <a:rPr lang="en-IN" sz="1050" spc="-6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IN" sz="1050" dirty="0">
                          <a:latin typeface="+mn-lt"/>
                          <a:cs typeface="Calibri"/>
                        </a:rPr>
                        <a:t>Computer</a:t>
                      </a:r>
                      <a:r>
                        <a:rPr lang="en-IN" sz="105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IN" sz="1050" spc="-10" dirty="0">
                          <a:latin typeface="+mn-lt"/>
                          <a:cs typeface="Calibri"/>
                        </a:rPr>
                        <a:t>Vision</a:t>
                      </a:r>
                      <a:endParaRPr lang="en-IN" sz="1050" dirty="0">
                        <a:latin typeface="+mn-lt"/>
                        <a:cs typeface="Calibri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en-IN" sz="1050" dirty="0">
                          <a:latin typeface="+mn-lt"/>
                          <a:cs typeface="Calibri"/>
                        </a:rPr>
                        <a:t>Association</a:t>
                      </a:r>
                      <a:r>
                        <a:rPr lang="en-IN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IN" sz="1050" dirty="0">
                          <a:latin typeface="+mn-lt"/>
                          <a:cs typeface="Calibri"/>
                        </a:rPr>
                        <a:t>&amp;</a:t>
                      </a:r>
                      <a:r>
                        <a:rPr lang="en-IN" sz="105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IN" sz="1050" spc="-20" dirty="0">
                          <a:latin typeface="+mn-lt"/>
                          <a:cs typeface="Calibri"/>
                        </a:rPr>
                        <a:t>2020</a:t>
                      </a:r>
                      <a:endParaRPr lang="en-IN" sz="1050" dirty="0">
                        <a:latin typeface="+mn-lt"/>
                        <a:cs typeface="Calibri"/>
                      </a:endParaRPr>
                    </a:p>
                    <a:p>
                      <a:pPr marL="635" algn="ctr">
                        <a:lnSpc>
                          <a:spcPts val="1200"/>
                        </a:lnSpc>
                      </a:pP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Proposed</a:t>
                      </a:r>
                      <a:r>
                        <a:rPr sz="10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temporal-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guided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label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  <a:p>
                      <a:pPr marR="31750" algn="ctr">
                        <a:lnSpc>
                          <a:spcPct val="100000"/>
                        </a:lnSpc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assignment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framework</a:t>
                      </a:r>
                      <a:r>
                        <a:rPr sz="105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 Region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Proposal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Network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(RPN).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It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uses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instructing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module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establish</a:t>
                      </a:r>
                      <a:r>
                        <a:rPr sz="10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relationships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among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labels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over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time.</a:t>
                      </a: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R="31750" algn="ctr">
                        <a:lnSpc>
                          <a:spcPct val="100000"/>
                        </a:lnSpc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R="31750" algn="ctr">
                        <a:lnSpc>
                          <a:spcPct val="100000"/>
                        </a:lnSpc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R="31750" algn="ctr">
                        <a:lnSpc>
                          <a:spcPct val="100000"/>
                        </a:lnSpc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sz="1050" dirty="0">
                          <a:latin typeface="+mn-lt"/>
                          <a:cs typeface="Calibri"/>
                        </a:rPr>
                        <a:t>Proposes</a:t>
                      </a:r>
                      <a:r>
                        <a:rPr lang="en-US" sz="105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temporal</a:t>
                      </a:r>
                      <a:r>
                        <a:rPr lang="en-US" sz="105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aggregation</a:t>
                      </a:r>
                      <a:endParaRPr lang="en-US" sz="1050" dirty="0">
                        <a:latin typeface="+mn-lt"/>
                        <a:cs typeface="Calibri"/>
                      </a:endParaRPr>
                    </a:p>
                    <a:p>
                      <a:pPr marR="200025" algn="ctr">
                        <a:lnSpc>
                          <a:spcPct val="100000"/>
                        </a:lnSpc>
                      </a:pPr>
                      <a:r>
                        <a:rPr lang="en-US" sz="1050" dirty="0">
                          <a:latin typeface="+mn-lt"/>
                          <a:cs typeface="Calibri"/>
                        </a:rPr>
                        <a:t>modules</a:t>
                      </a:r>
                      <a:r>
                        <a:rPr lang="en-US" sz="105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that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integrate</a:t>
                      </a:r>
                      <a:r>
                        <a:rPr lang="en-US" sz="105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object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detection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and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tracking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at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the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object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or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bounding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box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level.</a:t>
                      </a:r>
                      <a:r>
                        <a:rPr lang="en-US" sz="105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It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applies</a:t>
                      </a:r>
                      <a:r>
                        <a:rPr lang="en-US" sz="105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detection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on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 sparse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keyframes</a:t>
                      </a:r>
                      <a:r>
                        <a:rPr lang="en-US" sz="105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and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uses</a:t>
                      </a:r>
                      <a:r>
                        <a:rPr lang="en-US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real-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time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trackers</a:t>
                      </a:r>
                      <a:r>
                        <a:rPr lang="en-US" sz="105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to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propagate</a:t>
                      </a:r>
                      <a:r>
                        <a:rPr lang="en-US" sz="105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object status.</a:t>
                      </a:r>
                      <a:endParaRPr lang="en-US" sz="1050" dirty="0">
                        <a:latin typeface="+mn-lt"/>
                        <a:cs typeface="Calibri"/>
                      </a:endParaRPr>
                    </a:p>
                    <a:p>
                      <a:pPr marR="31750" algn="ctr">
                        <a:lnSpc>
                          <a:spcPct val="100000"/>
                        </a:lnSpc>
                      </a:pP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00"/>
                        </a:lnSpc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method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improves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video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object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  <a:p>
                      <a:pPr marL="635" marR="149860" algn="ctr">
                        <a:lnSpc>
                          <a:spcPct val="100000"/>
                        </a:lnSpc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detection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stabilizing</a:t>
                      </a:r>
                      <a:r>
                        <a:rPr sz="105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learning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correcting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erroneous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labels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temporal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information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other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frames.</a:t>
                      </a: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635" marR="149860" algn="ctr">
                        <a:lnSpc>
                          <a:spcPct val="100000"/>
                        </a:lnSpc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635" marR="149860" algn="ctr">
                        <a:lnSpc>
                          <a:spcPct val="100000"/>
                        </a:lnSpc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635" marR="149860" algn="ctr">
                        <a:lnSpc>
                          <a:spcPct val="100000"/>
                        </a:lnSpc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ts val="1200"/>
                        </a:lnSpc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ts val="1200"/>
                        </a:lnSpc>
                      </a:pPr>
                      <a:r>
                        <a:rPr lang="en-US" sz="1050" dirty="0">
                          <a:latin typeface="+mn-lt"/>
                          <a:cs typeface="Calibri"/>
                        </a:rPr>
                        <a:t>Achieved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a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competitive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speed-accuracy</a:t>
                      </a:r>
                      <a:endParaRPr lang="en-US" sz="1050" dirty="0">
                        <a:latin typeface="+mn-lt"/>
                        <a:cs typeface="Calibri"/>
                      </a:endParaRPr>
                    </a:p>
                    <a:p>
                      <a:pPr marL="635" marR="388620" algn="ctr">
                        <a:lnSpc>
                          <a:spcPct val="100000"/>
                        </a:lnSpc>
                      </a:pPr>
                      <a:r>
                        <a:rPr lang="en-US" sz="1050" spc="-10" dirty="0">
                          <a:latin typeface="+mn-lt"/>
                          <a:cs typeface="Calibri"/>
                        </a:rPr>
                        <a:t>trade-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off</a:t>
                      </a:r>
                      <a:r>
                        <a:rPr lang="en-US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by</a:t>
                      </a:r>
                      <a:r>
                        <a:rPr lang="en-US" sz="1050" spc="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reducing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 redundant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computation</a:t>
                      </a:r>
                      <a:r>
                        <a:rPr lang="en-US" sz="105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while</a:t>
                      </a:r>
                      <a:r>
                        <a:rPr lang="en-US" sz="105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maintaining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temporal</a:t>
                      </a:r>
                      <a:r>
                        <a:rPr lang="en-US" sz="105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consistency.</a:t>
                      </a:r>
                      <a:endParaRPr lang="en-US" sz="1050" dirty="0">
                        <a:latin typeface="+mn-lt"/>
                        <a:cs typeface="Calibri"/>
                      </a:endParaRPr>
                    </a:p>
                    <a:p>
                      <a:pPr marL="635" marR="149860" algn="ctr">
                        <a:lnSpc>
                          <a:spcPct val="100000"/>
                        </a:lnSpc>
                      </a:pP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D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00"/>
                        </a:lnSpc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paper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focuses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general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  <a:p>
                      <a:pPr marL="1270" marR="75565" algn="ctr">
                        <a:lnSpc>
                          <a:spcPct val="100000"/>
                        </a:lnSpc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video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object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detection.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Your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adapts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concept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specifically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traffic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sign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recognition,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where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signs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latin typeface="Calibri"/>
                          <a:cs typeface="Calibri"/>
                        </a:rPr>
                        <a:t>tiny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0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appearance</a:t>
                      </a:r>
                      <a:r>
                        <a:rPr sz="10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be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challenging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due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occlusions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050" dirty="0">
                          <a:latin typeface="Calibri"/>
                          <a:cs typeface="Calibri"/>
                        </a:rPr>
                        <a:t>motion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blur.</a:t>
                      </a: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1270" marR="75565" algn="ctr">
                        <a:lnSpc>
                          <a:spcPct val="100000"/>
                        </a:lnSpc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1270" marR="75565" algn="ctr">
                        <a:lnSpc>
                          <a:spcPct val="100000"/>
                        </a:lnSpc>
                      </a:pPr>
                      <a:endParaRPr lang="en-IN" sz="1050" spc="-10" dirty="0">
                        <a:latin typeface="Calibri"/>
                        <a:cs typeface="Calibri"/>
                      </a:endParaRPr>
                    </a:p>
                    <a:p>
                      <a:pPr marL="1270" algn="ctr">
                        <a:lnSpc>
                          <a:spcPts val="1200"/>
                        </a:lnSpc>
                      </a:pPr>
                      <a:r>
                        <a:rPr lang="en-US" sz="1050" dirty="0">
                          <a:latin typeface="+mn-lt"/>
                          <a:cs typeface="Calibri"/>
                        </a:rPr>
                        <a:t>This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is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a</a:t>
                      </a:r>
                      <a:r>
                        <a:rPr lang="en-US" sz="105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foundational</a:t>
                      </a:r>
                      <a:r>
                        <a:rPr lang="en-US" sz="105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approach</a:t>
                      </a:r>
                      <a:r>
                        <a:rPr lang="en-US" sz="105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to</a:t>
                      </a:r>
                      <a:endParaRPr lang="en-US" sz="1050" dirty="0">
                        <a:latin typeface="+mn-lt"/>
                        <a:cs typeface="Calibri"/>
                      </a:endParaRPr>
                    </a:p>
                    <a:p>
                      <a:pPr marL="1270" marR="26034" algn="ctr">
                        <a:lnSpc>
                          <a:spcPct val="100000"/>
                        </a:lnSpc>
                      </a:pPr>
                      <a:r>
                        <a:rPr lang="en-US" sz="1050" dirty="0">
                          <a:latin typeface="+mn-lt"/>
                          <a:cs typeface="Calibri"/>
                        </a:rPr>
                        <a:t>using</a:t>
                      </a:r>
                      <a:r>
                        <a:rPr lang="en-US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tracking</a:t>
                      </a:r>
                      <a:r>
                        <a:rPr lang="en-US" sz="105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for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temporal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aggregation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in</a:t>
                      </a:r>
                      <a:r>
                        <a:rPr lang="en-US" sz="1050" spc="-3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video</a:t>
                      </a:r>
                      <a:r>
                        <a:rPr lang="en-US" sz="105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object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detection.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Your</a:t>
                      </a:r>
                      <a:r>
                        <a:rPr lang="en-US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project</a:t>
                      </a:r>
                      <a:r>
                        <a:rPr lang="en-US" sz="105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will</a:t>
                      </a:r>
                      <a:r>
                        <a:rPr lang="en-US" sz="1050" spc="-3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apply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this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concept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specifically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to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traffic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signs,</a:t>
                      </a:r>
                      <a:r>
                        <a:rPr lang="en-US" sz="105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which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have</a:t>
                      </a:r>
                      <a:r>
                        <a:rPr lang="en-US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a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unique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set</a:t>
                      </a:r>
                      <a:r>
                        <a:rPr lang="en-US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of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challenges,</a:t>
                      </a:r>
                      <a:r>
                        <a:rPr lang="en-US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and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will</a:t>
                      </a:r>
                      <a:r>
                        <a:rPr lang="en-US" sz="1050" spc="-4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combine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it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with</a:t>
                      </a:r>
                      <a:r>
                        <a:rPr lang="en-US" sz="105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an</a:t>
                      </a:r>
                      <a:r>
                        <a:rPr lang="en-US" sz="105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open-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set</a:t>
                      </a:r>
                      <a:r>
                        <a:rPr lang="en-US" sz="1050" spc="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rejection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component,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which</a:t>
                      </a:r>
                      <a:r>
                        <a:rPr lang="en-US" sz="1050" spc="-2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is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not</a:t>
                      </a:r>
                      <a:r>
                        <a:rPr lang="en-US" sz="105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the</a:t>
                      </a:r>
                      <a:r>
                        <a:rPr lang="en-US" sz="1050" spc="-2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focus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of</a:t>
                      </a:r>
                      <a:r>
                        <a:rPr lang="en-US" sz="105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50" dirty="0">
                          <a:latin typeface="+mn-lt"/>
                          <a:cs typeface="Calibri"/>
                        </a:rPr>
                        <a:t>this</a:t>
                      </a:r>
                      <a:r>
                        <a:rPr lang="en-US" sz="1050" spc="-10" dirty="0">
                          <a:latin typeface="+mn-lt"/>
                          <a:cs typeface="Calibri"/>
                        </a:rPr>
                        <a:t> paper.</a:t>
                      </a:r>
                      <a:endParaRPr lang="en-US" sz="1050" dirty="0">
                        <a:latin typeface="+mn-lt"/>
                        <a:cs typeface="Calibri"/>
                      </a:endParaRPr>
                    </a:p>
                    <a:p>
                      <a:pPr marL="1270" marR="75565" algn="ctr">
                        <a:lnSpc>
                          <a:spcPct val="100000"/>
                        </a:lnSpc>
                      </a:pP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"/>
            <a:ext cx="12192000" cy="1027430"/>
            <a:chOff x="0" y="38"/>
            <a:chExt cx="12192000" cy="1027430"/>
          </a:xfrm>
        </p:grpSpPr>
        <p:sp>
          <p:nvSpPr>
            <p:cNvPr id="3" name="object 3"/>
            <p:cNvSpPr/>
            <p:nvPr/>
          </p:nvSpPr>
          <p:spPr>
            <a:xfrm>
              <a:off x="0" y="38"/>
              <a:ext cx="12192000" cy="233045"/>
            </a:xfrm>
            <a:custGeom>
              <a:avLst/>
              <a:gdLst/>
              <a:ahLst/>
              <a:cxnLst/>
              <a:rect l="l" t="t" r="r" b="b"/>
              <a:pathLst>
                <a:path w="12192000" h="233045">
                  <a:moveTo>
                    <a:pt x="12192000" y="0"/>
                  </a:moveTo>
                  <a:lnTo>
                    <a:pt x="0" y="0"/>
                  </a:lnTo>
                  <a:lnTo>
                    <a:pt x="0" y="232752"/>
                  </a:lnTo>
                  <a:lnTo>
                    <a:pt x="12192000" y="23275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" y="247878"/>
              <a:ext cx="12191999" cy="77943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5220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2000" y="0"/>
                  </a:moveTo>
                  <a:lnTo>
                    <a:pt x="0" y="0"/>
                  </a:lnTo>
                  <a:lnTo>
                    <a:pt x="0" y="714895"/>
                  </a:lnTo>
                  <a:lnTo>
                    <a:pt x="12192000" y="71489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20" dirty="0"/>
              <a:t> </a:t>
            </a:r>
            <a:r>
              <a:rPr spc="-10" dirty="0"/>
              <a:t>System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1223" y="6619263"/>
            <a:ext cx="52768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03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122680" y="6619263"/>
            <a:ext cx="512572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cap="small" spc="-70" dirty="0"/>
              <a:t>Dept.</a:t>
            </a:r>
            <a:r>
              <a:rPr cap="small" spc="-80" dirty="0"/>
              <a:t> </a:t>
            </a:r>
            <a:r>
              <a:rPr cap="small" spc="-30" dirty="0"/>
              <a:t>of</a:t>
            </a:r>
            <a:r>
              <a:rPr cap="small" spc="-10" dirty="0"/>
              <a:t> </a:t>
            </a:r>
            <a:r>
              <a:rPr cap="small" spc="-100" dirty="0"/>
              <a:t>Computer</a:t>
            </a:r>
            <a:r>
              <a:rPr cap="small" spc="45" dirty="0"/>
              <a:t> </a:t>
            </a:r>
            <a:r>
              <a:rPr cap="small" spc="-85" dirty="0"/>
              <a:t>Science</a:t>
            </a:r>
            <a:r>
              <a:rPr cap="small" spc="20" dirty="0"/>
              <a:t> </a:t>
            </a:r>
            <a:r>
              <a:rPr cap="small" spc="-95" dirty="0"/>
              <a:t>and</a:t>
            </a:r>
            <a:r>
              <a:rPr cap="small" spc="20" dirty="0"/>
              <a:t> </a:t>
            </a:r>
            <a:r>
              <a:rPr cap="small" spc="-100" dirty="0"/>
              <a:t>Engineering</a:t>
            </a:r>
            <a:r>
              <a:rPr cap="small" spc="-25" dirty="0"/>
              <a:t> </a:t>
            </a:r>
            <a:r>
              <a:rPr cap="small" spc="-50" dirty="0"/>
              <a:t>(Data</a:t>
            </a:r>
            <a:r>
              <a:rPr cap="small" spc="75" dirty="0"/>
              <a:t> </a:t>
            </a:r>
            <a:r>
              <a:rPr cap="small" spc="-95" dirty="0"/>
              <a:t>Science)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7147940" y="6616521"/>
            <a:ext cx="41296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cap="small" spc="-95" dirty="0"/>
              <a:t>Srinivasa</a:t>
            </a:r>
            <a:r>
              <a:rPr cap="small" spc="35" dirty="0"/>
              <a:t> </a:t>
            </a:r>
            <a:r>
              <a:rPr cap="small" spc="-110" dirty="0"/>
              <a:t>Ramanujan</a:t>
            </a:r>
            <a:r>
              <a:rPr cap="small" spc="40" dirty="0"/>
              <a:t> </a:t>
            </a:r>
            <a:r>
              <a:rPr cap="small" spc="-100" dirty="0"/>
              <a:t>Institute</a:t>
            </a:r>
            <a:r>
              <a:rPr cap="small" spc="50" dirty="0"/>
              <a:t> </a:t>
            </a:r>
            <a:r>
              <a:rPr cap="small" dirty="0"/>
              <a:t>of</a:t>
            </a:r>
            <a:r>
              <a:rPr cap="small" spc="70" dirty="0"/>
              <a:t> </a:t>
            </a:r>
            <a:r>
              <a:rPr cap="small" spc="-145" dirty="0"/>
              <a:t>Technology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533399" y="1371600"/>
            <a:ext cx="11201401" cy="46621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44805" algn="l"/>
              </a:tabLst>
            </a:pPr>
            <a:r>
              <a:rPr lang="en-US" sz="1600" b="1" dirty="0">
                <a:latin typeface="Calibri"/>
                <a:cs typeface="Calibri"/>
              </a:rPr>
              <a:t>System Overview </a:t>
            </a:r>
          </a:p>
          <a:p>
            <a:pPr marL="12700" lvl="1">
              <a:spcBef>
                <a:spcPts val="95"/>
              </a:spcBef>
              <a:tabLst>
                <a:tab pos="344805" algn="l"/>
              </a:tabLst>
            </a:pPr>
            <a:r>
              <a:rPr lang="en-US" sz="1600" dirty="0">
                <a:latin typeface="Calibri"/>
                <a:cs typeface="Calibri"/>
              </a:rPr>
              <a:t>	Processes video to detect and understand traffic signs in real time.  </a:t>
            </a:r>
          </a:p>
          <a:p>
            <a:pPr marL="12700" lvl="1">
              <a:spcBef>
                <a:spcPts val="95"/>
              </a:spcBef>
              <a:tabLst>
                <a:tab pos="344805" algn="l"/>
              </a:tabLst>
            </a:pPr>
            <a:r>
              <a:rPr lang="en-US" sz="1600" dirty="0">
                <a:latin typeface="Calibri"/>
                <a:cs typeface="Calibri"/>
              </a:rPr>
              <a:t>	Uses a fast detector to spot possible signs and a detailed classifier to identify their meaning.  </a:t>
            </a:r>
          </a:p>
          <a:p>
            <a:pPr marL="12700" lvl="1">
              <a:spcBef>
                <a:spcPts val="95"/>
              </a:spcBef>
              <a:tabLst>
                <a:tab pos="344805" algn="l"/>
              </a:tabLst>
            </a:pPr>
            <a:r>
              <a:rPr lang="en-US" sz="1600" dirty="0">
                <a:latin typeface="Calibri"/>
                <a:cs typeface="Calibri"/>
              </a:rPr>
              <a:t>	Includes features to reject fake signs and track signs across frames for reliability.  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4805" algn="l"/>
              </a:tabLst>
            </a:pPr>
            <a:endParaRPr lang="en-US" sz="1600" b="1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44805" algn="l"/>
              </a:tabLst>
            </a:pPr>
            <a:r>
              <a:rPr lang="en-US" sz="1600" b="1" dirty="0">
                <a:latin typeface="Calibri"/>
                <a:cs typeface="Calibri"/>
              </a:rPr>
              <a:t>Fast Detection</a:t>
            </a:r>
          </a:p>
          <a:p>
            <a:pPr marL="12700" lvl="2">
              <a:spcBef>
                <a:spcPts val="95"/>
              </a:spcBef>
              <a:tabLst>
                <a:tab pos="344805" algn="l"/>
              </a:tabLst>
            </a:pPr>
            <a:r>
              <a:rPr lang="en-US" sz="1600" dirty="0">
                <a:latin typeface="Calibri"/>
                <a:cs typeface="Calibri"/>
              </a:rPr>
              <a:t>	Based on a single-stage detector (AI model) that works in one quick step.  </a:t>
            </a:r>
          </a:p>
          <a:p>
            <a:pPr marL="12700" lvl="2">
              <a:spcBef>
                <a:spcPts val="95"/>
              </a:spcBef>
              <a:tabLst>
                <a:tab pos="344805" algn="l"/>
              </a:tabLst>
            </a:pPr>
            <a:r>
              <a:rPr lang="en-US" sz="1600" dirty="0">
                <a:latin typeface="Calibri"/>
                <a:cs typeface="Calibri"/>
              </a:rPr>
              <a:t>	Ensures real-time response (important for cars).  </a:t>
            </a:r>
          </a:p>
          <a:p>
            <a:pPr marL="12700" lvl="2">
              <a:spcBef>
                <a:spcPts val="95"/>
              </a:spcBef>
              <a:tabLst>
                <a:tab pos="344805" algn="l"/>
              </a:tabLst>
            </a:pPr>
            <a:r>
              <a:rPr lang="en-US" sz="1600" dirty="0">
                <a:latin typeface="Calibri"/>
                <a:cs typeface="Calibri"/>
              </a:rPr>
              <a:t>	Handles small traffic signs efficiently.  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4805" algn="l"/>
              </a:tabLst>
            </a:pPr>
            <a:endParaRPr lang="en-US" sz="1600" b="1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44805" algn="l"/>
              </a:tabLst>
            </a:pPr>
            <a:r>
              <a:rPr lang="en-US" sz="1600" b="1" dirty="0">
                <a:latin typeface="Calibri"/>
                <a:cs typeface="Calibri"/>
              </a:rPr>
              <a:t>Smart Classification &amp; Filtering</a:t>
            </a:r>
          </a:p>
          <a:p>
            <a:pPr marL="12700" lvl="2">
              <a:spcBef>
                <a:spcPts val="95"/>
              </a:spcBef>
              <a:tabLst>
                <a:tab pos="344805" algn="l"/>
              </a:tabLst>
            </a:pPr>
            <a:r>
              <a:rPr lang="en-US" sz="1600" dirty="0">
                <a:latin typeface="Calibri"/>
                <a:cs typeface="Calibri"/>
              </a:rPr>
              <a:t>	A fine-grained classifier distinguishes between similar-looking signs.  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4805" algn="l"/>
              </a:tabLst>
            </a:pPr>
            <a:r>
              <a:rPr lang="en-US" sz="1600" dirty="0">
                <a:latin typeface="Calibri"/>
                <a:cs typeface="Calibri"/>
              </a:rPr>
              <a:t>	A shape-and-color filter (e.g., circles, triangles, red, blue) rejects objects that aren’t real traffic signs.  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4805" algn="l"/>
              </a:tabLst>
            </a:pPr>
            <a:endParaRPr lang="en-US" sz="1600" b="1" dirty="0">
              <a:latin typeface="Calibri"/>
              <a:cs typeface="Calibri"/>
            </a:endParaRPr>
          </a:p>
          <a:p>
            <a:pPr marL="298450" lvl="1" indent="-285750"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44805" algn="l"/>
              </a:tabLst>
            </a:pPr>
            <a:r>
              <a:rPr lang="en-US" sz="1600" b="1" dirty="0">
                <a:latin typeface="Calibri"/>
                <a:cs typeface="Calibri"/>
              </a:rPr>
              <a:t>Stability &amp; Goals </a:t>
            </a:r>
          </a:p>
          <a:p>
            <a:pPr marL="12700" lvl="3">
              <a:spcBef>
                <a:spcPts val="95"/>
              </a:spcBef>
              <a:tabLst>
                <a:tab pos="344805" algn="l"/>
              </a:tabLst>
            </a:pPr>
            <a:r>
              <a:rPr lang="en-US" sz="1600" dirty="0">
                <a:latin typeface="Calibri"/>
                <a:cs typeface="Calibri"/>
              </a:rPr>
              <a:t>	Temporal tracking across frames improves stability by handling motion blur and temporary obstructions.  </a:t>
            </a:r>
          </a:p>
          <a:p>
            <a:pPr marL="12700" lvl="3">
              <a:spcBef>
                <a:spcPts val="95"/>
              </a:spcBef>
              <a:tabLst>
                <a:tab pos="344805" algn="l"/>
              </a:tabLst>
            </a:pPr>
            <a:r>
              <a:rPr lang="en-US" sz="1600" dirty="0">
                <a:latin typeface="Calibri"/>
                <a:cs typeface="Calibri"/>
              </a:rPr>
              <a:t>	Target performance: 50 </a:t>
            </a:r>
            <a:r>
              <a:rPr lang="en-US" sz="1600" dirty="0" err="1">
                <a:latin typeface="Calibri"/>
                <a:cs typeface="Calibri"/>
              </a:rPr>
              <a:t>ms</a:t>
            </a:r>
            <a:r>
              <a:rPr lang="en-US" sz="1600" dirty="0">
                <a:latin typeface="Calibri"/>
                <a:cs typeface="Calibri"/>
              </a:rPr>
              <a:t> per frame for real-time use in cars.  </a:t>
            </a:r>
          </a:p>
          <a:p>
            <a:pPr marL="12700" lvl="3">
              <a:spcBef>
                <a:spcPts val="95"/>
              </a:spcBef>
              <a:tabLst>
                <a:tab pos="344805" algn="l"/>
              </a:tabLst>
            </a:pPr>
            <a:r>
              <a:rPr lang="en-US" sz="1600" dirty="0">
                <a:latin typeface="Calibri"/>
                <a:cs typeface="Calibri"/>
              </a:rPr>
              <a:t>	Success measured by accuracy in detection, classification, and rejection of fake signs.  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14345" y="-17018"/>
            <a:ext cx="689673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Real-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500" b="1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1500" b="1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Sign</a:t>
            </a:r>
            <a:r>
              <a:rPr sz="1500" b="1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Recognition</a:t>
            </a:r>
            <a:r>
              <a:rPr sz="1500" b="1" i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5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Open-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1500" b="1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Rejection</a:t>
            </a:r>
            <a:r>
              <a:rPr sz="1500" b="1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500" b="1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Temporal</a:t>
            </a:r>
            <a:r>
              <a:rPr sz="1500" b="1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Consensus.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" y="38"/>
            <a:ext cx="12192000" cy="1020444"/>
            <a:chOff x="-1" y="38"/>
            <a:chExt cx="12192000" cy="1020444"/>
          </a:xfrm>
        </p:grpSpPr>
        <p:sp>
          <p:nvSpPr>
            <p:cNvPr id="3" name="object 3"/>
            <p:cNvSpPr/>
            <p:nvPr/>
          </p:nvSpPr>
          <p:spPr>
            <a:xfrm>
              <a:off x="0" y="38"/>
              <a:ext cx="12192000" cy="233045"/>
            </a:xfrm>
            <a:custGeom>
              <a:avLst/>
              <a:gdLst/>
              <a:ahLst/>
              <a:cxnLst/>
              <a:rect l="l" t="t" r="r" b="b"/>
              <a:pathLst>
                <a:path w="12192000" h="233045">
                  <a:moveTo>
                    <a:pt x="12192000" y="0"/>
                  </a:moveTo>
                  <a:lnTo>
                    <a:pt x="0" y="0"/>
                  </a:lnTo>
                  <a:lnTo>
                    <a:pt x="0" y="232752"/>
                  </a:lnTo>
                  <a:lnTo>
                    <a:pt x="12192000" y="23275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68"/>
              <a:ext cx="12191999" cy="80379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1" y="232778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2000" y="0"/>
                  </a:moveTo>
                  <a:lnTo>
                    <a:pt x="0" y="0"/>
                  </a:lnTo>
                  <a:lnTo>
                    <a:pt x="0" y="714895"/>
                  </a:lnTo>
                  <a:lnTo>
                    <a:pt x="12192000" y="71489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1223" y="6619263"/>
            <a:ext cx="52768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03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122680" y="6619263"/>
            <a:ext cx="5125720" cy="238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cap="small" spc="-70" dirty="0"/>
              <a:t>Dept.</a:t>
            </a:r>
            <a:r>
              <a:rPr cap="small" spc="-80" dirty="0"/>
              <a:t> </a:t>
            </a:r>
            <a:r>
              <a:rPr cap="small" spc="-30" dirty="0"/>
              <a:t>of</a:t>
            </a:r>
            <a:r>
              <a:rPr cap="small" spc="-10" dirty="0"/>
              <a:t> </a:t>
            </a:r>
            <a:r>
              <a:rPr cap="small" spc="-100" dirty="0"/>
              <a:t>Computer</a:t>
            </a:r>
            <a:r>
              <a:rPr cap="small" spc="45" dirty="0"/>
              <a:t> </a:t>
            </a:r>
            <a:r>
              <a:rPr cap="small" spc="-85" dirty="0"/>
              <a:t>Science</a:t>
            </a:r>
            <a:r>
              <a:rPr cap="small" spc="20" dirty="0"/>
              <a:t> </a:t>
            </a:r>
            <a:r>
              <a:rPr cap="small" spc="-95" dirty="0"/>
              <a:t>and</a:t>
            </a:r>
            <a:r>
              <a:rPr cap="small" spc="20" dirty="0"/>
              <a:t> </a:t>
            </a:r>
            <a:r>
              <a:rPr cap="small" spc="-100" dirty="0"/>
              <a:t>Engineering</a:t>
            </a:r>
            <a:r>
              <a:rPr cap="small" spc="-25" dirty="0"/>
              <a:t> </a:t>
            </a:r>
            <a:r>
              <a:rPr cap="small" spc="-50" dirty="0"/>
              <a:t>(Data</a:t>
            </a:r>
            <a:r>
              <a:rPr cap="small" spc="75" dirty="0"/>
              <a:t> </a:t>
            </a:r>
            <a:r>
              <a:rPr cap="small" spc="-95" dirty="0"/>
              <a:t>Science)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7162800" y="6616520"/>
            <a:ext cx="4053459" cy="238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cap="small" spc="-95" dirty="0"/>
              <a:t>Srinivasa</a:t>
            </a:r>
            <a:r>
              <a:rPr cap="small" spc="35" dirty="0"/>
              <a:t> </a:t>
            </a:r>
            <a:r>
              <a:rPr cap="small" spc="-110" dirty="0"/>
              <a:t>Ramanujan</a:t>
            </a:r>
            <a:r>
              <a:rPr cap="small" spc="40" dirty="0"/>
              <a:t> </a:t>
            </a:r>
            <a:r>
              <a:rPr cap="small" spc="-100" dirty="0"/>
              <a:t>Institute</a:t>
            </a:r>
            <a:r>
              <a:rPr cap="small" spc="50" dirty="0"/>
              <a:t> </a:t>
            </a:r>
            <a:r>
              <a:rPr cap="small" dirty="0"/>
              <a:t>of</a:t>
            </a:r>
            <a:r>
              <a:rPr cap="small" spc="70" dirty="0"/>
              <a:t> </a:t>
            </a:r>
            <a:r>
              <a:rPr cap="small" spc="-145" dirty="0"/>
              <a:t>Technology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72440">
              <a:lnSpc>
                <a:spcPct val="100000"/>
              </a:lnSpc>
              <a:spcBef>
                <a:spcPts val="95"/>
              </a:spcBef>
            </a:pPr>
            <a:r>
              <a:rPr dirty="0"/>
              <a:t>[1].</a:t>
            </a:r>
            <a:r>
              <a:rPr spc="-15" dirty="0"/>
              <a:t> </a:t>
            </a:r>
            <a:r>
              <a:rPr dirty="0"/>
              <a:t>Yi</a:t>
            </a:r>
            <a:r>
              <a:rPr spc="-45" dirty="0"/>
              <a:t> </a:t>
            </a:r>
            <a:r>
              <a:rPr dirty="0"/>
              <a:t>Yang,</a:t>
            </a:r>
            <a:r>
              <a:rPr spc="-40" dirty="0"/>
              <a:t> </a:t>
            </a:r>
            <a:r>
              <a:rPr dirty="0"/>
              <a:t>Hengliang</a:t>
            </a:r>
            <a:r>
              <a:rPr spc="-50" dirty="0"/>
              <a:t> </a:t>
            </a:r>
            <a:r>
              <a:rPr dirty="0"/>
              <a:t>Luo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Fuchao</a:t>
            </a:r>
            <a:r>
              <a:rPr spc="-25" dirty="0"/>
              <a:t> </a:t>
            </a:r>
            <a:r>
              <a:rPr dirty="0"/>
              <a:t>Wu,</a:t>
            </a:r>
            <a:r>
              <a:rPr spc="-35" dirty="0"/>
              <a:t> </a:t>
            </a:r>
            <a:r>
              <a:rPr dirty="0"/>
              <a:t>"Towards</a:t>
            </a:r>
            <a:r>
              <a:rPr spc="-40" dirty="0"/>
              <a:t> </a:t>
            </a:r>
            <a:r>
              <a:rPr spc="-20" dirty="0"/>
              <a:t>Real-</a:t>
            </a:r>
            <a:r>
              <a:rPr dirty="0"/>
              <a:t>Time</a:t>
            </a:r>
            <a:r>
              <a:rPr spc="-50" dirty="0"/>
              <a:t> </a:t>
            </a:r>
            <a:r>
              <a:rPr dirty="0"/>
              <a:t>Traffic</a:t>
            </a:r>
            <a:r>
              <a:rPr spc="-50" dirty="0"/>
              <a:t> </a:t>
            </a:r>
            <a:r>
              <a:rPr spc="-20" dirty="0"/>
              <a:t>Sign </a:t>
            </a:r>
            <a:r>
              <a:rPr dirty="0"/>
              <a:t>Detection</a:t>
            </a:r>
            <a:r>
              <a:rPr spc="-125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dirty="0"/>
              <a:t>Classification,"</a:t>
            </a:r>
            <a:r>
              <a:rPr spc="-105" dirty="0"/>
              <a:t> </a:t>
            </a:r>
            <a:r>
              <a:rPr dirty="0"/>
              <a:t>ResearchGate</a:t>
            </a:r>
            <a:r>
              <a:rPr spc="-125" dirty="0"/>
              <a:t> </a:t>
            </a:r>
            <a:r>
              <a:rPr spc="-10" dirty="0"/>
              <a:t>Journal.</a:t>
            </a:r>
          </a:p>
          <a:p>
            <a:pPr marL="12700" marR="5080">
              <a:lnSpc>
                <a:spcPct val="100000"/>
              </a:lnSpc>
            </a:pPr>
            <a:r>
              <a:rPr dirty="0"/>
              <a:t>[2]. Hana,</a:t>
            </a:r>
            <a:r>
              <a:rPr spc="-25" dirty="0"/>
              <a:t> </a:t>
            </a:r>
            <a:r>
              <a:rPr dirty="0"/>
              <a:t>B.</a:t>
            </a:r>
            <a:r>
              <a:rPr spc="-20" dirty="0"/>
              <a:t> </a:t>
            </a:r>
            <a:r>
              <a:rPr dirty="0"/>
              <a:t>F.,</a:t>
            </a:r>
            <a:r>
              <a:rPr spc="-25" dirty="0"/>
              <a:t> </a:t>
            </a:r>
            <a:r>
              <a:rPr dirty="0"/>
              <a:t>Amani,</a:t>
            </a:r>
            <a:r>
              <a:rPr spc="-20" dirty="0"/>
              <a:t> </a:t>
            </a:r>
            <a:r>
              <a:rPr dirty="0"/>
              <a:t>C.,</a:t>
            </a:r>
            <a:r>
              <a:rPr spc="-35" dirty="0"/>
              <a:t> </a:t>
            </a:r>
            <a:r>
              <a:rPr dirty="0"/>
              <a:t>Jamel,</a:t>
            </a:r>
            <a:r>
              <a:rPr spc="-30" dirty="0"/>
              <a:t> </a:t>
            </a:r>
            <a:r>
              <a:rPr dirty="0"/>
              <a:t>B.</a:t>
            </a:r>
            <a:r>
              <a:rPr spc="-25" dirty="0"/>
              <a:t> </a:t>
            </a:r>
            <a:r>
              <a:rPr dirty="0"/>
              <a:t>H.,</a:t>
            </a:r>
            <a:r>
              <a:rPr spc="-1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Chokri,</a:t>
            </a:r>
            <a:r>
              <a:rPr spc="-15" dirty="0"/>
              <a:t> </a:t>
            </a:r>
            <a:r>
              <a:rPr dirty="0"/>
              <a:t>S.,</a:t>
            </a:r>
            <a:r>
              <a:rPr spc="-25" dirty="0"/>
              <a:t> </a:t>
            </a:r>
            <a:r>
              <a:rPr dirty="0"/>
              <a:t>"A</a:t>
            </a:r>
            <a:r>
              <a:rPr spc="-10" dirty="0"/>
              <a:t> </a:t>
            </a:r>
            <a:r>
              <a:rPr spc="-20" dirty="0"/>
              <a:t>Real-</a:t>
            </a:r>
            <a:r>
              <a:rPr dirty="0"/>
              <a:t>Time</a:t>
            </a:r>
            <a:r>
              <a:rPr spc="-35" dirty="0"/>
              <a:t> </a:t>
            </a:r>
            <a:r>
              <a:rPr dirty="0"/>
              <a:t>Traffic</a:t>
            </a:r>
            <a:r>
              <a:rPr spc="-40" dirty="0"/>
              <a:t> </a:t>
            </a:r>
            <a:r>
              <a:rPr spc="-20" dirty="0"/>
              <a:t>Sign </a:t>
            </a:r>
            <a:r>
              <a:rPr dirty="0"/>
              <a:t>Recognition</a:t>
            </a:r>
            <a:r>
              <a:rPr spc="-45" dirty="0"/>
              <a:t> </a:t>
            </a:r>
            <a:r>
              <a:rPr dirty="0"/>
              <a:t>Method</a:t>
            </a:r>
            <a:r>
              <a:rPr spc="-25" dirty="0"/>
              <a:t> </a:t>
            </a:r>
            <a:r>
              <a:rPr dirty="0"/>
              <a:t>Using</a:t>
            </a:r>
            <a:r>
              <a:rPr spc="-40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New</a:t>
            </a:r>
            <a:r>
              <a:rPr spc="-55" dirty="0"/>
              <a:t> </a:t>
            </a:r>
            <a:r>
              <a:rPr spc="-20" dirty="0"/>
              <a:t>Attention-</a:t>
            </a:r>
            <a:r>
              <a:rPr dirty="0"/>
              <a:t>Based</a:t>
            </a:r>
            <a:r>
              <a:rPr spc="-10" dirty="0"/>
              <a:t> </a:t>
            </a:r>
            <a:r>
              <a:rPr dirty="0"/>
              <a:t>Deep</a:t>
            </a:r>
            <a:r>
              <a:rPr spc="-55" dirty="0"/>
              <a:t> </a:t>
            </a:r>
            <a:r>
              <a:rPr dirty="0"/>
              <a:t>Convolutional</a:t>
            </a:r>
            <a:r>
              <a:rPr spc="-25" dirty="0"/>
              <a:t> </a:t>
            </a:r>
            <a:r>
              <a:rPr spc="-10" dirty="0"/>
              <a:t>Neural </a:t>
            </a:r>
            <a:r>
              <a:rPr dirty="0"/>
              <a:t>Network</a:t>
            </a:r>
            <a:r>
              <a:rPr spc="-60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dirty="0"/>
              <a:t>Smart</a:t>
            </a:r>
            <a:r>
              <a:rPr spc="-55" dirty="0"/>
              <a:t> </a:t>
            </a:r>
            <a:r>
              <a:rPr dirty="0"/>
              <a:t>Vehicles,"</a:t>
            </a:r>
            <a:r>
              <a:rPr spc="-50" dirty="0"/>
              <a:t> </a:t>
            </a:r>
            <a:r>
              <a:rPr dirty="0"/>
              <a:t>MDPI,</a:t>
            </a:r>
            <a:r>
              <a:rPr spc="-30" dirty="0"/>
              <a:t> </a:t>
            </a:r>
            <a:r>
              <a:rPr spc="-10" dirty="0"/>
              <a:t>2023.</a:t>
            </a:r>
          </a:p>
          <a:p>
            <a:pPr marL="12700" marR="403860">
              <a:lnSpc>
                <a:spcPct val="100000"/>
              </a:lnSpc>
            </a:pPr>
            <a:r>
              <a:rPr dirty="0"/>
              <a:t>[3].</a:t>
            </a:r>
            <a:r>
              <a:rPr spc="-25" dirty="0"/>
              <a:t> </a:t>
            </a:r>
            <a:r>
              <a:rPr dirty="0"/>
              <a:t>Jiahui</a:t>
            </a:r>
            <a:r>
              <a:rPr spc="-45" dirty="0"/>
              <a:t> </a:t>
            </a:r>
            <a:r>
              <a:rPr dirty="0"/>
              <a:t>Guo,</a:t>
            </a:r>
            <a:r>
              <a:rPr spc="-50" dirty="0"/>
              <a:t> </a:t>
            </a:r>
            <a:r>
              <a:rPr dirty="0"/>
              <a:t>Guohao</a:t>
            </a:r>
            <a:r>
              <a:rPr spc="-40" dirty="0"/>
              <a:t> </a:t>
            </a:r>
            <a:r>
              <a:rPr dirty="0"/>
              <a:t>Li,</a:t>
            </a:r>
            <a:r>
              <a:rPr spc="-60" dirty="0"/>
              <a:t> </a:t>
            </a:r>
            <a:r>
              <a:rPr dirty="0"/>
              <a:t>Shuo</a:t>
            </a:r>
            <a:r>
              <a:rPr spc="-25" dirty="0"/>
              <a:t> </a:t>
            </a:r>
            <a:r>
              <a:rPr dirty="0"/>
              <a:t>Chen,</a:t>
            </a:r>
            <a:r>
              <a:rPr spc="-35" dirty="0"/>
              <a:t> </a:t>
            </a:r>
            <a:r>
              <a:rPr dirty="0"/>
              <a:t>Guofa</a:t>
            </a:r>
            <a:r>
              <a:rPr spc="-40" dirty="0"/>
              <a:t> </a:t>
            </a:r>
            <a:r>
              <a:rPr dirty="0"/>
              <a:t>Li,</a:t>
            </a:r>
            <a:r>
              <a:rPr spc="-6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Yuxin</a:t>
            </a:r>
            <a:r>
              <a:rPr spc="-55" dirty="0"/>
              <a:t> </a:t>
            </a:r>
            <a:r>
              <a:rPr dirty="0"/>
              <a:t>Chen,</a:t>
            </a:r>
            <a:r>
              <a:rPr spc="-35" dirty="0"/>
              <a:t> </a:t>
            </a:r>
            <a:r>
              <a:rPr spc="-10" dirty="0"/>
              <a:t>"Temporal- </a:t>
            </a:r>
            <a:r>
              <a:rPr dirty="0"/>
              <a:t>Guided</a:t>
            </a:r>
            <a:r>
              <a:rPr spc="-50" dirty="0"/>
              <a:t> </a:t>
            </a:r>
            <a:r>
              <a:rPr dirty="0"/>
              <a:t>Label</a:t>
            </a:r>
            <a:r>
              <a:rPr spc="-60" dirty="0"/>
              <a:t> </a:t>
            </a:r>
            <a:r>
              <a:rPr dirty="0"/>
              <a:t>Assignment</a:t>
            </a:r>
            <a:r>
              <a:rPr spc="-3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Video</a:t>
            </a:r>
            <a:r>
              <a:rPr spc="-55" dirty="0"/>
              <a:t> </a:t>
            </a:r>
            <a:r>
              <a:rPr dirty="0"/>
              <a:t>Object</a:t>
            </a:r>
            <a:r>
              <a:rPr spc="-40" dirty="0"/>
              <a:t> </a:t>
            </a:r>
            <a:r>
              <a:rPr dirty="0"/>
              <a:t>Detection,"</a:t>
            </a:r>
            <a:r>
              <a:rPr spc="-35" dirty="0"/>
              <a:t> </a:t>
            </a:r>
            <a:r>
              <a:rPr dirty="0"/>
              <a:t>MDPI,</a:t>
            </a:r>
            <a:r>
              <a:rPr spc="-45" dirty="0"/>
              <a:t> </a:t>
            </a:r>
            <a:r>
              <a:rPr spc="-10" dirty="0"/>
              <a:t>2022.</a:t>
            </a:r>
          </a:p>
          <a:p>
            <a:pPr marL="12700" marR="267970">
              <a:lnSpc>
                <a:spcPct val="100000"/>
              </a:lnSpc>
              <a:spcBef>
                <a:spcPts val="5"/>
              </a:spcBef>
            </a:pPr>
            <a:r>
              <a:rPr dirty="0"/>
              <a:t>[4].</a:t>
            </a:r>
            <a:r>
              <a:rPr spc="-35" dirty="0"/>
              <a:t> </a:t>
            </a:r>
            <a:r>
              <a:rPr dirty="0"/>
              <a:t>Xingyi</a:t>
            </a:r>
            <a:r>
              <a:rPr spc="-65" dirty="0"/>
              <a:t> </a:t>
            </a:r>
            <a:r>
              <a:rPr dirty="0"/>
              <a:t>Zhou</a:t>
            </a:r>
            <a:r>
              <a:rPr spc="-5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Deva</a:t>
            </a:r>
            <a:r>
              <a:rPr spc="-55" dirty="0"/>
              <a:t> </a:t>
            </a:r>
            <a:r>
              <a:rPr dirty="0"/>
              <a:t>Ramanan,</a:t>
            </a:r>
            <a:r>
              <a:rPr spc="-55" dirty="0"/>
              <a:t> </a:t>
            </a:r>
            <a:r>
              <a:rPr dirty="0"/>
              <a:t>"Video</a:t>
            </a:r>
            <a:r>
              <a:rPr spc="-45" dirty="0"/>
              <a:t> </a:t>
            </a:r>
            <a:r>
              <a:rPr dirty="0"/>
              <a:t>Object</a:t>
            </a:r>
            <a:r>
              <a:rPr spc="-60" dirty="0"/>
              <a:t> </a:t>
            </a:r>
            <a:r>
              <a:rPr dirty="0"/>
              <a:t>Detection</a:t>
            </a:r>
            <a:r>
              <a:rPr spc="-65" dirty="0"/>
              <a:t> </a:t>
            </a:r>
            <a:r>
              <a:rPr dirty="0"/>
              <a:t>via</a:t>
            </a:r>
            <a:r>
              <a:rPr spc="-65" dirty="0"/>
              <a:t> </a:t>
            </a:r>
            <a:r>
              <a:rPr spc="-10" dirty="0"/>
              <a:t>Object-level </a:t>
            </a:r>
            <a:r>
              <a:rPr dirty="0"/>
              <a:t>Temporal</a:t>
            </a:r>
            <a:r>
              <a:rPr spc="-105" dirty="0"/>
              <a:t> </a:t>
            </a:r>
            <a:r>
              <a:rPr dirty="0"/>
              <a:t>Aggregation,"</a:t>
            </a:r>
            <a:r>
              <a:rPr spc="-110" dirty="0"/>
              <a:t> </a:t>
            </a:r>
            <a:r>
              <a:rPr dirty="0"/>
              <a:t>European</a:t>
            </a:r>
            <a:r>
              <a:rPr spc="-100" dirty="0"/>
              <a:t> </a:t>
            </a:r>
            <a:r>
              <a:rPr dirty="0"/>
              <a:t>Computer</a:t>
            </a:r>
            <a:r>
              <a:rPr spc="-75" dirty="0"/>
              <a:t> </a:t>
            </a:r>
            <a:r>
              <a:rPr dirty="0"/>
              <a:t>Vision</a:t>
            </a:r>
            <a:r>
              <a:rPr spc="-100" dirty="0"/>
              <a:t> </a:t>
            </a:r>
            <a:r>
              <a:rPr dirty="0"/>
              <a:t>Association,</a:t>
            </a:r>
            <a:r>
              <a:rPr spc="-90" dirty="0"/>
              <a:t> </a:t>
            </a:r>
            <a:r>
              <a:rPr spc="-10" dirty="0"/>
              <a:t>2020.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14345" y="-17018"/>
            <a:ext cx="689673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Real-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500" b="1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1500" b="1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Sign</a:t>
            </a:r>
            <a:r>
              <a:rPr sz="1500" b="1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Recognition</a:t>
            </a:r>
            <a:r>
              <a:rPr sz="1500" b="1" i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5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Open-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1500" b="1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Rejection</a:t>
            </a:r>
            <a:r>
              <a:rPr sz="1500" b="1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500" b="1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Temporal</a:t>
            </a:r>
            <a:r>
              <a:rPr sz="1500" b="1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Consensus.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" y="38"/>
            <a:ext cx="12192000" cy="1020444"/>
            <a:chOff x="-1" y="38"/>
            <a:chExt cx="12192000" cy="1020444"/>
          </a:xfrm>
        </p:grpSpPr>
        <p:sp>
          <p:nvSpPr>
            <p:cNvPr id="3" name="object 3"/>
            <p:cNvSpPr/>
            <p:nvPr/>
          </p:nvSpPr>
          <p:spPr>
            <a:xfrm>
              <a:off x="0" y="38"/>
              <a:ext cx="12192000" cy="233045"/>
            </a:xfrm>
            <a:custGeom>
              <a:avLst/>
              <a:gdLst/>
              <a:ahLst/>
              <a:cxnLst/>
              <a:rect l="l" t="t" r="r" b="b"/>
              <a:pathLst>
                <a:path w="12192000" h="233045">
                  <a:moveTo>
                    <a:pt x="12192000" y="0"/>
                  </a:moveTo>
                  <a:lnTo>
                    <a:pt x="0" y="0"/>
                  </a:lnTo>
                  <a:lnTo>
                    <a:pt x="0" y="232752"/>
                  </a:lnTo>
                  <a:lnTo>
                    <a:pt x="12192000" y="23275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68"/>
              <a:ext cx="12191999" cy="80379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-1" y="232778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2000" y="0"/>
                  </a:moveTo>
                  <a:lnTo>
                    <a:pt x="0" y="0"/>
                  </a:lnTo>
                  <a:lnTo>
                    <a:pt x="0" y="714895"/>
                  </a:lnTo>
                  <a:lnTo>
                    <a:pt x="12192000" y="71489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Git</a:t>
            </a:r>
            <a:r>
              <a:rPr spc="-110" dirty="0"/>
              <a:t> </a:t>
            </a:r>
            <a:r>
              <a:rPr dirty="0"/>
              <a:t>Hub</a:t>
            </a:r>
            <a:r>
              <a:rPr spc="70" dirty="0"/>
              <a:t> </a:t>
            </a:r>
            <a:r>
              <a:rPr spc="-10" dirty="0"/>
              <a:t>Dashboard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82927" y="5992469"/>
            <a:ext cx="74803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Repository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Name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: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CSD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2025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26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Batch: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03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4345" y="-17018"/>
            <a:ext cx="689673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Real-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500" b="1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1500" b="1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Sign</a:t>
            </a:r>
            <a:r>
              <a:rPr sz="1500" b="1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Recognition</a:t>
            </a:r>
            <a:r>
              <a:rPr sz="1500" b="1" i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5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Open-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1500" b="1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Rejection</a:t>
            </a:r>
            <a:r>
              <a:rPr sz="1500" b="1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500" b="1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Temporal</a:t>
            </a:r>
            <a:r>
              <a:rPr sz="1500" b="1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b="1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Consensus.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382" y="1031011"/>
            <a:ext cx="9383903" cy="48110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1223" y="6619263"/>
            <a:ext cx="49403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03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1122680" y="6619263"/>
            <a:ext cx="5269992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cap="small" spc="-70" dirty="0"/>
              <a:t>Dept.</a:t>
            </a:r>
            <a:r>
              <a:rPr cap="small" spc="-80" dirty="0"/>
              <a:t> </a:t>
            </a:r>
            <a:r>
              <a:rPr cap="small" spc="-30" dirty="0"/>
              <a:t>of</a:t>
            </a:r>
            <a:r>
              <a:rPr cap="small" spc="-10" dirty="0"/>
              <a:t> </a:t>
            </a:r>
            <a:r>
              <a:rPr cap="small" spc="-100" dirty="0"/>
              <a:t>Computer</a:t>
            </a:r>
            <a:r>
              <a:rPr cap="small" spc="45" dirty="0"/>
              <a:t> </a:t>
            </a:r>
            <a:r>
              <a:rPr cap="small" spc="-85" dirty="0"/>
              <a:t>Science</a:t>
            </a:r>
            <a:r>
              <a:rPr cap="small" spc="20" dirty="0"/>
              <a:t> </a:t>
            </a:r>
            <a:r>
              <a:rPr cap="small" spc="-95" dirty="0"/>
              <a:t>and</a:t>
            </a:r>
            <a:r>
              <a:rPr cap="small" spc="20" dirty="0"/>
              <a:t> </a:t>
            </a:r>
            <a:r>
              <a:rPr cap="small" spc="-100" dirty="0"/>
              <a:t>Engineering</a:t>
            </a:r>
            <a:r>
              <a:rPr cap="small" spc="-25" dirty="0"/>
              <a:t> </a:t>
            </a:r>
            <a:r>
              <a:rPr cap="small" spc="-50" dirty="0"/>
              <a:t>(Data</a:t>
            </a:r>
            <a:r>
              <a:rPr cap="small" spc="75" dirty="0"/>
              <a:t> </a:t>
            </a:r>
            <a:r>
              <a:rPr cap="small" spc="-95" dirty="0"/>
              <a:t>Science)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7147940" y="6616520"/>
            <a:ext cx="40534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cap="small" spc="-95" dirty="0"/>
              <a:t>Srinivasa</a:t>
            </a:r>
            <a:r>
              <a:rPr cap="small" spc="35" dirty="0"/>
              <a:t> </a:t>
            </a:r>
            <a:r>
              <a:rPr cap="small" spc="-110" dirty="0"/>
              <a:t>Ramanujan</a:t>
            </a:r>
            <a:r>
              <a:rPr cap="small" spc="40" dirty="0"/>
              <a:t> </a:t>
            </a:r>
            <a:r>
              <a:rPr cap="small" spc="-100" dirty="0"/>
              <a:t>Institute</a:t>
            </a:r>
            <a:r>
              <a:rPr cap="small" spc="50" dirty="0"/>
              <a:t> </a:t>
            </a:r>
            <a:r>
              <a:rPr cap="small" dirty="0"/>
              <a:t>of</a:t>
            </a:r>
            <a:r>
              <a:rPr cap="small" spc="70" dirty="0"/>
              <a:t> </a:t>
            </a:r>
            <a:r>
              <a:rPr cap="small" spc="-145" dirty="0"/>
              <a:t>Technology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26511" y="2312034"/>
            <a:ext cx="668147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i="1" dirty="0">
                <a:solidFill>
                  <a:srgbClr val="FF6600"/>
                </a:solidFill>
                <a:latin typeface="Times New Roman"/>
                <a:cs typeface="Times New Roman"/>
              </a:rPr>
              <a:t>Any</a:t>
            </a:r>
            <a:r>
              <a:rPr sz="9600" i="1" spc="-4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9600" i="1" spc="-10" dirty="0">
                <a:solidFill>
                  <a:srgbClr val="FF6600"/>
                </a:solidFill>
                <a:latin typeface="Times New Roman"/>
                <a:cs typeface="Times New Roman"/>
              </a:rPr>
              <a:t>Queries?</a:t>
            </a:r>
            <a:endParaRPr sz="9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223" y="6619263"/>
            <a:ext cx="52768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03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1122680" y="6619263"/>
            <a:ext cx="5269992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cap="small" spc="-70" dirty="0"/>
              <a:t>Dept.</a:t>
            </a:r>
            <a:r>
              <a:rPr cap="small" spc="-80" dirty="0"/>
              <a:t> </a:t>
            </a:r>
            <a:r>
              <a:rPr cap="small" spc="-30" dirty="0"/>
              <a:t>of</a:t>
            </a:r>
            <a:r>
              <a:rPr cap="small" spc="-10" dirty="0"/>
              <a:t> </a:t>
            </a:r>
            <a:r>
              <a:rPr cap="small" spc="-100" dirty="0"/>
              <a:t>Computer</a:t>
            </a:r>
            <a:r>
              <a:rPr cap="small" spc="45" dirty="0"/>
              <a:t> </a:t>
            </a:r>
            <a:r>
              <a:rPr cap="small" spc="-85" dirty="0"/>
              <a:t>Science</a:t>
            </a:r>
            <a:r>
              <a:rPr cap="small" spc="20" dirty="0"/>
              <a:t> </a:t>
            </a:r>
            <a:r>
              <a:rPr cap="small" spc="-95" dirty="0"/>
              <a:t>and</a:t>
            </a:r>
            <a:r>
              <a:rPr cap="small" spc="20" dirty="0"/>
              <a:t> </a:t>
            </a:r>
            <a:r>
              <a:rPr cap="small" spc="-100" dirty="0"/>
              <a:t>Engineering</a:t>
            </a:r>
            <a:r>
              <a:rPr cap="small" spc="-25" dirty="0"/>
              <a:t> </a:t>
            </a:r>
            <a:r>
              <a:rPr cap="small" spc="-50" dirty="0"/>
              <a:t>(Data</a:t>
            </a:r>
            <a:r>
              <a:rPr cap="small" spc="75" dirty="0"/>
              <a:t> </a:t>
            </a:r>
            <a:r>
              <a:rPr cap="small" spc="-95" dirty="0"/>
              <a:t>Science)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7224141" y="6616521"/>
            <a:ext cx="41296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cap="small" spc="-95" dirty="0"/>
              <a:t>Srinivasa</a:t>
            </a:r>
            <a:r>
              <a:rPr cap="small" spc="35" dirty="0"/>
              <a:t> </a:t>
            </a:r>
            <a:r>
              <a:rPr cap="small" spc="-110" dirty="0"/>
              <a:t>Ramanujan</a:t>
            </a:r>
            <a:r>
              <a:rPr cap="small" spc="40" dirty="0"/>
              <a:t> </a:t>
            </a:r>
            <a:r>
              <a:rPr cap="small" spc="-100" dirty="0"/>
              <a:t>Institute</a:t>
            </a:r>
            <a:r>
              <a:rPr cap="small" spc="50" dirty="0"/>
              <a:t> </a:t>
            </a:r>
            <a:r>
              <a:rPr cap="small" dirty="0"/>
              <a:t>of</a:t>
            </a:r>
            <a:r>
              <a:rPr cap="small" spc="70" dirty="0"/>
              <a:t> </a:t>
            </a:r>
            <a:r>
              <a:rPr cap="small" spc="-145" dirty="0"/>
              <a:t>Technology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i="1" spc="-10" dirty="0">
                <a:latin typeface="Times New Roman"/>
                <a:cs typeface="Times New Roman"/>
              </a:rPr>
              <a:t>Real-</a:t>
            </a:r>
            <a:r>
              <a:rPr sz="1500" b="1" i="1" dirty="0">
                <a:latin typeface="Times New Roman"/>
                <a:cs typeface="Times New Roman"/>
              </a:rPr>
              <a:t>Time</a:t>
            </a:r>
            <a:r>
              <a:rPr sz="1500" b="1" i="1" spc="-35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Traffic</a:t>
            </a:r>
            <a:r>
              <a:rPr sz="1500" b="1" i="1" spc="-35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Sign</a:t>
            </a:r>
            <a:r>
              <a:rPr sz="1500" b="1" i="1" spc="-25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Recognition</a:t>
            </a:r>
            <a:r>
              <a:rPr sz="1500" b="1" i="1" spc="-40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with</a:t>
            </a:r>
            <a:r>
              <a:rPr sz="1500" b="1" i="1" spc="-5" dirty="0">
                <a:latin typeface="Times New Roman"/>
                <a:cs typeface="Times New Roman"/>
              </a:rPr>
              <a:t> </a:t>
            </a:r>
            <a:r>
              <a:rPr sz="1500" b="1" i="1" spc="-10" dirty="0">
                <a:latin typeface="Times New Roman"/>
                <a:cs typeface="Times New Roman"/>
              </a:rPr>
              <a:t>Open-</a:t>
            </a:r>
            <a:r>
              <a:rPr sz="1500" b="1" i="1" dirty="0">
                <a:latin typeface="Times New Roman"/>
                <a:cs typeface="Times New Roman"/>
              </a:rPr>
              <a:t>Set</a:t>
            </a:r>
            <a:r>
              <a:rPr sz="1500" b="1" i="1" spc="-25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Rejection</a:t>
            </a:r>
            <a:r>
              <a:rPr sz="1500" b="1" i="1" spc="-20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and</a:t>
            </a:r>
            <a:r>
              <a:rPr sz="1500" b="1" i="1" spc="-20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Temporal</a:t>
            </a:r>
            <a:r>
              <a:rPr sz="1500" b="1" i="1" spc="-35" dirty="0">
                <a:latin typeface="Times New Roman"/>
                <a:cs typeface="Times New Roman"/>
              </a:rPr>
              <a:t> </a:t>
            </a:r>
            <a:r>
              <a:rPr sz="1500" b="1" i="1" spc="-10" dirty="0">
                <a:latin typeface="Times New Roman"/>
                <a:cs typeface="Times New Roman"/>
              </a:rPr>
              <a:t>Consensus.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7745" y="1864613"/>
            <a:ext cx="594233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800" i="1" dirty="0">
                <a:solidFill>
                  <a:srgbClr val="FF6600"/>
                </a:solidFill>
                <a:latin typeface="Times New Roman"/>
                <a:cs typeface="Times New Roman"/>
              </a:rPr>
              <a:t>Thank</a:t>
            </a:r>
            <a:r>
              <a:rPr sz="8800" i="1" spc="-27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8800" i="1" spc="-10" dirty="0">
                <a:solidFill>
                  <a:srgbClr val="FF6600"/>
                </a:solidFill>
                <a:latin typeface="Times New Roman"/>
                <a:cs typeface="Times New Roman"/>
              </a:rPr>
              <a:t>You!!!</a:t>
            </a:r>
            <a:endParaRPr sz="8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892" y="6619263"/>
            <a:ext cx="56007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03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1122680" y="6619263"/>
            <a:ext cx="520192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cap="small" spc="-70" dirty="0"/>
              <a:t>Dept.</a:t>
            </a:r>
            <a:r>
              <a:rPr cap="small" spc="-80" dirty="0"/>
              <a:t> </a:t>
            </a:r>
            <a:r>
              <a:rPr cap="small" spc="-30" dirty="0"/>
              <a:t>of</a:t>
            </a:r>
            <a:r>
              <a:rPr cap="small" spc="-10" dirty="0"/>
              <a:t> </a:t>
            </a:r>
            <a:r>
              <a:rPr cap="small" spc="-100" dirty="0"/>
              <a:t>Computer</a:t>
            </a:r>
            <a:r>
              <a:rPr cap="small" spc="45" dirty="0"/>
              <a:t> </a:t>
            </a:r>
            <a:r>
              <a:rPr cap="small" spc="-85" dirty="0"/>
              <a:t>Science</a:t>
            </a:r>
            <a:r>
              <a:rPr cap="small" spc="20" dirty="0"/>
              <a:t> </a:t>
            </a:r>
            <a:r>
              <a:rPr cap="small" spc="-95" dirty="0"/>
              <a:t>and</a:t>
            </a:r>
            <a:r>
              <a:rPr cap="small" spc="20" dirty="0"/>
              <a:t> </a:t>
            </a:r>
            <a:r>
              <a:rPr cap="small" spc="-100" dirty="0"/>
              <a:t>Engineering</a:t>
            </a:r>
            <a:r>
              <a:rPr cap="small" spc="-25" dirty="0"/>
              <a:t> </a:t>
            </a:r>
            <a:r>
              <a:rPr cap="small" spc="-50" dirty="0"/>
              <a:t>(Data</a:t>
            </a:r>
            <a:r>
              <a:rPr cap="small" spc="75" dirty="0"/>
              <a:t> </a:t>
            </a:r>
            <a:r>
              <a:rPr cap="small" spc="-95" dirty="0"/>
              <a:t>Science)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7147940" y="6616521"/>
            <a:ext cx="412965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cap="small" spc="-95" dirty="0"/>
              <a:t>Srinivasa</a:t>
            </a:r>
            <a:r>
              <a:rPr cap="small" spc="35" dirty="0"/>
              <a:t> </a:t>
            </a:r>
            <a:r>
              <a:rPr cap="small" spc="-110" dirty="0"/>
              <a:t>Ramanujan</a:t>
            </a:r>
            <a:r>
              <a:rPr cap="small" spc="40" dirty="0"/>
              <a:t> </a:t>
            </a:r>
            <a:r>
              <a:rPr cap="small" spc="-100" dirty="0"/>
              <a:t>Institute</a:t>
            </a:r>
            <a:r>
              <a:rPr cap="small" spc="50" dirty="0"/>
              <a:t> </a:t>
            </a:r>
            <a:r>
              <a:rPr cap="small" dirty="0"/>
              <a:t>of</a:t>
            </a:r>
            <a:r>
              <a:rPr cap="small" spc="70" dirty="0"/>
              <a:t> </a:t>
            </a:r>
            <a:r>
              <a:rPr cap="small" spc="-145" dirty="0"/>
              <a:t>Technology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39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i="1" spc="-10" dirty="0">
                <a:latin typeface="Times New Roman"/>
                <a:cs typeface="Times New Roman"/>
              </a:rPr>
              <a:t>Real-</a:t>
            </a:r>
            <a:r>
              <a:rPr sz="1500" b="1" i="1" dirty="0">
                <a:latin typeface="Times New Roman"/>
                <a:cs typeface="Times New Roman"/>
              </a:rPr>
              <a:t>Time</a:t>
            </a:r>
            <a:r>
              <a:rPr sz="1500" b="1" i="1" spc="-35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Traffic</a:t>
            </a:r>
            <a:r>
              <a:rPr sz="1500" b="1" i="1" spc="-35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Sign</a:t>
            </a:r>
            <a:r>
              <a:rPr sz="1500" b="1" i="1" spc="-25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Recognition</a:t>
            </a:r>
            <a:r>
              <a:rPr sz="1500" b="1" i="1" spc="-40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with</a:t>
            </a:r>
            <a:r>
              <a:rPr sz="1500" b="1" i="1" spc="-5" dirty="0">
                <a:latin typeface="Times New Roman"/>
                <a:cs typeface="Times New Roman"/>
              </a:rPr>
              <a:t> </a:t>
            </a:r>
            <a:r>
              <a:rPr sz="1500" b="1" i="1" spc="-10" dirty="0">
                <a:latin typeface="Times New Roman"/>
                <a:cs typeface="Times New Roman"/>
              </a:rPr>
              <a:t>Open-</a:t>
            </a:r>
            <a:r>
              <a:rPr sz="1500" b="1" i="1" dirty="0">
                <a:latin typeface="Times New Roman"/>
                <a:cs typeface="Times New Roman"/>
              </a:rPr>
              <a:t>Set</a:t>
            </a:r>
            <a:r>
              <a:rPr sz="1500" b="1" i="1" spc="-25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Rejection</a:t>
            </a:r>
            <a:r>
              <a:rPr sz="1500" b="1" i="1" spc="-20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and</a:t>
            </a:r>
            <a:r>
              <a:rPr sz="1500" b="1" i="1" spc="-20" dirty="0">
                <a:latin typeface="Times New Roman"/>
                <a:cs typeface="Times New Roman"/>
              </a:rPr>
              <a:t> </a:t>
            </a:r>
            <a:r>
              <a:rPr sz="1500" b="1" i="1" dirty="0">
                <a:latin typeface="Times New Roman"/>
                <a:cs typeface="Times New Roman"/>
              </a:rPr>
              <a:t>Temporal</a:t>
            </a:r>
            <a:r>
              <a:rPr sz="1500" b="1" i="1" spc="-35" dirty="0">
                <a:latin typeface="Times New Roman"/>
                <a:cs typeface="Times New Roman"/>
              </a:rPr>
              <a:t> </a:t>
            </a:r>
            <a:r>
              <a:rPr sz="1500" b="1" i="1" spc="-10" dirty="0">
                <a:latin typeface="Times New Roman"/>
                <a:cs typeface="Times New Roman"/>
              </a:rPr>
              <a:t>Consensus.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1635</Words>
  <Application>Microsoft Office PowerPoint</Application>
  <PresentationFormat>Widescreen</PresentationFormat>
  <Paragraphs>250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Times New Roman</vt:lpstr>
      <vt:lpstr>Office Theme</vt:lpstr>
      <vt:lpstr>PowerPoint Presentation</vt:lpstr>
      <vt:lpstr>Contents</vt:lpstr>
      <vt:lpstr>Abstract</vt:lpstr>
      <vt:lpstr>Introduction</vt:lpstr>
      <vt:lpstr>Real-Time Traffic Sign Recognition with Open-Set Rejection and Temporal Consensus.</vt:lpstr>
      <vt:lpstr>Proposed System</vt:lpstr>
      <vt:lpstr>Reference</vt:lpstr>
      <vt:lpstr>Git Hub Dashboard</vt:lpstr>
      <vt:lpstr>Real-Time Traffic Sign Recognition with Open-Set Rejection and Temporal Consensus.</vt:lpstr>
      <vt:lpstr>Real-Time Traffic Sign Recognition with Open-Set Rejection and Temporal Consensus.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 Vaishnavi</dc:creator>
  <cp:lastModifiedBy>d Praneetha</cp:lastModifiedBy>
  <cp:revision>2</cp:revision>
  <dcterms:created xsi:type="dcterms:W3CDTF">2025-09-20T04:28:39Z</dcterms:created>
  <dcterms:modified xsi:type="dcterms:W3CDTF">2025-09-20T05:15:57Z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2025-09-20T00:00:00Z</vt:filetime>
  </property>
  <property fmtid="{D5CDD505-2E9C-101B-9397-08002B2CF9AE}" pid="5" name="Producer">
    <vt:lpwstr>Microsoft® PowerPoint® 2019</vt:lpwstr>
  </property>
</Properties>
</file>